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4" r:id="rId6"/>
    <p:sldId id="258" r:id="rId7"/>
    <p:sldId id="259" r:id="rId8"/>
    <p:sldId id="261" r:id="rId9"/>
    <p:sldId id="260" r:id="rId10"/>
    <p:sldId id="263" r:id="rId11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我们的总体方案保持不变：顶置摄像头采集场地信息，电脑用 OpenCV 识别机器人和方块，并完成目标选择，再通过无线连接向 ESP32 发送运动指令。车端采用 AT8236 驱动模块和 520 编码器电机，前端使用浅 U 形推板。策略分为开局、中盘、终盘三个阶段。这次汇报的重点是从模块验证走向系统联调。图中是目标架构，完整的实车闭环还没有接通。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相比第一次汇报，现在硬件已经确定，ESP32 已完成烧录，小车已经能连接电脑串口，通过电脑指令实现前进、后退、左转和右转。这是已经实现的实物进展；重复动作的稳定性仍需继续验证。手机 Wi-Fi 遥控程序已经写好，尚未确认烧录和实测。视觉已具备静态照片处理功能，实际验证过的是空场地的透视展开，还没有完成实拍方块识别验收。策略已做成前中后期共享原型，并有连续二维演示。这些成果说明各模块已有基础，但还没有自主推块实车成果。运动进度已按 10 月 19 日最新反馈更新。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空白页，可按需补充内容。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主要有四个缺口。首先也是比较重要的一项：当前小车面积可能超过比赛要求，需要实测整车占地并重新设计底盘，调整部件布局。第二，已有电脑串口控制的基本移动能力，接下来需要继续验证重复动作、转向和停车的可靠性。第三，接入实时摄像头、AprilTag 位姿和方块跟踪。第四，修复已有策略问题，并接入真实运动执行和反馈。策略审查已复现四项问题：推板边缘障碍漏检、远块拖累近块、首选路线失败后缺少次选回退，以及过期反馈影响阶段。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后续按依赖关系分三步。先调整底盘与控制：实测整车占地，重新设计更紧凑的底盘，同时加入更换轮胎的备选方案，对比轮胎尺寸和抓地表现，是否更换由测试结果决定。保留已经实现的电脑串口移动能力，再测试无线指令和推板，先人工遥控推走一个方块。再做反馈：接真实编码器，标定轮径和轮距，并完成实时视觉定位，验收能否到达目标点并停车。最后接自主策略，实现识别、接近、推送的完整流程，再通过模拟比赛调参。若更换轮胎，需要重新标定轮径及运动参数；不在没有实测依据的情况下承诺具体完成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空白页，可按需补充内容。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近期里程碑尽量小而明确：重新设计底盘，使整车面积满足要求，再稳定遥控并推走一个真实方块。建议验收包括测量改版后的整车占地，反复验证前后移动、转向、停车和失联停车，最后录制一次完整遥控推块。底盘缩小和轮胎更换均属于接下来要验证的工作，并非已经完成。目前独立 USB 工程中的模拟里程计和超时归零检查，不代表这些能力已经接入真实电机或 Wi-Fi 工程。完成这一里程碑后，再把同一任务扩展为自主完成。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空白页，可按需补充内容。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Template divider"/>
          <p:cNvSpPr>
            <a:spLocks noGrp="1"/>
          </p:cNvSpPr>
          <p:nvPr/>
        </p:nvSpPr>
        <p:spPr>
          <a:xfrm>
            <a:off x="857250" y="3687812"/>
            <a:ext cx="4140101" cy="28575"/>
          </a:xfrm>
          <a:prstGeom prst="rect">
            <a:avLst/>
          </a:prstGeom>
          <a:solidFill>
            <a:srgbClr val="3F7159"/>
          </a:solidFill>
          <a:ln w="0">
            <a:noFill/>
          </a:ln>
        </p:spPr>
      </p:sp>
      <p:sp>
        <p:nvSpPr>
          <p:cNvPr id="2" name="Template divider"/>
          <p:cNvSpPr>
            <a:spLocks noGrp="1"/>
          </p:cNvSpPr>
          <p:nvPr/>
        </p:nvSpPr>
        <p:spPr>
          <a:xfrm>
            <a:off x="5549801" y="3687812"/>
            <a:ext cx="4140250" cy="28575"/>
          </a:xfrm>
          <a:prstGeom prst="rect">
            <a:avLst/>
          </a:prstGeom>
          <a:solidFill>
            <a:srgbClr val="3F7159"/>
          </a:solidFill>
          <a:ln w="0">
            <a:noFill/>
          </a:ln>
        </p:spPr>
      </p:sp>
      <p:sp>
        <p:nvSpPr>
          <p:cNvPr id="3" name="Template divider"/>
          <p:cNvSpPr>
            <a:spLocks noGrp="1"/>
          </p:cNvSpPr>
          <p:nvPr/>
        </p:nvSpPr>
        <p:spPr>
          <a:xfrm>
            <a:off x="10242500" y="3687812"/>
            <a:ext cx="4140101" cy="28575"/>
          </a:xfrm>
          <a:prstGeom prst="rect">
            <a:avLst/>
          </a:prstGeom>
          <a:solidFill>
            <a:srgbClr val="3F7159"/>
          </a:solidFill>
          <a:ln w="0">
            <a:noFill/>
          </a:ln>
        </p:spPr>
      </p:sp>
      <p:sp>
        <p:nvSpPr>
          <p:cNvPr id="4" name="Template divider"/>
          <p:cNvSpPr>
            <a:spLocks noGrp="1"/>
          </p:cNvSpPr>
          <p:nvPr/>
        </p:nvSpPr>
        <p:spPr>
          <a:xfrm>
            <a:off x="857250" y="5840462"/>
            <a:ext cx="1352550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5" name="Block-pushing robot · Progress report 02"/>
          <p:cNvSpPr>
            <a:spLocks noGrp="1"/>
          </p:cNvSpPr>
          <p:nvPr/>
        </p:nvSpPr>
        <p:spPr>
          <a:xfrm>
            <a:off x="857250" y="685800"/>
            <a:ext cx="5051078" cy="2552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Block-pushing robot · Progress report 02</a:t>
            </a:r>
            <a:endParaRPr sz="150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" name="One camera. One planner."/>
          <p:cNvSpPr>
            <a:spLocks noGrp="1"/>
          </p:cNvSpPr>
          <p:nvPr/>
        </p:nvSpPr>
        <p:spPr>
          <a:xfrm>
            <a:off x="857250" y="1085850"/>
            <a:ext cx="6682532" cy="7913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One camera. One planner.</a:t>
            </a:r>
            <a:endParaRPr sz="4650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" name="One pushing robot."/>
          <p:cNvSpPr>
            <a:spLocks noGrp="1"/>
          </p:cNvSpPr>
          <p:nvPr/>
        </p:nvSpPr>
        <p:spPr>
          <a:xfrm>
            <a:off x="857250" y="1735336"/>
            <a:ext cx="5076081" cy="7913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One pushing robot.</a:t>
            </a:r>
            <a:endParaRPr sz="4650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" name="Overhead vision guides a differential-drive robot with "/>
          <p:cNvSpPr>
            <a:spLocks noGrp="1"/>
          </p:cNvSpPr>
          <p:nvPr/>
        </p:nvSpPr>
        <p:spPr>
          <a:xfrm>
            <a:off x="857250" y="2680097"/>
            <a:ext cx="9423053" cy="3446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Overhead vision guides a differential-drive robot with a shallow U-shaped pusher.</a:t>
            </a:r>
            <a:endParaRPr sz="202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Observe"/>
          <p:cNvSpPr>
            <a:spLocks noGrp="1"/>
          </p:cNvSpPr>
          <p:nvPr/>
        </p:nvSpPr>
        <p:spPr>
          <a:xfrm>
            <a:off x="857250" y="3935462"/>
            <a:ext cx="1282303" cy="3956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Observe</a:t>
            </a:r>
            <a:endParaRPr sz="2325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Overhead camera + OpenCV"/>
          <p:cNvSpPr>
            <a:spLocks noGrp="1"/>
          </p:cNvSpPr>
          <p:nvPr/>
        </p:nvSpPr>
        <p:spPr>
          <a:xfrm>
            <a:off x="857250" y="4485531"/>
            <a:ext cx="3190577" cy="3190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Overhead camera + OpenCV</a:t>
            </a:r>
            <a:endParaRPr sz="187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" name="Locate the robot and blocks"/>
          <p:cNvSpPr>
            <a:spLocks noGrp="1"/>
          </p:cNvSpPr>
          <p:nvPr/>
        </p:nvSpPr>
        <p:spPr>
          <a:xfrm>
            <a:off x="857250" y="4842718"/>
            <a:ext cx="3105596" cy="3190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Locate the robot and blocks</a:t>
            </a:r>
            <a:endParaRPr sz="187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→"/>
          <p:cNvSpPr>
            <a:spLocks noGrp="1"/>
          </p:cNvSpPr>
          <p:nvPr/>
        </p:nvSpPr>
        <p:spPr>
          <a:xfrm>
            <a:off x="5109121" y="4292650"/>
            <a:ext cx="500211" cy="510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→</a:t>
            </a:r>
            <a:endParaRPr sz="300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" name="Decide"/>
          <p:cNvSpPr>
            <a:spLocks noGrp="1"/>
          </p:cNvSpPr>
          <p:nvPr/>
        </p:nvSpPr>
        <p:spPr>
          <a:xfrm>
            <a:off x="5549801" y="3935462"/>
            <a:ext cx="1090910" cy="3956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Decide</a:t>
            </a:r>
            <a:endParaRPr sz="2325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" name="Offboard computer"/>
          <p:cNvSpPr>
            <a:spLocks noGrp="1"/>
          </p:cNvSpPr>
          <p:nvPr/>
        </p:nvSpPr>
        <p:spPr>
          <a:xfrm>
            <a:off x="5549801" y="4485531"/>
            <a:ext cx="2206377" cy="3190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Offboard computer</a:t>
            </a:r>
            <a:endParaRPr sz="187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Select targets and pushing paths"/>
          <p:cNvSpPr>
            <a:spLocks noGrp="1"/>
          </p:cNvSpPr>
          <p:nvPr/>
        </p:nvSpPr>
        <p:spPr>
          <a:xfrm>
            <a:off x="5549801" y="4842718"/>
            <a:ext cx="3604468" cy="3190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Select targets and pushing paths</a:t>
            </a:r>
            <a:endParaRPr sz="187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" name="→"/>
          <p:cNvSpPr>
            <a:spLocks noGrp="1"/>
          </p:cNvSpPr>
          <p:nvPr/>
        </p:nvSpPr>
        <p:spPr>
          <a:xfrm>
            <a:off x="9801820" y="4292650"/>
            <a:ext cx="500211" cy="510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30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→</a:t>
            </a:r>
            <a:endParaRPr sz="300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7" name="Move"/>
          <p:cNvSpPr>
            <a:spLocks noGrp="1"/>
          </p:cNvSpPr>
          <p:nvPr/>
        </p:nvSpPr>
        <p:spPr>
          <a:xfrm>
            <a:off x="10242500" y="3935462"/>
            <a:ext cx="925116" cy="3956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325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Move</a:t>
            </a:r>
            <a:endParaRPr sz="2325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" name="ESP32 + AT8236 driver"/>
          <p:cNvSpPr>
            <a:spLocks noGrp="1"/>
          </p:cNvSpPr>
          <p:nvPr/>
        </p:nvSpPr>
        <p:spPr>
          <a:xfrm>
            <a:off x="10242500" y="4485531"/>
            <a:ext cx="2543919" cy="3190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VSCode + </a:t>
            </a:r>
            <a:r>
              <a: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ESP32 + AT8236 driver</a:t>
            </a:r>
            <a:endParaRPr sz="187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" name="520 encoder motors"/>
          <p:cNvSpPr>
            <a:spLocks noGrp="1"/>
          </p:cNvSpPr>
          <p:nvPr/>
        </p:nvSpPr>
        <p:spPr>
          <a:xfrm>
            <a:off x="10242500" y="4842718"/>
            <a:ext cx="2292102" cy="3190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7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520 encoder motors</a:t>
            </a:r>
            <a:endParaRPr sz="187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0" name="STRATEGY"/>
          <p:cNvSpPr>
            <a:spLocks noGrp="1"/>
          </p:cNvSpPr>
          <p:nvPr/>
        </p:nvSpPr>
        <p:spPr>
          <a:xfrm>
            <a:off x="857250" y="6088112"/>
            <a:ext cx="1015454" cy="2425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STRATEGY</a:t>
            </a:r>
            <a:endParaRPr sz="142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" name="Opening push → adaptive midgame → quick final pushes"/>
          <p:cNvSpPr>
            <a:spLocks noGrp="1"/>
          </p:cNvSpPr>
          <p:nvPr/>
        </p:nvSpPr>
        <p:spPr>
          <a:xfrm>
            <a:off x="857250" y="6445300"/>
            <a:ext cx="6162675" cy="3190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Opening push → adaptive midgame → quick final pushes</a:t>
            </a:r>
            <a:endParaRPr sz="1875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" name="CURRENT STAGE"/>
          <p:cNvSpPr>
            <a:spLocks noGrp="1"/>
          </p:cNvSpPr>
          <p:nvPr/>
        </p:nvSpPr>
        <p:spPr>
          <a:xfrm>
            <a:off x="10504140" y="6088112"/>
            <a:ext cx="1543050" cy="2425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CURRENT STAGE</a:t>
            </a:r>
            <a:endParaRPr sz="142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3" name="Module testing → system integration"/>
          <p:cNvSpPr>
            <a:spLocks noGrp="1"/>
          </p:cNvSpPr>
          <p:nvPr/>
        </p:nvSpPr>
        <p:spPr>
          <a:xfrm>
            <a:off x="10504140" y="6445300"/>
            <a:ext cx="4050060" cy="3190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Module testing → system integration</a:t>
            </a:r>
            <a:endParaRPr sz="1875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4" name="Planned architecture; the complete autonomous loop is s"/>
          <p:cNvSpPr>
            <a:spLocks noGrp="1"/>
          </p:cNvSpPr>
          <p:nvPr/>
        </p:nvSpPr>
        <p:spPr>
          <a:xfrm>
            <a:off x="857250" y="7715250"/>
            <a:ext cx="7265491" cy="2807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Planned architecture; the complete autonomous loop is still to be integrated.</a:t>
            </a:r>
            <a:endParaRPr sz="165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Template divider"/>
          <p:cNvSpPr>
            <a:spLocks noGrp="1"/>
          </p:cNvSpPr>
          <p:nvPr/>
        </p:nvSpPr>
        <p:spPr>
          <a:xfrm>
            <a:off x="857250" y="3271986"/>
            <a:ext cx="200025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2" name="Template divider"/>
          <p:cNvSpPr>
            <a:spLocks noGrp="1"/>
          </p:cNvSpPr>
          <p:nvPr/>
        </p:nvSpPr>
        <p:spPr>
          <a:xfrm>
            <a:off x="2857500" y="3271986"/>
            <a:ext cx="723900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3" name="Template divider"/>
          <p:cNvSpPr>
            <a:spLocks noGrp="1"/>
          </p:cNvSpPr>
          <p:nvPr/>
        </p:nvSpPr>
        <p:spPr>
          <a:xfrm>
            <a:off x="10096500" y="3271986"/>
            <a:ext cx="428625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4" name="Template divider"/>
          <p:cNvSpPr>
            <a:spLocks noGrp="1"/>
          </p:cNvSpPr>
          <p:nvPr/>
        </p:nvSpPr>
        <p:spPr>
          <a:xfrm>
            <a:off x="857250" y="4060180"/>
            <a:ext cx="200025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5" name="Template divider"/>
          <p:cNvSpPr>
            <a:spLocks noGrp="1"/>
          </p:cNvSpPr>
          <p:nvPr/>
        </p:nvSpPr>
        <p:spPr>
          <a:xfrm>
            <a:off x="2857500" y="4060180"/>
            <a:ext cx="723900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6" name="Template divider"/>
          <p:cNvSpPr>
            <a:spLocks noGrp="1"/>
          </p:cNvSpPr>
          <p:nvPr/>
        </p:nvSpPr>
        <p:spPr>
          <a:xfrm>
            <a:off x="10096500" y="4060180"/>
            <a:ext cx="428625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7" name="Template divider"/>
          <p:cNvSpPr>
            <a:spLocks noGrp="1"/>
          </p:cNvSpPr>
          <p:nvPr/>
        </p:nvSpPr>
        <p:spPr>
          <a:xfrm>
            <a:off x="857250" y="4848374"/>
            <a:ext cx="200025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8" name="Template divider"/>
          <p:cNvSpPr>
            <a:spLocks noGrp="1"/>
          </p:cNvSpPr>
          <p:nvPr/>
        </p:nvSpPr>
        <p:spPr>
          <a:xfrm>
            <a:off x="2857500" y="4848374"/>
            <a:ext cx="723900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9" name="Template divider"/>
          <p:cNvSpPr>
            <a:spLocks noGrp="1"/>
          </p:cNvSpPr>
          <p:nvPr/>
        </p:nvSpPr>
        <p:spPr>
          <a:xfrm>
            <a:off x="10096500" y="4848374"/>
            <a:ext cx="428625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10" name="Template divider"/>
          <p:cNvSpPr>
            <a:spLocks noGrp="1"/>
          </p:cNvSpPr>
          <p:nvPr/>
        </p:nvSpPr>
        <p:spPr>
          <a:xfrm>
            <a:off x="857250" y="5958036"/>
            <a:ext cx="200025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11" name="Template divider"/>
          <p:cNvSpPr>
            <a:spLocks noGrp="1"/>
          </p:cNvSpPr>
          <p:nvPr/>
        </p:nvSpPr>
        <p:spPr>
          <a:xfrm>
            <a:off x="2857500" y="5958036"/>
            <a:ext cx="723900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12" name="Template divider"/>
          <p:cNvSpPr>
            <a:spLocks noGrp="1"/>
          </p:cNvSpPr>
          <p:nvPr/>
        </p:nvSpPr>
        <p:spPr>
          <a:xfrm>
            <a:off x="10096500" y="5958036"/>
            <a:ext cx="428625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13" name="Current progress"/>
          <p:cNvSpPr>
            <a:spLocks noGrp="1"/>
          </p:cNvSpPr>
          <p:nvPr/>
        </p:nvSpPr>
        <p:spPr>
          <a:xfrm>
            <a:off x="857250" y="685800"/>
            <a:ext cx="2249686" cy="2552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Current progress</a:t>
            </a:r>
            <a:endParaRPr sz="150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" name="The robot now moves"/>
          <p:cNvSpPr>
            <a:spLocks noGrp="1"/>
          </p:cNvSpPr>
          <p:nvPr/>
        </p:nvSpPr>
        <p:spPr>
          <a:xfrm>
            <a:off x="857250" y="1085850"/>
            <a:ext cx="5687020" cy="7913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The robot now moves</a:t>
            </a:r>
            <a:endParaRPr sz="4650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under PC serial control."/>
          <p:cNvSpPr>
            <a:spLocks noGrp="1"/>
          </p:cNvSpPr>
          <p:nvPr/>
        </p:nvSpPr>
        <p:spPr>
          <a:xfrm>
            <a:off x="857250" y="1735336"/>
            <a:ext cx="5991076" cy="7913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under PC serial control.</a:t>
            </a:r>
            <a:endParaRPr sz="4650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" name="Next step: make these modules work together on the robo"/>
          <p:cNvSpPr>
            <a:spLocks noGrp="1"/>
          </p:cNvSpPr>
          <p:nvPr/>
        </p:nvSpPr>
        <p:spPr>
          <a:xfrm>
            <a:off x="857250" y="7065318"/>
            <a:ext cx="7416105" cy="3573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1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1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1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1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1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1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1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1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1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1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Next step: make these modules work together on the robot.</a:t>
            </a:r>
            <a:endParaRPr sz="2100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7" name="Updated with confirmed movement progress: 19 October 20"/>
          <p:cNvSpPr>
            <a:spLocks noGrp="1"/>
          </p:cNvSpPr>
          <p:nvPr/>
        </p:nvSpPr>
        <p:spPr>
          <a:xfrm>
            <a:off x="857250" y="7715250"/>
            <a:ext cx="6025307" cy="2807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Updated with confirmed movement progress: 19 October 2026.</a:t>
            </a:r>
            <a:endParaRPr sz="165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graphicFrame>
        <p:nvGraphicFramePr>
          <p:cNvPr id="18" name="表格 17"/>
          <p:cNvGraphicFramePr/>
          <p:nvPr/>
        </p:nvGraphicFramePr>
        <p:xfrm>
          <a:off x="857250" y="2889647"/>
          <a:ext cx="13525500" cy="3851821"/>
        </p:xfrm>
        <a:graphic>
          <a:graphicData uri="http://schemas.openxmlformats.org/drawingml/2006/table">
            <a:tbl>
              <a:tblPr/>
              <a:tblGrid>
                <a:gridCol w="2000250"/>
                <a:gridCol w="7239000"/>
                <a:gridCol w="4286250"/>
              </a:tblGrid>
              <a:tr h="382339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425" b="0">
                          <a:solidFill>
                            <a:srgbClr val="69746C"/>
                          </a:solidFill>
                          <a:latin typeface="Segoe UI" panose="020B0502040204020203"/>
                          <a:ea typeface="Segoe UI" panose="020B0502040204020203"/>
                          <a:cs typeface="Segoe UI" panose="020B0502040204020203"/>
                        </a:rPr>
                        <a:t>Module</a:t>
                      </a:r>
                      <a:endParaRPr sz="1425" b="0">
                        <a:solidFill>
                          <a:srgbClr val="69746C"/>
                        </a:solidFill>
                        <a:latin typeface="Segoe UI" panose="020B0502040204020203"/>
                        <a:ea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425" b="0">
                          <a:solidFill>
                            <a:srgbClr val="69746C"/>
                          </a:solidFill>
                          <a:latin typeface="Segoe UI" panose="020B0502040204020203"/>
                          <a:ea typeface="Segoe UI" panose="020B0502040204020203"/>
                          <a:cs typeface="Segoe UI" panose="020B0502040204020203"/>
                        </a:rPr>
                        <a:t>Evidence so far</a:t>
                      </a:r>
                      <a:endParaRPr sz="1425" b="0">
                        <a:solidFill>
                          <a:srgbClr val="69746C"/>
                        </a:solidFill>
                        <a:latin typeface="Segoe UI" panose="020B0502040204020203"/>
                        <a:ea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0" marB="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425" b="0">
                          <a:solidFill>
                            <a:srgbClr val="69746C"/>
                          </a:solidFill>
                          <a:latin typeface="Segoe UI" panose="020B0502040204020203"/>
                          <a:ea typeface="Segoe UI" panose="020B0502040204020203"/>
                          <a:cs typeface="Segoe UI" panose="020B0502040204020203"/>
                        </a:rPr>
                        <a:t>Status</a:t>
                      </a:r>
                      <a:endParaRPr sz="1425" b="0">
                        <a:solidFill>
                          <a:srgbClr val="69746C"/>
                        </a:solidFill>
                        <a:latin typeface="Segoe UI" panose="020B0502040204020203"/>
                        <a:ea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0" marB="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78819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1">
                          <a:solidFill>
                            <a:srgbClr val="243B34"/>
                          </a:solidFill>
                          <a:latin typeface="Segoe UI" panose="020B0502040204020203"/>
                          <a:ea typeface="Segoe UI" panose="020B0502040204020203"/>
                          <a:cs typeface="Segoe UI" panose="020B0502040204020203"/>
                        </a:rPr>
                        <a:t>Motion control</a:t>
                      </a:r>
                      <a:endParaRPr sz="1875" b="1">
                        <a:solidFill>
                          <a:srgbClr val="243B34"/>
                        </a:solidFill>
                        <a:latin typeface="Segoe UI" panose="020B0502040204020203"/>
                        <a:ea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0">
                          <a:solidFill>
                            <a:srgbClr val="243B34"/>
                          </a:solidFill>
                          <a:latin typeface="Segoe UI" panose="020B0502040204020203"/>
                          <a:ea typeface="Segoe UI" panose="020B0502040204020203"/>
                          <a:cs typeface="Segoe UI" panose="020B0502040204020203"/>
                        </a:rPr>
                        <a:t>PC serial control: forward, reverse, left and right.</a:t>
                      </a:r>
                      <a:endParaRPr sz="1875" b="0">
                        <a:solidFill>
                          <a:srgbClr val="243B34"/>
                        </a:solidFill>
                        <a:latin typeface="Segoe UI" panose="020B0502040204020203"/>
                        <a:ea typeface="Segoe UI" panose="020B0502040204020203"/>
                        <a:cs typeface="Segoe UI" panose="020B0502040204020203"/>
                      </a:endParaRPr>
                    </a:p>
                  </a:txBody>
                  <a:tcPr marL="0" marR="333375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500" b="0">
                          <a:solidFill>
                            <a:srgbClr val="3F7159"/>
                          </a:solidFill>
                          <a:latin typeface="Segoe UI" panose="020B0502040204020203"/>
                          <a:ea typeface="Segoe UI" panose="020B0502040204020203"/>
                          <a:cs typeface="Segoe UI" panose="020B0502040204020203"/>
                        </a:rPr>
                        <a:t>Basic movement achieved</a:t>
                      </a:r>
                      <a:endParaRPr sz="1500" b="0">
                        <a:solidFill>
                          <a:srgbClr val="3F7159"/>
                        </a:solidFill>
                        <a:latin typeface="Segoe UI" panose="020B0502040204020203"/>
                        <a:ea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78819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1">
                          <a:solidFill>
                            <a:srgbClr val="243B34"/>
                          </a:solidFill>
                          <a:latin typeface="Segoe UI" panose="020B0502040204020203"/>
                          <a:ea typeface="Segoe UI" panose="020B0502040204020203"/>
                          <a:cs typeface="Segoe UI" panose="020B0502040204020203"/>
                        </a:rPr>
                        <a:t>Wireless</a:t>
                      </a:r>
                      <a:endParaRPr sz="1875" b="1">
                        <a:solidFill>
                          <a:srgbClr val="243B34"/>
                        </a:solidFill>
                        <a:latin typeface="Segoe UI" panose="020B0502040204020203"/>
                        <a:ea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0">
                          <a:solidFill>
                            <a:srgbClr val="243B34"/>
                          </a:solidFill>
                          <a:latin typeface="Segoe UI" panose="020B0502040204020203"/>
                          <a:ea typeface="Segoe UI" panose="020B0502040204020203"/>
                          <a:cs typeface="Segoe UI" panose="020B0502040204020203"/>
                        </a:rPr>
                        <a:t>Phone-based Wi-Fi control code prepared.</a:t>
                      </a:r>
                      <a:endParaRPr sz="1875" b="0">
                        <a:solidFill>
                          <a:srgbClr val="243B34"/>
                        </a:solidFill>
                        <a:latin typeface="Segoe UI" panose="020B0502040204020203"/>
                        <a:ea typeface="Segoe UI" panose="020B0502040204020203"/>
                        <a:cs typeface="Segoe UI" panose="020B0502040204020203"/>
                      </a:endParaRPr>
                    </a:p>
                  </a:txBody>
                  <a:tcPr marL="0" marR="333375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500" b="0">
                          <a:solidFill>
                            <a:srgbClr val="936239"/>
                          </a:solidFill>
                          <a:latin typeface="Segoe UI" panose="020B0502040204020203"/>
                          <a:ea typeface="Segoe UI" panose="020B0502040204020203"/>
                          <a:cs typeface="Segoe UI" panose="020B0502040204020203"/>
                        </a:rPr>
                        <a:t>Hardware test pending</a:t>
                      </a:r>
                      <a:endParaRPr sz="1500" b="0">
                        <a:solidFill>
                          <a:srgbClr val="936239"/>
                        </a:solidFill>
                        <a:latin typeface="Segoe UI" panose="020B0502040204020203"/>
                        <a:ea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1109663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1">
                          <a:solidFill>
                            <a:srgbClr val="243B34"/>
                          </a:solidFill>
                          <a:latin typeface="Segoe UI" panose="020B0502040204020203"/>
                          <a:ea typeface="Segoe UI" panose="020B0502040204020203"/>
                          <a:cs typeface="Segoe UI" panose="020B0502040204020203"/>
                        </a:rPr>
                        <a:t>Vision</a:t>
                      </a:r>
                      <a:endParaRPr sz="1875" b="1">
                        <a:solidFill>
                          <a:srgbClr val="243B34"/>
                        </a:solidFill>
                        <a:latin typeface="Segoe UI" panose="020B0502040204020203"/>
                        <a:ea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0">
                          <a:solidFill>
                            <a:srgbClr val="243B34"/>
                          </a:solidFill>
                          <a:latin typeface="Segoe UI" panose="020B0502040204020203"/>
                          <a:ea typeface="Segoe UI" panose="020B0502040204020203"/>
                          <a:cs typeface="Segoe UI" panose="020B0502040204020203"/>
                        </a:rPr>
                        <a:t>Photo-processing prototype; real empty-field perspective correction.</a:t>
                      </a:r>
                      <a:endParaRPr sz="1875" b="0">
                        <a:solidFill>
                          <a:srgbClr val="243B34"/>
                        </a:solidFill>
                        <a:latin typeface="Segoe UI" panose="020B0502040204020203"/>
                        <a:ea typeface="Segoe UI" panose="020B0502040204020203"/>
                        <a:cs typeface="Segoe UI" panose="020B0502040204020203"/>
                      </a:endParaRPr>
                    </a:p>
                  </a:txBody>
                  <a:tcPr marL="0" marR="333375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500" b="0">
                          <a:solidFill>
                            <a:srgbClr val="3F7159"/>
                          </a:solidFill>
                          <a:latin typeface="Segoe UI" panose="020B0502040204020203"/>
                          <a:ea typeface="Segoe UI" panose="020B0502040204020203"/>
                          <a:cs typeface="Segoe UI" panose="020B0502040204020203"/>
                        </a:rPr>
                        <a:t>Static prototype</a:t>
                      </a:r>
                      <a:endParaRPr sz="1500" b="0">
                        <a:solidFill>
                          <a:srgbClr val="3F7159"/>
                        </a:solidFill>
                        <a:latin typeface="Segoe UI" panose="020B0502040204020203"/>
                        <a:ea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783431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1">
                          <a:solidFill>
                            <a:srgbClr val="243B34"/>
                          </a:solidFill>
                          <a:latin typeface="Segoe UI" panose="020B0502040204020203"/>
                          <a:ea typeface="Segoe UI" panose="020B0502040204020203"/>
                          <a:cs typeface="Segoe UI" panose="020B0502040204020203"/>
                        </a:rPr>
                        <a:t>Strategy</a:t>
                      </a:r>
                      <a:endParaRPr sz="1875" b="1">
                        <a:solidFill>
                          <a:srgbClr val="243B34"/>
                        </a:solidFill>
                        <a:latin typeface="Segoe UI" panose="020B0502040204020203"/>
                        <a:ea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0">
                          <a:solidFill>
                            <a:srgbClr val="243B34"/>
                          </a:solidFill>
                          <a:latin typeface="Segoe UI" panose="020B0502040204020203"/>
                          <a:ea typeface="Segoe UI" panose="020B0502040204020203"/>
                          <a:cs typeface="Segoe UI" panose="020B0502040204020203"/>
                        </a:rPr>
                        <a:t>Three-stage planner shared with a continuous 2D simulation.</a:t>
                      </a:r>
                      <a:endParaRPr sz="1875" b="0">
                        <a:solidFill>
                          <a:srgbClr val="243B34"/>
                        </a:solidFill>
                        <a:latin typeface="Segoe UI" panose="020B0502040204020203"/>
                        <a:ea typeface="Segoe UI" panose="020B0502040204020203"/>
                        <a:cs typeface="Segoe UI" panose="020B0502040204020203"/>
                      </a:endParaRPr>
                    </a:p>
                  </a:txBody>
                  <a:tcPr marL="0" marR="333375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500" b="0">
                          <a:solidFill>
                            <a:srgbClr val="3F7159"/>
                          </a:solidFill>
                          <a:latin typeface="Segoe UI" panose="020B0502040204020203"/>
                          <a:ea typeface="Segoe UI" panose="020B0502040204020203"/>
                          <a:cs typeface="Segoe UI" panose="020B0502040204020203"/>
                        </a:rPr>
                        <a:t>Software prototype</a:t>
                      </a:r>
                      <a:endParaRPr sz="1500" b="0">
                        <a:solidFill>
                          <a:srgbClr val="3F7159"/>
                        </a:solidFill>
                        <a:latin typeface="Segoe UI" panose="020B0502040204020203"/>
                        <a:ea typeface="Segoe UI" panose="020B0502040204020203"/>
                        <a:cs typeface="Segoe UI" panose="020B0502040204020203"/>
                      </a:endParaRPr>
                    </a:p>
                  </a:txBody>
                  <a:tcPr marL="0" marR="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lank template background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5F4EE"/>
          </a:solidFill>
          <a:ln w="0">
            <a:noFill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230" y="407670"/>
            <a:ext cx="14607540" cy="7757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Template divider"/>
          <p:cNvSpPr>
            <a:spLocks noGrp="1"/>
          </p:cNvSpPr>
          <p:nvPr/>
        </p:nvSpPr>
        <p:spPr>
          <a:xfrm>
            <a:off x="857250" y="2249686"/>
            <a:ext cx="1352550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2" name="Template divider"/>
          <p:cNvSpPr>
            <a:spLocks noGrp="1"/>
          </p:cNvSpPr>
          <p:nvPr/>
        </p:nvSpPr>
        <p:spPr>
          <a:xfrm>
            <a:off x="857250" y="3442990"/>
            <a:ext cx="1352550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3" name="Template divider"/>
          <p:cNvSpPr>
            <a:spLocks noGrp="1"/>
          </p:cNvSpPr>
          <p:nvPr/>
        </p:nvSpPr>
        <p:spPr>
          <a:xfrm>
            <a:off x="857250" y="4636294"/>
            <a:ext cx="1352550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4" name="Template divider"/>
          <p:cNvSpPr>
            <a:spLocks noGrp="1"/>
          </p:cNvSpPr>
          <p:nvPr/>
        </p:nvSpPr>
        <p:spPr>
          <a:xfrm>
            <a:off x="857250" y="5829598"/>
            <a:ext cx="1352550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5" name="What still needs to work"/>
          <p:cNvSpPr>
            <a:spLocks noGrp="1"/>
          </p:cNvSpPr>
          <p:nvPr/>
        </p:nvSpPr>
        <p:spPr>
          <a:xfrm>
            <a:off x="857250" y="685800"/>
            <a:ext cx="3141315" cy="2552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What still needs to work</a:t>
            </a:r>
            <a:endParaRPr sz="150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" name="Four gaps before autonomous pushing."/>
          <p:cNvSpPr>
            <a:spLocks noGrp="1"/>
          </p:cNvSpPr>
          <p:nvPr/>
        </p:nvSpPr>
        <p:spPr>
          <a:xfrm>
            <a:off x="857250" y="1085850"/>
            <a:ext cx="10127159" cy="7913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Four gaps before autonomous pushing.</a:t>
            </a:r>
            <a:endParaRPr sz="4650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" name="01"/>
          <p:cNvSpPr>
            <a:spLocks noGrp="1"/>
          </p:cNvSpPr>
          <p:nvPr/>
        </p:nvSpPr>
        <p:spPr>
          <a:xfrm>
            <a:off x="857250" y="2478286"/>
            <a:ext cx="469255" cy="3701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01</a:t>
            </a:r>
            <a:endParaRPr sz="2175" b="0">
              <a:solidFill>
                <a:srgbClr val="3F715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" name="Chassis footprint"/>
          <p:cNvSpPr>
            <a:spLocks noGrp="1"/>
          </p:cNvSpPr>
          <p:nvPr/>
        </p:nvSpPr>
        <p:spPr>
          <a:xfrm>
            <a:off x="1762125" y="2459236"/>
            <a:ext cx="2352824" cy="3829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Chassis footprint</a:t>
            </a:r>
            <a:endParaRPr sz="2250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The current robot may exceed the area limit."/>
          <p:cNvSpPr>
            <a:spLocks noGrp="1"/>
          </p:cNvSpPr>
          <p:nvPr/>
        </p:nvSpPr>
        <p:spPr>
          <a:xfrm>
            <a:off x="5524500" y="2487811"/>
            <a:ext cx="5191423" cy="3446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The current robot may exceed the area limit.</a:t>
            </a:r>
            <a:endParaRPr sz="202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Redesign the chassis for a smaller footprint."/>
          <p:cNvSpPr>
            <a:spLocks noGrp="1"/>
          </p:cNvSpPr>
          <p:nvPr/>
        </p:nvSpPr>
        <p:spPr>
          <a:xfrm>
            <a:off x="5524500" y="2860625"/>
            <a:ext cx="5103019" cy="3446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Redesign the chassis for a smaller footprint.</a:t>
            </a:r>
            <a:endParaRPr sz="202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" name="02"/>
          <p:cNvSpPr>
            <a:spLocks noGrp="1"/>
          </p:cNvSpPr>
          <p:nvPr/>
        </p:nvSpPr>
        <p:spPr>
          <a:xfrm>
            <a:off x="857250" y="3671590"/>
            <a:ext cx="469255" cy="3701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02</a:t>
            </a:r>
            <a:endParaRPr sz="2175" b="0">
              <a:solidFill>
                <a:srgbClr val="3F715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Reliable movement"/>
          <p:cNvSpPr>
            <a:spLocks noGrp="1"/>
          </p:cNvSpPr>
          <p:nvPr/>
        </p:nvSpPr>
        <p:spPr>
          <a:xfrm>
            <a:off x="1762125" y="3652540"/>
            <a:ext cx="2662535" cy="3829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Reliable movement</a:t>
            </a:r>
            <a:endParaRPr sz="2250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" name="Check command reliability over repeated runs."/>
          <p:cNvSpPr>
            <a:spLocks noGrp="1"/>
          </p:cNvSpPr>
          <p:nvPr/>
        </p:nvSpPr>
        <p:spPr>
          <a:xfrm>
            <a:off x="5524500" y="3681115"/>
            <a:ext cx="5435501" cy="3446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Check command reliability over repeated runs.</a:t>
            </a:r>
            <a:endParaRPr sz="202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" name="Verify turning and stopping consistently."/>
          <p:cNvSpPr>
            <a:spLocks noGrp="1"/>
          </p:cNvSpPr>
          <p:nvPr/>
        </p:nvSpPr>
        <p:spPr>
          <a:xfrm>
            <a:off x="5524500" y="4053929"/>
            <a:ext cx="4743599" cy="3446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Verify turning and stopping consistently.</a:t>
            </a:r>
            <a:endParaRPr sz="202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03"/>
          <p:cNvSpPr>
            <a:spLocks noGrp="1"/>
          </p:cNvSpPr>
          <p:nvPr/>
        </p:nvSpPr>
        <p:spPr>
          <a:xfrm>
            <a:off x="857250" y="4864894"/>
            <a:ext cx="469255" cy="3701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03</a:t>
            </a:r>
            <a:endParaRPr sz="2175" b="0">
              <a:solidFill>
                <a:srgbClr val="3F715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" name="Live localization"/>
          <p:cNvSpPr>
            <a:spLocks noGrp="1"/>
          </p:cNvSpPr>
          <p:nvPr/>
        </p:nvSpPr>
        <p:spPr>
          <a:xfrm>
            <a:off x="1762125" y="4845844"/>
            <a:ext cx="2234208" cy="3829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Live localization</a:t>
            </a:r>
            <a:endParaRPr sz="2250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7" name="Connect the camera, AprilTag pose estimation"/>
          <p:cNvSpPr>
            <a:spLocks noGrp="1"/>
          </p:cNvSpPr>
          <p:nvPr/>
        </p:nvSpPr>
        <p:spPr>
          <a:xfrm>
            <a:off x="5524500" y="4874419"/>
            <a:ext cx="5369719" cy="3446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Connect the camera, AprilTag pose estimation</a:t>
            </a:r>
            <a:endParaRPr sz="202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" name="and stable block tracking."/>
          <p:cNvSpPr>
            <a:spLocks noGrp="1"/>
          </p:cNvSpPr>
          <p:nvPr/>
        </p:nvSpPr>
        <p:spPr>
          <a:xfrm>
            <a:off x="5524500" y="5247233"/>
            <a:ext cx="3065562" cy="3446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and stable block tracking.</a:t>
            </a:r>
            <a:endParaRPr sz="202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" name="04"/>
          <p:cNvSpPr>
            <a:spLocks noGrp="1"/>
          </p:cNvSpPr>
          <p:nvPr/>
        </p:nvSpPr>
        <p:spPr>
          <a:xfrm>
            <a:off x="857250" y="6058198"/>
            <a:ext cx="469255" cy="3701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04</a:t>
            </a:r>
            <a:endParaRPr sz="2175" b="0">
              <a:solidFill>
                <a:srgbClr val="3F715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0" name="Integrated execution"/>
          <p:cNvSpPr>
            <a:spLocks noGrp="1"/>
          </p:cNvSpPr>
          <p:nvPr/>
        </p:nvSpPr>
        <p:spPr>
          <a:xfrm>
            <a:off x="1762125" y="6039148"/>
            <a:ext cx="2865834" cy="3829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2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Integrated execution</a:t>
            </a:r>
            <a:endParaRPr sz="2250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" name="Fix the four known planner issues;"/>
          <p:cNvSpPr>
            <a:spLocks noGrp="1"/>
          </p:cNvSpPr>
          <p:nvPr/>
        </p:nvSpPr>
        <p:spPr>
          <a:xfrm>
            <a:off x="5524500" y="6067723"/>
            <a:ext cx="4003179" cy="3446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Fix the four known planner issues;</a:t>
            </a:r>
            <a:endParaRPr sz="202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" name="connect decisions to real motion and feedback."/>
          <p:cNvSpPr>
            <a:spLocks noGrp="1"/>
          </p:cNvSpPr>
          <p:nvPr/>
        </p:nvSpPr>
        <p:spPr>
          <a:xfrm>
            <a:off x="5524500" y="6440537"/>
            <a:ext cx="5524798" cy="3446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0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connect decisions to real motion and feedback.</a:t>
            </a:r>
            <a:endParaRPr sz="202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3" name="Priority: measure the complete robot footprint and rede"/>
          <p:cNvSpPr>
            <a:spLocks noGrp="1"/>
          </p:cNvSpPr>
          <p:nvPr/>
        </p:nvSpPr>
        <p:spPr>
          <a:xfrm>
            <a:off x="857250" y="7715250"/>
            <a:ext cx="7432774" cy="2807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Priority: measure the complete robot footprint and redesign the chassis layout.</a:t>
            </a:r>
            <a:endParaRPr sz="165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Template divider"/>
          <p:cNvSpPr>
            <a:spLocks noGrp="1"/>
          </p:cNvSpPr>
          <p:nvPr/>
        </p:nvSpPr>
        <p:spPr>
          <a:xfrm>
            <a:off x="857250" y="2440186"/>
            <a:ext cx="4229100" cy="28575"/>
          </a:xfrm>
          <a:prstGeom prst="rect">
            <a:avLst/>
          </a:prstGeom>
          <a:solidFill>
            <a:srgbClr val="3F7159"/>
          </a:solidFill>
          <a:ln w="0">
            <a:noFill/>
          </a:ln>
        </p:spPr>
      </p:sp>
      <p:sp>
        <p:nvSpPr>
          <p:cNvPr id="2" name="Template divider"/>
          <p:cNvSpPr>
            <a:spLocks noGrp="1"/>
          </p:cNvSpPr>
          <p:nvPr/>
        </p:nvSpPr>
        <p:spPr>
          <a:xfrm>
            <a:off x="857250" y="5250061"/>
            <a:ext cx="422910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3" name="Template divider"/>
          <p:cNvSpPr>
            <a:spLocks noGrp="1"/>
          </p:cNvSpPr>
          <p:nvPr/>
        </p:nvSpPr>
        <p:spPr>
          <a:xfrm>
            <a:off x="5505450" y="2440186"/>
            <a:ext cx="4229100" cy="28575"/>
          </a:xfrm>
          <a:prstGeom prst="rect">
            <a:avLst/>
          </a:prstGeom>
          <a:solidFill>
            <a:srgbClr val="3F7159"/>
          </a:solidFill>
          <a:ln w="0">
            <a:noFill/>
          </a:ln>
        </p:spPr>
      </p:sp>
      <p:sp>
        <p:nvSpPr>
          <p:cNvPr id="4" name="Template divider"/>
          <p:cNvSpPr>
            <a:spLocks noGrp="1"/>
          </p:cNvSpPr>
          <p:nvPr/>
        </p:nvSpPr>
        <p:spPr>
          <a:xfrm>
            <a:off x="5505450" y="5250061"/>
            <a:ext cx="422910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5" name="Template divider"/>
          <p:cNvSpPr>
            <a:spLocks noGrp="1"/>
          </p:cNvSpPr>
          <p:nvPr/>
        </p:nvSpPr>
        <p:spPr>
          <a:xfrm>
            <a:off x="10153650" y="2440186"/>
            <a:ext cx="4229100" cy="28575"/>
          </a:xfrm>
          <a:prstGeom prst="rect">
            <a:avLst/>
          </a:prstGeom>
          <a:solidFill>
            <a:srgbClr val="3F7159"/>
          </a:solidFill>
          <a:ln w="0">
            <a:noFill/>
          </a:ln>
        </p:spPr>
      </p:sp>
      <p:sp>
        <p:nvSpPr>
          <p:cNvPr id="6" name="Template divider"/>
          <p:cNvSpPr>
            <a:spLocks noGrp="1"/>
          </p:cNvSpPr>
          <p:nvPr/>
        </p:nvSpPr>
        <p:spPr>
          <a:xfrm>
            <a:off x="10153650" y="5250061"/>
            <a:ext cx="422910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7" name="Next plan · in order of dependency"/>
          <p:cNvSpPr>
            <a:spLocks noGrp="1"/>
          </p:cNvSpPr>
          <p:nvPr/>
        </p:nvSpPr>
        <p:spPr>
          <a:xfrm>
            <a:off x="857250" y="685800"/>
            <a:ext cx="4297561" cy="2552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Next plan · in order of dependency</a:t>
            </a:r>
            <a:endParaRPr sz="150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" name="Resize the chassis. Then integrate."/>
          <p:cNvSpPr>
            <a:spLocks noGrp="1"/>
          </p:cNvSpPr>
          <p:nvPr/>
        </p:nvSpPr>
        <p:spPr>
          <a:xfrm>
            <a:off x="857250" y="1085850"/>
            <a:ext cx="8643640" cy="7913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Resize the chassis. Then integrate.</a:t>
            </a:r>
            <a:endParaRPr sz="4650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01 / CHASSIS &amp; CONTROL"/>
          <p:cNvSpPr>
            <a:spLocks noGrp="1"/>
          </p:cNvSpPr>
          <p:nvPr/>
        </p:nvSpPr>
        <p:spPr>
          <a:xfrm>
            <a:off x="857250" y="2706886"/>
            <a:ext cx="3383756" cy="3701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01 / CHASSIS &amp; CONTROL</a:t>
            </a:r>
            <a:endParaRPr sz="2175" b="0">
              <a:solidFill>
                <a:srgbClr val="3F715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Rework the chassis"/>
          <p:cNvSpPr>
            <a:spLocks noGrp="1"/>
          </p:cNvSpPr>
          <p:nvPr/>
        </p:nvSpPr>
        <p:spPr>
          <a:xfrm>
            <a:off x="857250" y="3259336"/>
            <a:ext cx="2769989" cy="4084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Rework the chassis</a:t>
            </a:r>
            <a:endParaRPr sz="2400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" name="Measure and reduce the footprint."/>
          <p:cNvSpPr>
            <a:spLocks noGrp="1"/>
          </p:cNvSpPr>
          <p:nvPr/>
        </p:nvSpPr>
        <p:spPr>
          <a:xfrm>
            <a:off x="857250" y="3868936"/>
            <a:ext cx="3913733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Measure and reduce the footprint.</a:t>
            </a:r>
            <a:endParaRPr sz="195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Compare replacement tires."/>
          <p:cNvSpPr>
            <a:spLocks noGrp="1"/>
          </p:cNvSpPr>
          <p:nvPr/>
        </p:nvSpPr>
        <p:spPr>
          <a:xfrm>
            <a:off x="857250" y="4240411"/>
            <a:ext cx="3182392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Compare replacement tires.</a:t>
            </a:r>
            <a:endParaRPr sz="195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" name="Test wireless control and pushing."/>
          <p:cNvSpPr>
            <a:spLocks noGrp="1"/>
          </p:cNvSpPr>
          <p:nvPr/>
        </p:nvSpPr>
        <p:spPr>
          <a:xfrm>
            <a:off x="857250" y="4611886"/>
            <a:ext cx="3838575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Test wireless control and pushing.</a:t>
            </a:r>
            <a:endParaRPr sz="195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" name="EXIT CONDITION"/>
          <p:cNvSpPr>
            <a:spLocks noGrp="1"/>
          </p:cNvSpPr>
          <p:nvPr/>
        </p:nvSpPr>
        <p:spPr>
          <a:xfrm>
            <a:off x="857250" y="5450086"/>
            <a:ext cx="1578173" cy="2425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EXIT CONDITION</a:t>
            </a:r>
            <a:endParaRPr sz="1425" b="0">
              <a:solidFill>
                <a:srgbClr val="3F715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Meet the area limit and push one block"/>
          <p:cNvSpPr>
            <a:spLocks noGrp="1"/>
          </p:cNvSpPr>
          <p:nvPr/>
        </p:nvSpPr>
        <p:spPr>
          <a:xfrm>
            <a:off x="857250" y="5789116"/>
            <a:ext cx="4126409" cy="3063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Meet the area limit and push one block</a:t>
            </a:r>
            <a:endParaRPr sz="1800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" name="by remote control."/>
          <p:cNvSpPr>
            <a:spLocks noGrp="1"/>
          </p:cNvSpPr>
          <p:nvPr/>
        </p:nvSpPr>
        <p:spPr>
          <a:xfrm>
            <a:off x="857250" y="6109097"/>
            <a:ext cx="2033290" cy="3063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by remote control.</a:t>
            </a:r>
            <a:endParaRPr sz="1800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7" name="02 / FEEDBACK"/>
          <p:cNvSpPr>
            <a:spLocks noGrp="1"/>
          </p:cNvSpPr>
          <p:nvPr/>
        </p:nvSpPr>
        <p:spPr>
          <a:xfrm>
            <a:off x="5505450" y="2706886"/>
            <a:ext cx="1998613" cy="3701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02 / FEEDBACK</a:t>
            </a:r>
            <a:endParaRPr sz="2175" b="0">
              <a:solidFill>
                <a:srgbClr val="3F715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" name="Connect real feedback"/>
          <p:cNvSpPr>
            <a:spLocks noGrp="1"/>
          </p:cNvSpPr>
          <p:nvPr/>
        </p:nvSpPr>
        <p:spPr>
          <a:xfrm>
            <a:off x="5505450" y="3259336"/>
            <a:ext cx="3247281" cy="4084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Connect real feedback</a:t>
            </a:r>
            <a:endParaRPr sz="2400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" name="Read encoder feedback."/>
          <p:cNvSpPr>
            <a:spLocks noGrp="1"/>
          </p:cNvSpPr>
          <p:nvPr/>
        </p:nvSpPr>
        <p:spPr>
          <a:xfrm>
            <a:off x="5505450" y="3868936"/>
            <a:ext cx="2785170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Read encoder feedback.</a:t>
            </a:r>
            <a:endParaRPr sz="195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0" name="Calibrate wheel motion."/>
          <p:cNvSpPr>
            <a:spLocks noGrp="1"/>
          </p:cNvSpPr>
          <p:nvPr/>
        </p:nvSpPr>
        <p:spPr>
          <a:xfrm>
            <a:off x="5505450" y="4240411"/>
            <a:ext cx="2757041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Calibrate wheel motion.</a:t>
            </a:r>
            <a:endParaRPr sz="195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" name="Validate live robot and block positions."/>
          <p:cNvSpPr>
            <a:spLocks noGrp="1"/>
          </p:cNvSpPr>
          <p:nvPr/>
        </p:nvSpPr>
        <p:spPr>
          <a:xfrm>
            <a:off x="5505450" y="4611886"/>
            <a:ext cx="4395341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Validate live robot and block positions.</a:t>
            </a:r>
            <a:endParaRPr sz="195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" name="EXIT CONDITION"/>
          <p:cNvSpPr>
            <a:spLocks noGrp="1"/>
          </p:cNvSpPr>
          <p:nvPr/>
        </p:nvSpPr>
        <p:spPr>
          <a:xfrm>
            <a:off x="5505450" y="5450086"/>
            <a:ext cx="1578173" cy="2425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EXIT CONDITION</a:t>
            </a:r>
            <a:endParaRPr sz="1425" b="0">
              <a:solidFill>
                <a:srgbClr val="3F715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3" name="Reach and stop at a target point."/>
          <p:cNvSpPr>
            <a:spLocks noGrp="1"/>
          </p:cNvSpPr>
          <p:nvPr/>
        </p:nvSpPr>
        <p:spPr>
          <a:xfrm>
            <a:off x="5505450" y="5789116"/>
            <a:ext cx="3466207" cy="3063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Reach and stop at a target point.</a:t>
            </a:r>
            <a:endParaRPr sz="1800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4" name="03 / AUTONOMY"/>
          <p:cNvSpPr>
            <a:spLocks noGrp="1"/>
          </p:cNvSpPr>
          <p:nvPr/>
        </p:nvSpPr>
        <p:spPr>
          <a:xfrm>
            <a:off x="10153650" y="2706886"/>
            <a:ext cx="2246561" cy="3701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7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03 / AUTONOMY</a:t>
            </a:r>
            <a:endParaRPr sz="2175" b="0">
              <a:solidFill>
                <a:srgbClr val="3F715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5" name="Close the pushing loop"/>
          <p:cNvSpPr>
            <a:spLocks noGrp="1"/>
          </p:cNvSpPr>
          <p:nvPr/>
        </p:nvSpPr>
        <p:spPr>
          <a:xfrm>
            <a:off x="10153650" y="3259336"/>
            <a:ext cx="3355330" cy="4084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40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Close the pushing loop</a:t>
            </a:r>
            <a:endParaRPr sz="2400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6" name="Fix planner defects."/>
          <p:cNvSpPr>
            <a:spLocks noGrp="1"/>
          </p:cNvSpPr>
          <p:nvPr/>
        </p:nvSpPr>
        <p:spPr>
          <a:xfrm>
            <a:off x="10153650" y="3868936"/>
            <a:ext cx="2268736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Fix planner defects.</a:t>
            </a:r>
            <a:endParaRPr sz="195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7" name="Connect vision to motion."/>
          <p:cNvSpPr>
            <a:spLocks noGrp="1"/>
          </p:cNvSpPr>
          <p:nvPr/>
        </p:nvSpPr>
        <p:spPr>
          <a:xfrm>
            <a:off x="10153650" y="4240411"/>
            <a:ext cx="2980730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Connect vision to motion.</a:t>
            </a:r>
            <a:endParaRPr sz="195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8" name="Tune in repeated mock matches."/>
          <p:cNvSpPr>
            <a:spLocks noGrp="1"/>
          </p:cNvSpPr>
          <p:nvPr/>
        </p:nvSpPr>
        <p:spPr>
          <a:xfrm>
            <a:off x="10153650" y="4611886"/>
            <a:ext cx="3720554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Tune in repeated mock matches.</a:t>
            </a:r>
            <a:endParaRPr sz="195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9" name="EXIT CONDITION"/>
          <p:cNvSpPr>
            <a:spLocks noGrp="1"/>
          </p:cNvSpPr>
          <p:nvPr/>
        </p:nvSpPr>
        <p:spPr>
          <a:xfrm>
            <a:off x="10153650" y="5450086"/>
            <a:ext cx="1578173" cy="2425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3F715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EXIT CONDITION</a:t>
            </a:r>
            <a:endParaRPr sz="1425" b="0">
              <a:solidFill>
                <a:srgbClr val="3F715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0" name="Detect, approach and push one block"/>
          <p:cNvSpPr>
            <a:spLocks noGrp="1"/>
          </p:cNvSpPr>
          <p:nvPr/>
        </p:nvSpPr>
        <p:spPr>
          <a:xfrm>
            <a:off x="10153650" y="5789116"/>
            <a:ext cx="3940076" cy="3063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Detect, approach and push one block</a:t>
            </a:r>
            <a:endParaRPr sz="1800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1" name="autonomously."/>
          <p:cNvSpPr>
            <a:spLocks noGrp="1"/>
          </p:cNvSpPr>
          <p:nvPr/>
        </p:nvSpPr>
        <p:spPr>
          <a:xfrm>
            <a:off x="10153650" y="6109097"/>
            <a:ext cx="1664643" cy="3063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autonomously.</a:t>
            </a:r>
            <a:endParaRPr sz="1800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2" name="Compare tire size and grip; recalibrate wheel motion if"/>
          <p:cNvSpPr>
            <a:spLocks noGrp="1"/>
          </p:cNvSpPr>
          <p:nvPr/>
        </p:nvSpPr>
        <p:spPr>
          <a:xfrm>
            <a:off x="857250" y="7715250"/>
            <a:ext cx="7230814" cy="2807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Compare tire size and grip; recalibrate wheel motion if the tires are replaced.</a:t>
            </a:r>
            <a:endParaRPr sz="165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lank template background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5F4EE"/>
          </a:solidFill>
          <a:ln w="0">
            <a:noFill/>
          </a:ln>
        </p:spPr>
      </p:sp>
      <p:pic>
        <p:nvPicPr>
          <p:cNvPr id="3" name="图片 2" descr="IMG_20261020_094622"/>
          <p:cNvPicPr>
            <a:picLocks noChangeAspect="1"/>
          </p:cNvPicPr>
          <p:nvPr/>
        </p:nvPicPr>
        <p:blipFill>
          <a:blip r:embed="rId1"/>
          <a:srcRect l="11967" b="-6291"/>
          <a:stretch>
            <a:fillRect/>
          </a:stretch>
        </p:blipFill>
        <p:spPr>
          <a:xfrm>
            <a:off x="2722880" y="109220"/>
            <a:ext cx="1006221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emplate divider"/>
          <p:cNvSpPr>
            <a:spLocks noGrp="1"/>
          </p:cNvSpPr>
          <p:nvPr/>
        </p:nvSpPr>
        <p:spPr>
          <a:xfrm>
            <a:off x="857250" y="4463653"/>
            <a:ext cx="13525500" cy="9525"/>
          </a:xfrm>
          <a:prstGeom prst="rect">
            <a:avLst/>
          </a:prstGeom>
          <a:solidFill>
            <a:srgbClr val="CDD2C8"/>
          </a:solidFill>
          <a:ln w="0">
            <a:noFill/>
          </a:ln>
        </p:spPr>
      </p:sp>
      <p:sp>
        <p:nvSpPr>
          <p:cNvPr id="2" name="Immediate milestone"/>
          <p:cNvSpPr>
            <a:spLocks noGrp="1"/>
          </p:cNvSpPr>
          <p:nvPr/>
        </p:nvSpPr>
        <p:spPr>
          <a:xfrm>
            <a:off x="857250" y="685800"/>
            <a:ext cx="2546896" cy="2552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Immediate milestone</a:t>
            </a:r>
            <a:endParaRPr sz="150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" name="A small, measurable physical result."/>
          <p:cNvSpPr>
            <a:spLocks noGrp="1"/>
          </p:cNvSpPr>
          <p:nvPr/>
        </p:nvSpPr>
        <p:spPr>
          <a:xfrm>
            <a:off x="857250" y="1085850"/>
            <a:ext cx="9017198" cy="7913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 small, measurable physical result.</a:t>
            </a:r>
            <a:endParaRPr sz="4650" b="1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Fit within the area limit."/>
          <p:cNvSpPr>
            <a:spLocks noGrp="1"/>
          </p:cNvSpPr>
          <p:nvPr/>
        </p:nvSpPr>
        <p:spPr>
          <a:xfrm>
            <a:off x="857250" y="2240161"/>
            <a:ext cx="6839694" cy="93173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Fit within the area limit.</a:t>
            </a:r>
            <a:endParaRPr sz="5475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" name="Push one real block."/>
          <p:cNvSpPr>
            <a:spLocks noGrp="1"/>
          </p:cNvSpPr>
          <p:nvPr/>
        </p:nvSpPr>
        <p:spPr>
          <a:xfrm>
            <a:off x="857250" y="3032820"/>
            <a:ext cx="5927527" cy="93173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5475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Push one real block.</a:t>
            </a:r>
            <a:endParaRPr sz="5475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" name="PROPOSED CHECK 01"/>
          <p:cNvSpPr>
            <a:spLocks noGrp="1"/>
          </p:cNvSpPr>
          <p:nvPr/>
        </p:nvSpPr>
        <p:spPr>
          <a:xfrm>
            <a:off x="857250" y="4720828"/>
            <a:ext cx="1911548" cy="2425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PROPOSED CHECK 01</a:t>
            </a:r>
            <a:endParaRPr sz="142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" name="Measure the redesigned robot"/>
          <p:cNvSpPr>
            <a:spLocks noGrp="1"/>
          </p:cNvSpPr>
          <p:nvPr/>
        </p:nvSpPr>
        <p:spPr>
          <a:xfrm>
            <a:off x="857250" y="5116562"/>
            <a:ext cx="3490466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Measure the redesigned robot</a:t>
            </a:r>
            <a:endParaRPr sz="1950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" name="against the area limit."/>
          <p:cNvSpPr>
            <a:spLocks noGrp="1"/>
          </p:cNvSpPr>
          <p:nvPr/>
        </p:nvSpPr>
        <p:spPr>
          <a:xfrm>
            <a:off x="857250" y="5475536"/>
            <a:ext cx="2514005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against the area limit.</a:t>
            </a:r>
            <a:endParaRPr sz="1950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PROPOSED CHECK 02"/>
          <p:cNvSpPr>
            <a:spLocks noGrp="1"/>
          </p:cNvSpPr>
          <p:nvPr/>
        </p:nvSpPr>
        <p:spPr>
          <a:xfrm>
            <a:off x="5518100" y="4720828"/>
            <a:ext cx="1911548" cy="2425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PROPOSED CHECK 02</a:t>
            </a:r>
            <a:endParaRPr sz="142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Repeat moves and turns;"/>
          <p:cNvSpPr>
            <a:spLocks noGrp="1"/>
          </p:cNvSpPr>
          <p:nvPr/>
        </p:nvSpPr>
        <p:spPr>
          <a:xfrm>
            <a:off x="5518100" y="5116562"/>
            <a:ext cx="2863155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Repeat moves and turns;</a:t>
            </a:r>
            <a:endParaRPr sz="1950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" name="verify stopping reliably."/>
          <p:cNvSpPr>
            <a:spLocks noGrp="1"/>
          </p:cNvSpPr>
          <p:nvPr/>
        </p:nvSpPr>
        <p:spPr>
          <a:xfrm>
            <a:off x="5518100" y="5475536"/>
            <a:ext cx="2710607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verify stopping reliably.</a:t>
            </a:r>
            <a:endParaRPr sz="1950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PROPOSED CHECK 03"/>
          <p:cNvSpPr>
            <a:spLocks noGrp="1"/>
          </p:cNvSpPr>
          <p:nvPr/>
        </p:nvSpPr>
        <p:spPr>
          <a:xfrm>
            <a:off x="10179100" y="4720828"/>
            <a:ext cx="1911548" cy="2425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PROPOSED CHECK 03</a:t>
            </a:r>
            <a:endParaRPr sz="1425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" name="Record a complete"/>
          <p:cNvSpPr>
            <a:spLocks noGrp="1"/>
          </p:cNvSpPr>
          <p:nvPr/>
        </p:nvSpPr>
        <p:spPr>
          <a:xfrm>
            <a:off x="10179100" y="5116562"/>
            <a:ext cx="2216348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Record a complete</a:t>
            </a:r>
            <a:endParaRPr sz="1950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" name="remote-controlled push."/>
          <p:cNvSpPr>
            <a:spLocks noGrp="1"/>
          </p:cNvSpPr>
          <p:nvPr/>
        </p:nvSpPr>
        <p:spPr>
          <a:xfrm>
            <a:off x="10179100" y="5475536"/>
            <a:ext cx="2820591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remote-controlled push.</a:t>
            </a:r>
            <a:endParaRPr sz="1950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Then extend the same task to autonomous operation."/>
          <p:cNvSpPr>
            <a:spLocks noGrp="1"/>
          </p:cNvSpPr>
          <p:nvPr/>
        </p:nvSpPr>
        <p:spPr>
          <a:xfrm>
            <a:off x="857250" y="6301234"/>
            <a:ext cx="6022330" cy="3318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0">
                <a:solidFill>
                  <a:srgbClr val="69746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Then extend the same task to autonomous operation.</a:t>
            </a:r>
            <a:endParaRPr sz="1950" b="0">
              <a:solidFill>
                <a:srgbClr val="69746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lank template background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5F4EE"/>
          </a:solidFill>
          <a:ln w="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" name="A small, measurable physical result."/>
          <p:cNvSpPr>
            <a:spLocks noGrp="1"/>
          </p:cNvSpPr>
          <p:nvPr/>
        </p:nvSpPr>
        <p:spPr>
          <a:xfrm>
            <a:off x="857250" y="1085850"/>
            <a:ext cx="9017198" cy="7913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4650" b="1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Our Repositories--</a:t>
            </a:r>
            <a:r>
              <a:rPr lang="en-US" altLang="zh-CN" sz="2000" b="0">
                <a:solidFill>
                  <a:srgbClr val="243B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https://github.com/hss-commit/Block-Pushing-Four-Wheeled-Robot</a:t>
            </a:r>
            <a:endParaRPr lang="en-US" altLang="zh-CN" sz="2000" b="0">
              <a:solidFill>
                <a:srgbClr val="243B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290" y="1877060"/>
            <a:ext cx="12037695" cy="64509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2702</Words>
  <Application>WPS 演示</Application>
  <PresentationFormat>Converted Presentation</PresentationFormat>
  <Paragraphs>200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Segoe UI</vt:lpstr>
      <vt:lpstr>微软雅黑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WPS_1727535168</cp:lastModifiedBy>
  <cp:revision>3</cp:revision>
  <dcterms:created xsi:type="dcterms:W3CDTF">2026-10-19T02:32:00Z</dcterms:created>
  <dcterms:modified xsi:type="dcterms:W3CDTF">2026-10-20T01:50:24Z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4105B4CD09F34956995366948C598701_12</vt:lpwstr>
  </property>
</Properties>
</file>