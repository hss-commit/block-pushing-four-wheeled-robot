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49768b3f7aa4f11" /><Relationship Type="http://schemas.openxmlformats.org/officeDocument/2006/relationships/extended-properties" Target="/docProps/app.xml" Id="Rc079edbcd0af490b" /><Relationship Type="http://schemas.openxmlformats.org/officeDocument/2006/relationships/officeDocument" Target="/ppt/presentation.xml" Id="R90ded92875ef46ef" /></Relationships>
</file>

<file path=ppt/presentation.xml><?xml version="1.0" encoding="utf-8"?>
<p:presentation xmlns:p="http://schemas.openxmlformats.org/presentationml/2006/main">
  <p:sldMasterIdLst>
    <p:sldMasterId xmlns:r="http://schemas.openxmlformats.org/officeDocument/2006/relationships" id="2147483648" r:id="R042dca51141e4cc1"/>
  </p:sldMasterIdLst>
  <p:notesMasterIdLst>
    <p:notesMasterId xmlns:r="http://schemas.openxmlformats.org/officeDocument/2006/relationships" r:id="R70aa4a7a49e24565"/>
  </p:notesMasterIdLst>
  <p:sldIdLst>
    <p:sldId xmlns:r="http://schemas.openxmlformats.org/officeDocument/2006/relationships" id="256" r:id="R598df1e97f3f4ae6"/>
    <p:sldId xmlns:r="http://schemas.openxmlformats.org/officeDocument/2006/relationships" id="257" r:id="Rbabfb0426a4f418d"/>
    <p:sldId xmlns:r="http://schemas.openxmlformats.org/officeDocument/2006/relationships" id="258" r:id="Red809fd77c094e68"/>
    <p:sldId xmlns:r="http://schemas.openxmlformats.org/officeDocument/2006/relationships" id="259" r:id="Re831e8c4d96a4950"/>
    <p:sldId xmlns:r="http://schemas.openxmlformats.org/officeDocument/2006/relationships" id="260" r:id="Rd58eb154081e491f"/>
    <p:sldId xmlns:r="http://schemas.openxmlformats.org/officeDocument/2006/relationships" id="261" r:id="R61af098c0a074b8d"/>
    <p:sldId xmlns:r="http://schemas.openxmlformats.org/officeDocument/2006/relationships" id="262" r:id="Rb8bee0550ac445ad"/>
    <p:sldId xmlns:r="http://schemas.openxmlformats.org/officeDocument/2006/relationships" id="263" r:id="R9a3d7c7b67454491"/>
    <p:sldId xmlns:r="http://schemas.openxmlformats.org/officeDocument/2006/relationships" id="264" r:id="R56e69f420c6e4f0d"/>
    <p:sldId xmlns:r="http://schemas.openxmlformats.org/officeDocument/2006/relationships" id="265" r:id="Rd0312a4064c2474a"/>
    <p:sldId xmlns:r="http://schemas.openxmlformats.org/officeDocument/2006/relationships" id="266" r:id="Rb2e77d81a71e43aa"/>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15918b8fba4117" /><Relationship Type="http://schemas.openxmlformats.org/officeDocument/2006/relationships/slideMaster" Target="/ppt/slideMasters/slideMaster1.xml" Id="R042dca51141e4cc1" /><Relationship Type="http://schemas.openxmlformats.org/officeDocument/2006/relationships/notesMaster" Target="/ppt/notesMasters/notesMaster1.xml" Id="R70aa4a7a49e24565" /><Relationship Type="http://schemas.openxmlformats.org/officeDocument/2006/relationships/presProps" Target="/ppt/presProps.xml" Id="Rb1309bf9f86c4ffd" /><Relationship Type="http://schemas.openxmlformats.org/officeDocument/2006/relationships/tableStyles" Target="/ppt/tableStyles.xml" Id="R7c3c8ba2484541c3" /><Relationship Type="http://schemas.openxmlformats.org/officeDocument/2006/relationships/slide" Target="/ppt/slides/slide1.xml" Id="R598df1e97f3f4ae6" /><Relationship Type="http://schemas.openxmlformats.org/officeDocument/2006/relationships/slide" Target="/ppt/slides/slide2.xml" Id="Rbabfb0426a4f418d" /><Relationship Type="http://schemas.openxmlformats.org/officeDocument/2006/relationships/slide" Target="/ppt/slides/slide3.xml" Id="Red809fd77c094e68" /><Relationship Type="http://schemas.openxmlformats.org/officeDocument/2006/relationships/slide" Target="/ppt/slides/slide4.xml" Id="Re831e8c4d96a4950" /><Relationship Type="http://schemas.openxmlformats.org/officeDocument/2006/relationships/slide" Target="/ppt/slides/slide5.xml" Id="Rd58eb154081e491f" /><Relationship Type="http://schemas.openxmlformats.org/officeDocument/2006/relationships/slide" Target="/ppt/slides/slide6.xml" Id="R61af098c0a074b8d" /><Relationship Type="http://schemas.openxmlformats.org/officeDocument/2006/relationships/slide" Target="/ppt/slides/slide7.xml" Id="Rb8bee0550ac445ad" /><Relationship Type="http://schemas.openxmlformats.org/officeDocument/2006/relationships/slide" Target="/ppt/slides/slide8.xml" Id="R9a3d7c7b67454491" /><Relationship Type="http://schemas.openxmlformats.org/officeDocument/2006/relationships/slide" Target="/ppt/slides/slide9.xml" Id="R56e69f420c6e4f0d" /><Relationship Type="http://schemas.openxmlformats.org/officeDocument/2006/relationships/slide" Target="/ppt/slides/slide10.xml" Id="Rd0312a4064c2474a" /><Relationship Type="http://schemas.openxmlformats.org/officeDocument/2006/relationships/slide" Target="/ppt/slides/slide11.xml" Id="Rb2e77d81a71e43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ad4632a83246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fc95a58b6a4e53" /><Relationship Type="http://schemas.openxmlformats.org/officeDocument/2006/relationships/notesMaster" Target="/ppt/notesMasters/notesMaster1.xml" Id="Re5860bdec13f46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aed1f1ca4047fa" /><Relationship Type="http://schemas.openxmlformats.org/officeDocument/2006/relationships/notesMaster" Target="/ppt/notesMasters/notesMaster1.xml" Id="R94cc516b73b348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62f78475104e9a" /><Relationship Type="http://schemas.openxmlformats.org/officeDocument/2006/relationships/notesMaster" Target="/ppt/notesMasters/notesMaster1.xml" Id="R3742bb5fac7e4f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8caa266dbe4e8d" /><Relationship Type="http://schemas.openxmlformats.org/officeDocument/2006/relationships/notesMaster" Target="/ppt/notesMasters/notesMaster1.xml" Id="Rcba2e42272c049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6e3d1d612a46ac" /><Relationship Type="http://schemas.openxmlformats.org/officeDocument/2006/relationships/notesMaster" Target="/ppt/notesMasters/notesMaster1.xml" Id="Rcbad92d5168f4c2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d24c28329a44ee2" /><Relationship Type="http://schemas.openxmlformats.org/officeDocument/2006/relationships/notesMaster" Target="/ppt/notesMasters/notesMaster1.xml" Id="R629faaa2f74b41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0ce17657744ad7" /><Relationship Type="http://schemas.openxmlformats.org/officeDocument/2006/relationships/notesMaster" Target="/ppt/notesMasters/notesMaster1.xml" Id="R59af271d57014c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9c77c5f24944c1" /><Relationship Type="http://schemas.openxmlformats.org/officeDocument/2006/relationships/notesMaster" Target="/ppt/notesMasters/notesMaster1.xml" Id="Rd19661ef60a74794"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d409cc3ae54b75" /><Relationship Type="http://schemas.openxmlformats.org/officeDocument/2006/relationships/notesMaster" Target="/ppt/notesMasters/notesMaster1.xml" Id="R6ae73feadd8c43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f9890f199ec4a82" /><Relationship Type="http://schemas.openxmlformats.org/officeDocument/2006/relationships/notesMaster" Target="/ppt/notesMasters/notesMaster1.xml" Id="R39f71b20533848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0b14c8e6eb420d" /><Relationship Type="http://schemas.openxmlformats.org/officeDocument/2006/relationships/notesMaster" Target="/ppt/notesMasters/notesMaster1.xml" Id="R489f587636af447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Today we will present our robot design, the block-pushing strategy, and the next steps for our two-person team. We have outlined the system architecture and the main strategy. Hardware selection is still in progress, and we do not yet have confirmed prototype test results. Our next step is to select compatible components and test a working prototype. The field diagrams illustrate decisions and motion. They do not represent measured paths or the final robot 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objective is to have more blocks in our half when the match ends. Moving blocks across the centerline is only part of the task, because the opponent can move them back. According to our current requirements, the field is 1.2 meters square and the blocks are about 2 centimeters wide. Our robot starts in the opponent half, facing our half, so the first push can begin directly. The robot may cross the centerline, and it must operate autonomously. External vision and wireless control are allowed. We still need to confirm how the pusher counts toward size limits, and how blocks on the line or inside the pusher are scored.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overhead camera gives the PC a view of the whole field. The PC estimates positions, selects targets and plans actions. The onboard control board receives speed commands, controls wheel speed and handles fault stops. We have not selected a particular chip or board. For vision, our current plan uses OpenCV color segmentation to detect blocks, and a top marker to estimate robot position and orientation. The boundary between the two members' work is a clear interface for coordinates, speed commands and robot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completed work is mainly at the design stage. We have reviewed the match requirements, divided the system into functional parts, and outlined a strategy for each phase of the match. We have also researched hardware candidates, but we have not made a final selection. We are not presenting candidate specifications as measured performance. Next, we need to confirm the remaining rule details, check component compatibility and begin prototype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strategy focuses on the number of blocks likely to remain in our half at the end. First, we identify groups that fit within the effective pusher width, allowing a margin on each side. We reject groups that cannot be approached safely or reached from the correct side. We then compare the expected number retained against the time for the entire cycle: approach, align, push, release and return. This is a decision principle that still needs testing. In the opening we use the starting position. In the midgame we respond to the opponent. In the endgame we simplify actions to fit the remaining time. Push depth depends on the situation.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start, the robot is already on the correct side of the blocks and faces our half. We therefore begin with a group directly ahead, instead of first crossing the line or turning around. A sideways adjustment is useful only if it clearly improves the number of blocks we can cover. We choose the push depth by balancing retention against cycle time. After pushing, the robot backs off slowly and checks that the blocks have separated from the pusher. It then moves behind the next target, avoiding blocks already stored in our half. Solid lines show the push, while dashed lines show a possible return. Actual paths must account for the full pusher width and turning clearance.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midgame, we first check whether a target is feasible and then compare the likely gain and full cycle time. In this example, target A may lead to a contest with the opponent, while target B offers another option. These are illustrative positions, not measured arrival times. We consider three actions. We can collect new blocks, push threatened blocks deeper into our half, or recover blocks near the opponent's expected release point. If both robots are likely to arrive at the same time, switching targets can avoid a long head-on contest. We leave safely stored blocks alone. Once a target is selected, we hold it briefly to avoid frequent switching, unless the target changes or a collision risk appears.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Near the end of the match, remaining time becomes the main constraint. We estimate the time needed to approach from the correct side, align, push and release, then add a margin for braking. Reachable blocks close to the centerline usually need less travel than distant targets. We therefore reduce long detours and unnecessary deep pushes. We must still confirm that the blocks have left the pusher. The exact release and stopping behavior will depend on the scoring rules. We will choose when to enter the endgame phase using measured action times, rather than an arbitrary fixed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first confirm the rules, component parameters and software interfaces. Then the two workstreams can proceed in parallel. The control workstream tests speed tracking, encoders and wireless commands. The vision workstream tests field calibration, robot pose and block detection. During integration, we first test movement to a point and alignment. We then complete one push, release and return cycle. Only after that cycle is reliable will we add repeated pushes, opponent-aware decisions and phase switching. Dates will depend on component delivery and course milestones. For now, progress will be assessed through working demonstrations and test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proposed division of work. Member A handles mechanics, electrical integration and onboard control. Member B handles vision, strategy and the PC program. Before coding independently, we will agree on the coordinate origin, directions, units, command timeout and fault states. Both members will take part in strategy discussions, interface design, integration and practice matches. Each member will also keep clear setup instructions and test records so the other can reproduce the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next review, our goal is to demonstrate a working prototype with repeatable tests. The control demonstration will show wireless speed commands, encoder feedback and safe stopping on faults. The vision demonstration will show robot pose and block positions. The integrated demonstration will complete a full push cycle and record the result. We will measure position error, action time, missed blocks and the number retained. These will be actual test results rather than assumed performance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43093c9eed49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6519878cc948f1" /><Relationship Type="http://schemas.openxmlformats.org/officeDocument/2006/relationships/slideLayout" Target="/ppt/slideLayouts/slideLayout1.xml" Id="R8ce89515a6ee4f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ce89515a6ee4f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569819bc7f499b" /><Relationship Type="http://schemas.openxmlformats.org/officeDocument/2006/relationships/notesSlide" Target="/ppt/notesSlides/notesSlide1.xml" Id="R8f2da3eb52214a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e0042bf07b14a80" /><Relationship Type="http://schemas.openxmlformats.org/officeDocument/2006/relationships/notesSlide" Target="/ppt/notesSlides/notesSlide2.xml" Id="Rfb04a483b6d14c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31f120db2e5466e" /><Relationship Type="http://schemas.openxmlformats.org/officeDocument/2006/relationships/notesSlide" Target="/ppt/notesSlides/notesSlide3.xml" Id="R87c86294f16d494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a1b77423724b73" /><Relationship Type="http://schemas.openxmlformats.org/officeDocument/2006/relationships/notesSlide" Target="/ppt/notesSlides/notesSlide4.xml" Id="Rd937dda13c7547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d74c198d36b4e81" /><Relationship Type="http://schemas.openxmlformats.org/officeDocument/2006/relationships/notesSlide" Target="/ppt/notesSlides/notesSlide5.xml" Id="R3426be59ca254a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e18564d13046be" /><Relationship Type="http://schemas.openxmlformats.org/officeDocument/2006/relationships/notesSlide" Target="/ppt/notesSlides/notesSlide6.xml" Id="R42ca3e80cfa9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dc4be18d78c4e85" /><Relationship Type="http://schemas.openxmlformats.org/officeDocument/2006/relationships/notesSlide" Target="/ppt/notesSlides/notesSlide7.xml" Id="Rad063f03470d47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5dfaa2d4ec4279" /><Relationship Type="http://schemas.openxmlformats.org/officeDocument/2006/relationships/notesSlide" Target="/ppt/notesSlides/notesSlide8.xml" Id="R224c51f6170547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91359f59014902" /><Relationship Type="http://schemas.openxmlformats.org/officeDocument/2006/relationships/notesSlide" Target="/ppt/notesSlides/notesSlide9.xml" Id="R368936b81a1d413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7977bac26a4bfa" /><Relationship Type="http://schemas.openxmlformats.org/officeDocument/2006/relationships/notesSlide" Target="/ppt/notesSlides/notesSlide10.xml" Id="R887c2070661e47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cae87ce8374eaa" /><Relationship Type="http://schemas.openxmlformats.org/officeDocument/2006/relationships/notesSlide" Target="/ppt/notesSlides/notesSlide11.xml" Id="R587d8390d4f4463c"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59" name="Section rule">
            <a:extLst xmlns:a="http://schemas.openxmlformats.org/drawingml/2006/main">
              <a:ext uri="{FF2B5EF4-FFF2-40B4-BE49-F238E27FC236}">
                <a16:creationId xmlns:a16="http://schemas.microsoft.com/office/drawing/2014/main" id="{AD4D6875-6A60-433B-B6E4-97A84B150FAE}"/>
              </a:ext>
            </a:extLst>
          </p:cNvPr>
          <p:cNvSpPr>
            <a:spLocks xmlns:a="http://schemas.openxmlformats.org/drawingml/2006/main" noGrp="1"/>
          </p:cNvSpPr>
          <p:nvPr/>
        </p:nvSpPr>
        <p:spPr>
          <a:xfrm xmlns:a="http://schemas.openxmlformats.org/drawingml/2006/main">
            <a:off x="857250" y="306318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5305F753-5835-43FE-8BFF-6091BDD187DF}"/>
              </a:ext>
            </a:extLst>
          </p:cNvPr>
          <p:cNvSpPr>
            <a:spLocks xmlns:a="http://schemas.openxmlformats.org/drawingml/2006/main" noGrp="1"/>
          </p:cNvSpPr>
          <p:nvPr/>
        </p:nvSpPr>
        <p:spPr>
          <a:xfrm xmlns:a="http://schemas.openxmlformats.org/drawingml/2006/main">
            <a:off x="857250" y="8011418"/>
            <a:ext cx="6143625" cy="9525"/>
          </a:xfrm>
          <a:custGeom xmlns:a="http://schemas.openxmlformats.org/drawingml/2006/main">
            <a:pathLst>
              <a:path w="6143625" h="9525">
                <a:moveTo>
                  <a:pt x="0" y="0"/>
                </a:moveTo>
                <a:lnTo>
                  <a:pt x="6143625" y="0"/>
                </a:lnTo>
              </a:path>
            </a:pathLst>
          </a:custGeom>
          <a:noFill xmlns:a="http://schemas.openxmlformats.org/drawingml/2006/main"/>
          <a:ln xmlns:a="http://schemas.openxmlformats.org/drawingml/2006/main" w="9525">
            <a:solidFill>
              <a:srgbClr val="D9DED5"/>
            </a:solidFill>
            <a:prstDash val="solid"/>
          </a:ln>
        </p:spPr>
      </p:sp>
      <p:sp>
        <p:nvSpPr>
          <p:cNvPr id="3" name="Slide title">
            <a:extLst xmlns:a="http://schemas.openxmlformats.org/drawingml/2006/main">
              <a:ext uri="{FF2B5EF4-FFF2-40B4-BE49-F238E27FC236}">
                <a16:creationId xmlns:a16="http://schemas.microsoft.com/office/drawing/2014/main" id="{8C322C04-C618-4736-A02D-3E38EB0CC306}"/>
              </a:ext>
            </a:extLst>
          </p:cNvPr>
          <p:cNvSpPr>
            <a:spLocks xmlns:a="http://schemas.openxmlformats.org/drawingml/2006/main" noGrp="1"/>
          </p:cNvSpPr>
          <p:nvPr/>
        </p:nvSpPr>
        <p:spPr>
          <a:xfrm xmlns:a="http://schemas.openxmlformats.org/drawingml/2006/main">
            <a:off x="857250" y="819150"/>
            <a:ext cx="16649700" cy="2043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898"/>
              </a:lnSpc>
              <a:spcBef>
                <a:spcPts val="0"/>
              </a:spcBef>
              <a:spcAft>
                <a:spcPts val="0"/>
              </a:spcAft>
              <a:buNone/>
              <a:defRPr sz="5850" b="1">
                <a:solidFill>
                  <a:srgbClr val="28332F"/>
                </a:solidFill>
                <a:latin typeface="Arial"/>
                <a:ea typeface="Arial"/>
                <a:cs typeface="Arial"/>
              </a:defRPr>
            </a:pPr>
            <a:r>
              <a:rPr sz="5850" b="1">
                <a:solidFill>
                  <a:srgbClr val="28332F"/>
                </a:solidFill>
                <a:latin typeface="Arial"/>
                <a:ea typeface="Arial"/>
                <a:cs typeface="Arial"/>
              </a:rPr>
              <a:t>EDIT TEST: Robot Competition</a:t>
            </a:r>
          </a:p>
          <a:p xmlns:a="http://schemas.openxmlformats.org/drawingml/2006/main">
            <a:pPr algn="l">
              <a:lnSpc>
                <a:spcPts val="7898"/>
              </a:lnSpc>
              <a:spcBef>
                <a:spcPts val="0"/>
              </a:spcBef>
              <a:spcAft>
                <a:spcPts val="0"/>
              </a:spcAft>
              <a:buNone/>
              <a:defRPr sz="5850" b="1">
                <a:solidFill>
                  <a:srgbClr val="28332F"/>
                </a:solidFill>
                <a:latin typeface="Arial"/>
                <a:ea typeface="Arial"/>
                <a:cs typeface="Arial"/>
              </a:defRPr>
            </a:pPr>
            <a:r>
              <a:rPr sz="5850" b="0">
                <a:solidFill>
                  <a:srgbClr val="34695B"/>
                </a:solidFill>
                <a:latin typeface="Arial"/>
                <a:ea typeface="Arial"/>
                <a:cs typeface="Arial"/>
              </a:rPr>
              <a:t>Design Progress &amp; Strategy</a:t>
            </a:r>
          </a:p>
        </p:txBody>
      </p:sp>
      <p:sp>
        <p:nvSpPr>
          <p:cNvPr id="4" name="Current progress, pushing strategy and team plan">
            <a:extLst xmlns:a="http://schemas.openxmlformats.org/drawingml/2006/main">
              <a:ext uri="{FF2B5EF4-FFF2-40B4-BE49-F238E27FC236}">
                <a16:creationId xmlns:a16="http://schemas.microsoft.com/office/drawing/2014/main" id="{DC1536DB-4CE2-417C-BDF1-AEFF0D7B7CFB}"/>
              </a:ext>
            </a:extLst>
          </p:cNvPr>
          <p:cNvSpPr>
            <a:spLocks xmlns:a="http://schemas.openxmlformats.org/drawingml/2006/main" noGrp="1"/>
          </p:cNvSpPr>
          <p:nvPr/>
        </p:nvSpPr>
        <p:spPr>
          <a:xfrm xmlns:a="http://schemas.openxmlformats.org/drawingml/2006/main">
            <a:off x="857250" y="3396555"/>
            <a:ext cx="16649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938"/>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Current progress, pushing strategy and team plan</a:t>
            </a:r>
          </a:p>
        </p:txBody>
      </p:sp>
      <p:sp>
        <p:nvSpPr>
          <p:cNvPr id="5" name="The architecture and strategy are outlined.Next: hardware selecti">
            <a:extLst xmlns:a="http://schemas.openxmlformats.org/drawingml/2006/main">
              <a:ext uri="{FF2B5EF4-FFF2-40B4-BE49-F238E27FC236}">
                <a16:creationId xmlns:a16="http://schemas.microsoft.com/office/drawing/2014/main" id="{4185A16E-B806-4137-8373-C842745CB9DB}"/>
              </a:ext>
            </a:extLst>
          </p:cNvPr>
          <p:cNvSpPr>
            <a:spLocks xmlns:a="http://schemas.openxmlformats.org/drawingml/2006/main" noGrp="1"/>
          </p:cNvSpPr>
          <p:nvPr/>
        </p:nvSpPr>
        <p:spPr>
          <a:xfrm xmlns:a="http://schemas.openxmlformats.org/drawingml/2006/main">
            <a:off x="857250" y="5363468"/>
            <a:ext cx="6219825" cy="21669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 architecture and strategy are</a:t>
            </a:r>
          </a:p>
          <a:p xmlns:a="http://schemas.openxmlformats.org/drawingml/2006/main">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outlined.</a:t>
            </a:r>
          </a:p>
          <a:p xmlns:a="http://schemas.openxmlformats.org/drawingml/2006/main">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Next: hardware selection and prototype</a:t>
            </a:r>
          </a:p>
          <a:p xmlns:a="http://schemas.openxmlformats.org/drawingml/2006/main">
            <a:pPr algn="l">
              <a:lnSpc>
                <a:spcPts val="4462"/>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tests.</a:t>
            </a:r>
          </a:p>
        </p:txBody>
      </p:sp>
      <p:sp>
        <p:nvSpPr>
          <p:cNvPr id="6" name="Task &amp; system">
            <a:extLst xmlns:a="http://schemas.openxmlformats.org/drawingml/2006/main">
              <a:ext uri="{FF2B5EF4-FFF2-40B4-BE49-F238E27FC236}">
                <a16:creationId xmlns:a16="http://schemas.microsoft.com/office/drawing/2014/main" id="{CE6EBCD4-B906-4F72-8545-39D4ED66CEB6}"/>
              </a:ext>
            </a:extLst>
          </p:cNvPr>
          <p:cNvSpPr>
            <a:spLocks xmlns:a="http://schemas.openxmlformats.org/drawingml/2006/main" noGrp="1"/>
          </p:cNvSpPr>
          <p:nvPr/>
        </p:nvSpPr>
        <p:spPr>
          <a:xfrm xmlns:a="http://schemas.openxmlformats.org/drawingml/2006/main">
            <a:off x="857250" y="8354318"/>
            <a:ext cx="1733996"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Task &amp; system</a:t>
            </a:r>
          </a:p>
        </p:txBody>
      </p:sp>
      <p:sp>
        <p:nvSpPr>
          <p:cNvPr id="7" name="Match strategy">
            <a:extLst xmlns:a="http://schemas.openxmlformats.org/drawingml/2006/main">
              <a:ext uri="{FF2B5EF4-FFF2-40B4-BE49-F238E27FC236}">
                <a16:creationId xmlns:a16="http://schemas.microsoft.com/office/drawing/2014/main" id="{75281E6E-167B-42BC-9824-6FCB3D558FA8}"/>
              </a:ext>
            </a:extLst>
          </p:cNvPr>
          <p:cNvSpPr>
            <a:spLocks xmlns:a="http://schemas.openxmlformats.org/drawingml/2006/main" noGrp="1"/>
          </p:cNvSpPr>
          <p:nvPr/>
        </p:nvSpPr>
        <p:spPr>
          <a:xfrm xmlns:a="http://schemas.openxmlformats.org/drawingml/2006/main">
            <a:off x="2791271" y="8354318"/>
            <a:ext cx="1762869"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Match strategy</a:t>
            </a:r>
          </a:p>
        </p:txBody>
      </p:sp>
      <p:sp>
        <p:nvSpPr>
          <p:cNvPr id="8" name="Plan &amp; teamwork">
            <a:extLst xmlns:a="http://schemas.openxmlformats.org/drawingml/2006/main">
              <a:ext uri="{FF2B5EF4-FFF2-40B4-BE49-F238E27FC236}">
                <a16:creationId xmlns:a16="http://schemas.microsoft.com/office/drawing/2014/main" id="{4712FC23-944A-4FAC-B0B3-D319697E5A86}"/>
              </a:ext>
            </a:extLst>
          </p:cNvPr>
          <p:cNvSpPr>
            <a:spLocks xmlns:a="http://schemas.openxmlformats.org/drawingml/2006/main" noGrp="1"/>
          </p:cNvSpPr>
          <p:nvPr/>
        </p:nvSpPr>
        <p:spPr>
          <a:xfrm xmlns:a="http://schemas.openxmlformats.org/drawingml/2006/main">
            <a:off x="4754166" y="8354318"/>
            <a:ext cx="2020193" cy="3600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30"/>
              </a:lnSpc>
              <a:spcBef>
                <a:spcPts val="0"/>
              </a:spcBef>
              <a:spcAft>
                <a:spcPts val="0"/>
              </a:spcAft>
              <a:buNone/>
              <a:defRPr sz="2025" b="0">
                <a:solidFill>
                  <a:srgbClr val="34695B"/>
                </a:solidFill>
                <a:latin typeface="Arial"/>
                <a:ea typeface="Arial"/>
                <a:cs typeface="Arial"/>
              </a:defRPr>
            </a:pPr>
            <a:r>
              <a:rPr sz="2025" b="0">
                <a:solidFill>
                  <a:srgbClr val="34695B"/>
                </a:solidFill>
                <a:latin typeface="Arial"/>
                <a:ea typeface="Arial"/>
                <a:cs typeface="Arial"/>
              </a:rPr>
              <a:t>Plan &amp; teamwork</a:t>
            </a:r>
          </a:p>
        </p:txBody>
      </p:sp>
      <p:sp>
        <p:nvSpPr>
          <p:cNvPr id="9" name="Diagram rect">
            <a:extLst xmlns:a="http://schemas.openxmlformats.org/drawingml/2006/main">
              <a:ext uri="{FF2B5EF4-FFF2-40B4-BE49-F238E27FC236}">
                <a16:creationId xmlns:a16="http://schemas.microsoft.com/office/drawing/2014/main" id="{817CBC19-ABCC-4EC9-A7B4-C6F5142DAD9D}"/>
              </a:ext>
            </a:extLst>
          </p:cNvPr>
          <p:cNvSpPr>
            <a:spLocks xmlns:a="http://schemas.openxmlformats.org/drawingml/2006/main" noGrp="1"/>
          </p:cNvSpPr>
          <p:nvPr/>
        </p:nvSpPr>
        <p:spPr>
          <a:xfrm xmlns:a="http://schemas.openxmlformats.org/drawingml/2006/main">
            <a:off x="8974352" y="4271054"/>
            <a:ext cx="4082879" cy="2041439"/>
          </a:xfrm>
          <a:prstGeom xmlns:a="http://schemas.openxmlformats.org/drawingml/2006/main" prst="rect">
            <a:avLst/>
          </a:prstGeom>
          <a:solidFill xmlns:a="http://schemas.openxmlformats.org/drawingml/2006/main">
            <a:srgbClr val="657D95">
              <a:alpha val="7000"/>
            </a:srgbClr>
          </a:solidFill>
          <a:ln xmlns:a="http://schemas.openxmlformats.org/drawingml/2006/main" w="7852">
            <a:noFill/>
            <a:prstDash val="solid"/>
          </a:ln>
        </p:spPr>
      </p:sp>
      <p:sp>
        <p:nvSpPr>
          <p:cNvPr id="10" name="Diagram rect">
            <a:extLst xmlns:a="http://schemas.openxmlformats.org/drawingml/2006/main">
              <a:ext uri="{FF2B5EF4-FFF2-40B4-BE49-F238E27FC236}">
                <a16:creationId xmlns:a16="http://schemas.microsoft.com/office/drawing/2014/main" id="{66363BB3-8922-4190-A73D-B27CDB3FFFAB}"/>
              </a:ext>
            </a:extLst>
          </p:cNvPr>
          <p:cNvSpPr>
            <a:spLocks xmlns:a="http://schemas.openxmlformats.org/drawingml/2006/main" noGrp="1"/>
          </p:cNvSpPr>
          <p:nvPr/>
        </p:nvSpPr>
        <p:spPr>
          <a:xfrm xmlns:a="http://schemas.openxmlformats.org/drawingml/2006/main">
            <a:off x="8974352" y="6312493"/>
            <a:ext cx="4082879" cy="2041439"/>
          </a:xfrm>
          <a:prstGeom xmlns:a="http://schemas.openxmlformats.org/drawingml/2006/main" prst="rect">
            <a:avLst/>
          </a:prstGeom>
          <a:solidFill xmlns:a="http://schemas.openxmlformats.org/drawingml/2006/main">
            <a:srgbClr val="34695B">
              <a:alpha val="8000"/>
            </a:srgbClr>
          </a:solidFill>
          <a:ln xmlns:a="http://schemas.openxmlformats.org/drawingml/2006/main" w="7852">
            <a:noFill/>
            <a:prstDash val="solid"/>
          </a:ln>
        </p:spPr>
      </p:sp>
      <p:sp>
        <p:nvSpPr>
          <p:cNvPr id="11" name="Diagram rect">
            <a:extLst xmlns:a="http://schemas.openxmlformats.org/drawingml/2006/main">
              <a:ext uri="{FF2B5EF4-FFF2-40B4-BE49-F238E27FC236}">
                <a16:creationId xmlns:a16="http://schemas.microsoft.com/office/drawing/2014/main" id="{C1BEDCD2-8E32-4F65-96D2-F61B3B181EAA}"/>
              </a:ext>
            </a:extLst>
          </p:cNvPr>
          <p:cNvSpPr>
            <a:spLocks xmlns:a="http://schemas.openxmlformats.org/drawingml/2006/main" noGrp="1"/>
          </p:cNvSpPr>
          <p:nvPr/>
        </p:nvSpPr>
        <p:spPr>
          <a:xfrm xmlns:a="http://schemas.openxmlformats.org/drawingml/2006/main">
            <a:off x="8974352" y="4271054"/>
            <a:ext cx="4082879" cy="4082878"/>
          </a:xfrm>
          <a:prstGeom xmlns:a="http://schemas.openxmlformats.org/drawingml/2006/main" prst="rect">
            <a:avLst/>
          </a:prstGeom>
          <a:noFill xmlns:a="http://schemas.openxmlformats.org/drawingml/2006/main"/>
          <a:ln xmlns:a="http://schemas.openxmlformats.org/drawingml/2006/main" w="15703">
            <a:solidFill>
              <a:srgbClr val="C6CCC6"/>
            </a:solidFill>
            <a:prstDash val="solid"/>
          </a:ln>
        </p:spPr>
      </p:sp>
      <p:sp>
        <p:nvSpPr>
          <p:cNvPr id="12" name="Field grid">
            <a:extLst xmlns:a="http://schemas.openxmlformats.org/drawingml/2006/main">
              <a:ext uri="{FF2B5EF4-FFF2-40B4-BE49-F238E27FC236}">
                <a16:creationId xmlns:a16="http://schemas.microsoft.com/office/drawing/2014/main" id="{5E59220C-E52D-4820-B5DA-1766DEE218BA}"/>
              </a:ext>
            </a:extLst>
          </p:cNvPr>
          <p:cNvSpPr>
            <a:spLocks xmlns:a="http://schemas.openxmlformats.org/drawingml/2006/main" noGrp="1"/>
          </p:cNvSpPr>
          <p:nvPr/>
        </p:nvSpPr>
        <p:spPr>
          <a:xfrm xmlns:a="http://schemas.openxmlformats.org/drawingml/2006/main">
            <a:off x="9225606"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3" name="Field grid">
            <a:extLst xmlns:a="http://schemas.openxmlformats.org/drawingml/2006/main">
              <a:ext uri="{FF2B5EF4-FFF2-40B4-BE49-F238E27FC236}">
                <a16:creationId xmlns:a16="http://schemas.microsoft.com/office/drawing/2014/main" id="{FBB3ECC7-95D9-4406-9D01-CED2372103D2}"/>
              </a:ext>
            </a:extLst>
          </p:cNvPr>
          <p:cNvSpPr>
            <a:spLocks xmlns:a="http://schemas.openxmlformats.org/drawingml/2006/main" noGrp="1"/>
          </p:cNvSpPr>
          <p:nvPr/>
        </p:nvSpPr>
        <p:spPr>
          <a:xfrm xmlns:a="http://schemas.openxmlformats.org/drawingml/2006/main">
            <a:off x="9633894"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4" name="Field grid">
            <a:extLst xmlns:a="http://schemas.openxmlformats.org/drawingml/2006/main">
              <a:ext uri="{FF2B5EF4-FFF2-40B4-BE49-F238E27FC236}">
                <a16:creationId xmlns:a16="http://schemas.microsoft.com/office/drawing/2014/main" id="{755BD726-2B91-4436-B0FC-3E0AFA586A3A}"/>
              </a:ext>
            </a:extLst>
          </p:cNvPr>
          <p:cNvSpPr>
            <a:spLocks xmlns:a="http://schemas.openxmlformats.org/drawingml/2006/main" noGrp="1"/>
          </p:cNvSpPr>
          <p:nvPr/>
        </p:nvSpPr>
        <p:spPr>
          <a:xfrm xmlns:a="http://schemas.openxmlformats.org/drawingml/2006/main">
            <a:off x="10042182"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5" name="Field grid">
            <a:extLst xmlns:a="http://schemas.openxmlformats.org/drawingml/2006/main">
              <a:ext uri="{FF2B5EF4-FFF2-40B4-BE49-F238E27FC236}">
                <a16:creationId xmlns:a16="http://schemas.microsoft.com/office/drawing/2014/main" id="{E8ED7E51-4A02-4140-8AB5-E97FB8B586D9}"/>
              </a:ext>
            </a:extLst>
          </p:cNvPr>
          <p:cNvSpPr>
            <a:spLocks xmlns:a="http://schemas.openxmlformats.org/drawingml/2006/main" noGrp="1"/>
          </p:cNvSpPr>
          <p:nvPr/>
        </p:nvSpPr>
        <p:spPr>
          <a:xfrm xmlns:a="http://schemas.openxmlformats.org/drawingml/2006/main">
            <a:off x="10450470"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6" name="Field grid">
            <a:extLst xmlns:a="http://schemas.openxmlformats.org/drawingml/2006/main">
              <a:ext uri="{FF2B5EF4-FFF2-40B4-BE49-F238E27FC236}">
                <a16:creationId xmlns:a16="http://schemas.microsoft.com/office/drawing/2014/main" id="{9DDD4667-C12A-4220-AC67-2AFED74CE28C}"/>
              </a:ext>
            </a:extLst>
          </p:cNvPr>
          <p:cNvSpPr>
            <a:spLocks xmlns:a="http://schemas.openxmlformats.org/drawingml/2006/main" noGrp="1"/>
          </p:cNvSpPr>
          <p:nvPr/>
        </p:nvSpPr>
        <p:spPr>
          <a:xfrm xmlns:a="http://schemas.openxmlformats.org/drawingml/2006/main">
            <a:off x="10858757"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5E8049ED-E3DF-4882-B201-39E4AB7AD14D}"/>
              </a:ext>
            </a:extLst>
          </p:cNvPr>
          <p:cNvSpPr>
            <a:spLocks xmlns:a="http://schemas.openxmlformats.org/drawingml/2006/main" noGrp="1"/>
          </p:cNvSpPr>
          <p:nvPr/>
        </p:nvSpPr>
        <p:spPr>
          <a:xfrm xmlns:a="http://schemas.openxmlformats.org/drawingml/2006/main">
            <a:off x="11267045"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DE05EBF8-2993-4012-B190-1166B661BBE0}"/>
              </a:ext>
            </a:extLst>
          </p:cNvPr>
          <p:cNvSpPr>
            <a:spLocks xmlns:a="http://schemas.openxmlformats.org/drawingml/2006/main" noGrp="1"/>
          </p:cNvSpPr>
          <p:nvPr/>
        </p:nvSpPr>
        <p:spPr>
          <a:xfrm xmlns:a="http://schemas.openxmlformats.org/drawingml/2006/main">
            <a:off x="11675333"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2A334FB3-A3BB-423E-98B5-F4FB217B0B78}"/>
              </a:ext>
            </a:extLst>
          </p:cNvPr>
          <p:cNvSpPr>
            <a:spLocks xmlns:a="http://schemas.openxmlformats.org/drawingml/2006/main" noGrp="1"/>
          </p:cNvSpPr>
          <p:nvPr/>
        </p:nvSpPr>
        <p:spPr>
          <a:xfrm xmlns:a="http://schemas.openxmlformats.org/drawingml/2006/main">
            <a:off x="12083621"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908EC7C0-FA07-4782-BCD2-54F063AFF35F}"/>
              </a:ext>
            </a:extLst>
          </p:cNvPr>
          <p:cNvSpPr>
            <a:spLocks xmlns:a="http://schemas.openxmlformats.org/drawingml/2006/main" noGrp="1"/>
          </p:cNvSpPr>
          <p:nvPr/>
        </p:nvSpPr>
        <p:spPr>
          <a:xfrm xmlns:a="http://schemas.openxmlformats.org/drawingml/2006/main">
            <a:off x="12491909"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27C640D4-DE20-4C74-A433-CD735F5699F3}"/>
              </a:ext>
            </a:extLst>
          </p:cNvPr>
          <p:cNvSpPr>
            <a:spLocks xmlns:a="http://schemas.openxmlformats.org/drawingml/2006/main" noGrp="1"/>
          </p:cNvSpPr>
          <p:nvPr/>
        </p:nvSpPr>
        <p:spPr>
          <a:xfrm xmlns:a="http://schemas.openxmlformats.org/drawingml/2006/main">
            <a:off x="12900197" y="4271053"/>
            <a:ext cx="9525" cy="4082878"/>
          </a:xfrm>
          <a:custGeom xmlns:a="http://schemas.openxmlformats.org/drawingml/2006/main">
            <a:pathLst>
              <a:path w="9525" h="4082878">
                <a:moveTo>
                  <a:pt x="0" y="0"/>
                </a:moveTo>
                <a:lnTo>
                  <a:pt x="0" y="4082878"/>
                </a:lnTo>
              </a:path>
            </a:pathLst>
          </a:custGeom>
          <a:noFill xmlns:a="http://schemas.openxmlformats.org/drawingml/2006/main"/>
          <a:ln xmlns:a="http://schemas.openxmlformats.org/drawingml/2006/main" w="4711">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44C1CC1A-C51F-4A19-819D-B4B3F46183EE}"/>
              </a:ext>
            </a:extLst>
          </p:cNvPr>
          <p:cNvSpPr>
            <a:spLocks xmlns:a="http://schemas.openxmlformats.org/drawingml/2006/main" noGrp="1"/>
          </p:cNvSpPr>
          <p:nvPr/>
        </p:nvSpPr>
        <p:spPr>
          <a:xfrm xmlns:a="http://schemas.openxmlformats.org/drawingml/2006/main">
            <a:off x="8974352" y="4341719"/>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A0A3B0E2-A53F-47C8-8193-08E2FAA0247D}"/>
              </a:ext>
            </a:extLst>
          </p:cNvPr>
          <p:cNvSpPr>
            <a:spLocks xmlns:a="http://schemas.openxmlformats.org/drawingml/2006/main" noGrp="1"/>
          </p:cNvSpPr>
          <p:nvPr/>
        </p:nvSpPr>
        <p:spPr>
          <a:xfrm xmlns:a="http://schemas.openxmlformats.org/drawingml/2006/main">
            <a:off x="8974352" y="4750006"/>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943BC8FB-1999-45B7-8787-033BE369FA13}"/>
              </a:ext>
            </a:extLst>
          </p:cNvPr>
          <p:cNvSpPr>
            <a:spLocks xmlns:a="http://schemas.openxmlformats.org/drawingml/2006/main" noGrp="1"/>
          </p:cNvSpPr>
          <p:nvPr/>
        </p:nvSpPr>
        <p:spPr>
          <a:xfrm xmlns:a="http://schemas.openxmlformats.org/drawingml/2006/main">
            <a:off x="8974352" y="5158294"/>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8B8AD6F1-F2FD-41A6-98BD-FD838E449E1A}"/>
              </a:ext>
            </a:extLst>
          </p:cNvPr>
          <p:cNvSpPr>
            <a:spLocks xmlns:a="http://schemas.openxmlformats.org/drawingml/2006/main" noGrp="1"/>
          </p:cNvSpPr>
          <p:nvPr/>
        </p:nvSpPr>
        <p:spPr>
          <a:xfrm xmlns:a="http://schemas.openxmlformats.org/drawingml/2006/main">
            <a:off x="8974352" y="5566582"/>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FFD7D1F7-CA71-4A5F-8C3C-F28877A788FE}"/>
              </a:ext>
            </a:extLst>
          </p:cNvPr>
          <p:cNvSpPr>
            <a:spLocks xmlns:a="http://schemas.openxmlformats.org/drawingml/2006/main" noGrp="1"/>
          </p:cNvSpPr>
          <p:nvPr/>
        </p:nvSpPr>
        <p:spPr>
          <a:xfrm xmlns:a="http://schemas.openxmlformats.org/drawingml/2006/main">
            <a:off x="8974352" y="5974870"/>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40B5557C-B9E1-4112-9832-69A8EC5C0E38}"/>
              </a:ext>
            </a:extLst>
          </p:cNvPr>
          <p:cNvSpPr>
            <a:spLocks xmlns:a="http://schemas.openxmlformats.org/drawingml/2006/main" noGrp="1"/>
          </p:cNvSpPr>
          <p:nvPr/>
        </p:nvSpPr>
        <p:spPr>
          <a:xfrm xmlns:a="http://schemas.openxmlformats.org/drawingml/2006/main">
            <a:off x="8974352" y="6383158"/>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7461C995-8692-4DDB-BBF3-3C475EA48EDA}"/>
              </a:ext>
            </a:extLst>
          </p:cNvPr>
          <p:cNvSpPr>
            <a:spLocks xmlns:a="http://schemas.openxmlformats.org/drawingml/2006/main" noGrp="1"/>
          </p:cNvSpPr>
          <p:nvPr/>
        </p:nvSpPr>
        <p:spPr>
          <a:xfrm xmlns:a="http://schemas.openxmlformats.org/drawingml/2006/main">
            <a:off x="8974352" y="6791446"/>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40978C17-B21D-43AF-8647-B4CA0BD2B8A7}"/>
              </a:ext>
            </a:extLst>
          </p:cNvPr>
          <p:cNvSpPr>
            <a:spLocks xmlns:a="http://schemas.openxmlformats.org/drawingml/2006/main" noGrp="1"/>
          </p:cNvSpPr>
          <p:nvPr/>
        </p:nvSpPr>
        <p:spPr>
          <a:xfrm xmlns:a="http://schemas.openxmlformats.org/drawingml/2006/main">
            <a:off x="8974352" y="7199734"/>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FE941228-CE32-4D14-B4B2-68BB40858990}"/>
              </a:ext>
            </a:extLst>
          </p:cNvPr>
          <p:cNvSpPr>
            <a:spLocks xmlns:a="http://schemas.openxmlformats.org/drawingml/2006/main" noGrp="1"/>
          </p:cNvSpPr>
          <p:nvPr/>
        </p:nvSpPr>
        <p:spPr>
          <a:xfrm xmlns:a="http://schemas.openxmlformats.org/drawingml/2006/main">
            <a:off x="8974352" y="7608021"/>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4F8AC008-620D-45AF-9199-94AE4D52D7A0}"/>
              </a:ext>
            </a:extLst>
          </p:cNvPr>
          <p:cNvSpPr>
            <a:spLocks xmlns:a="http://schemas.openxmlformats.org/drawingml/2006/main" noGrp="1"/>
          </p:cNvSpPr>
          <p:nvPr/>
        </p:nvSpPr>
        <p:spPr>
          <a:xfrm xmlns:a="http://schemas.openxmlformats.org/drawingml/2006/main">
            <a:off x="8974352" y="8016309"/>
            <a:ext cx="4082878" cy="9525"/>
          </a:xfrm>
          <a:custGeom xmlns:a="http://schemas.openxmlformats.org/drawingml/2006/main">
            <a:pathLst>
              <a:path w="4082878" h="9525">
                <a:moveTo>
                  <a:pt x="0" y="0"/>
                </a:moveTo>
                <a:lnTo>
                  <a:pt x="4082878" y="0"/>
                </a:lnTo>
              </a:path>
            </a:pathLst>
          </a:custGeom>
          <a:noFill xmlns:a="http://schemas.openxmlformats.org/drawingml/2006/main"/>
          <a:ln xmlns:a="http://schemas.openxmlformats.org/drawingml/2006/main" w="4711">
            <a:solidFill>
              <a:srgbClr val="C6CCC6">
                <a:alpha val="45000"/>
              </a:srgbClr>
            </a:solidFill>
            <a:prstDash val="solid"/>
          </a:ln>
        </p:spPr>
      </p:sp>
      <p:sp>
        <p:nvSpPr>
          <p:cNvPr id="32" name="Diagram path">
            <a:extLst xmlns:a="http://schemas.openxmlformats.org/drawingml/2006/main">
              <a:ext uri="{FF2B5EF4-FFF2-40B4-BE49-F238E27FC236}">
                <a16:creationId xmlns:a16="http://schemas.microsoft.com/office/drawing/2014/main" id="{4E0D7ADA-FB7D-467B-8064-7C3FD0E30C5C}"/>
              </a:ext>
            </a:extLst>
          </p:cNvPr>
          <p:cNvSpPr>
            <a:spLocks xmlns:a="http://schemas.openxmlformats.org/drawingml/2006/main" noGrp="1"/>
          </p:cNvSpPr>
          <p:nvPr/>
        </p:nvSpPr>
        <p:spPr>
          <a:xfrm xmlns:a="http://schemas.openxmlformats.org/drawingml/2006/main">
            <a:off x="8974352" y="6312493"/>
            <a:ext cx="4082878" cy="9525"/>
          </a:xfrm>
          <a:custGeom xmlns:a="http://schemas.openxmlformats.org/drawingml/2006/main">
            <a:pathLst>
              <a:path w="4082878" h="9525">
                <a:moveTo>
                  <a:pt x="0" y="0"/>
                </a:moveTo>
                <a:lnTo>
                  <a:pt x="23465" y="0"/>
                </a:lnTo>
                <a:lnTo>
                  <a:pt x="46929" y="0"/>
                </a:lnTo>
                <a:lnTo>
                  <a:pt x="70394" y="0"/>
                </a:lnTo>
                <a:lnTo>
                  <a:pt x="93859" y="0"/>
                </a:lnTo>
                <a:lnTo>
                  <a:pt x="117324" y="0"/>
                </a:lnTo>
                <a:lnTo>
                  <a:pt x="140789" y="0"/>
                </a:lnTo>
                <a:lnTo>
                  <a:pt x="164254" y="0"/>
                </a:lnTo>
                <a:lnTo>
                  <a:pt x="187719" y="0"/>
                </a:lnTo>
                <a:lnTo>
                  <a:pt x="211183" y="0"/>
                </a:lnTo>
                <a:lnTo>
                  <a:pt x="234648" y="0"/>
                </a:lnTo>
                <a:lnTo>
                  <a:pt x="258113" y="0"/>
                </a:lnTo>
                <a:lnTo>
                  <a:pt x="281578" y="0"/>
                </a:lnTo>
                <a:lnTo>
                  <a:pt x="305043" y="0"/>
                </a:lnTo>
                <a:lnTo>
                  <a:pt x="328507" y="0"/>
                </a:lnTo>
                <a:lnTo>
                  <a:pt x="351972" y="0"/>
                </a:lnTo>
                <a:lnTo>
                  <a:pt x="375437" y="0"/>
                </a:lnTo>
                <a:lnTo>
                  <a:pt x="398902" y="0"/>
                </a:lnTo>
                <a:lnTo>
                  <a:pt x="422367" y="0"/>
                </a:lnTo>
                <a:lnTo>
                  <a:pt x="445832" y="0"/>
                </a:lnTo>
                <a:lnTo>
                  <a:pt x="469296" y="0"/>
                </a:lnTo>
                <a:lnTo>
                  <a:pt x="492761" y="0"/>
                </a:lnTo>
                <a:lnTo>
                  <a:pt x="516226" y="0"/>
                </a:lnTo>
                <a:lnTo>
                  <a:pt x="539691" y="0"/>
                </a:lnTo>
                <a:lnTo>
                  <a:pt x="563156" y="0"/>
                </a:lnTo>
                <a:lnTo>
                  <a:pt x="586620" y="0"/>
                </a:lnTo>
                <a:lnTo>
                  <a:pt x="610085" y="0"/>
                </a:lnTo>
                <a:lnTo>
                  <a:pt x="633550" y="0"/>
                </a:lnTo>
                <a:lnTo>
                  <a:pt x="657015" y="0"/>
                </a:lnTo>
                <a:lnTo>
                  <a:pt x="680480" y="0"/>
                </a:lnTo>
                <a:lnTo>
                  <a:pt x="703945" y="0"/>
                </a:lnTo>
                <a:lnTo>
                  <a:pt x="727409" y="0"/>
                </a:lnTo>
                <a:lnTo>
                  <a:pt x="750874" y="0"/>
                </a:lnTo>
                <a:lnTo>
                  <a:pt x="774339" y="0"/>
                </a:lnTo>
                <a:lnTo>
                  <a:pt x="797804" y="0"/>
                </a:lnTo>
                <a:lnTo>
                  <a:pt x="821269" y="0"/>
                </a:lnTo>
                <a:lnTo>
                  <a:pt x="844733" y="0"/>
                </a:lnTo>
                <a:lnTo>
                  <a:pt x="868198" y="0"/>
                </a:lnTo>
                <a:lnTo>
                  <a:pt x="891663" y="0"/>
                </a:lnTo>
                <a:lnTo>
                  <a:pt x="915128" y="0"/>
                </a:lnTo>
                <a:lnTo>
                  <a:pt x="938593" y="0"/>
                </a:lnTo>
                <a:lnTo>
                  <a:pt x="962058" y="0"/>
                </a:lnTo>
                <a:lnTo>
                  <a:pt x="985522" y="0"/>
                </a:lnTo>
                <a:lnTo>
                  <a:pt x="1008987" y="0"/>
                </a:lnTo>
                <a:lnTo>
                  <a:pt x="1032452" y="0"/>
                </a:lnTo>
                <a:lnTo>
                  <a:pt x="1055917" y="0"/>
                </a:lnTo>
                <a:lnTo>
                  <a:pt x="1079382" y="0"/>
                </a:lnTo>
                <a:lnTo>
                  <a:pt x="1102847" y="0"/>
                </a:lnTo>
                <a:lnTo>
                  <a:pt x="1126311" y="0"/>
                </a:lnTo>
                <a:lnTo>
                  <a:pt x="1149776" y="0"/>
                </a:lnTo>
                <a:lnTo>
                  <a:pt x="1173241" y="0"/>
                </a:lnTo>
                <a:lnTo>
                  <a:pt x="1196706" y="0"/>
                </a:lnTo>
                <a:lnTo>
                  <a:pt x="1220170" y="0"/>
                </a:lnTo>
                <a:lnTo>
                  <a:pt x="1243635" y="0"/>
                </a:lnTo>
                <a:lnTo>
                  <a:pt x="1267100" y="0"/>
                </a:lnTo>
                <a:lnTo>
                  <a:pt x="1290565" y="0"/>
                </a:lnTo>
                <a:lnTo>
                  <a:pt x="1314030" y="0"/>
                </a:lnTo>
                <a:lnTo>
                  <a:pt x="1337495" y="0"/>
                </a:lnTo>
                <a:lnTo>
                  <a:pt x="1360959" y="0"/>
                </a:lnTo>
                <a:lnTo>
                  <a:pt x="1384424" y="0"/>
                </a:lnTo>
                <a:lnTo>
                  <a:pt x="1407889" y="0"/>
                </a:lnTo>
                <a:lnTo>
                  <a:pt x="1431354" y="0"/>
                </a:lnTo>
                <a:lnTo>
                  <a:pt x="1454819" y="0"/>
                </a:lnTo>
                <a:lnTo>
                  <a:pt x="1478284" y="0"/>
                </a:lnTo>
                <a:lnTo>
                  <a:pt x="1501748" y="0"/>
                </a:lnTo>
                <a:lnTo>
                  <a:pt x="1525213" y="0"/>
                </a:lnTo>
                <a:lnTo>
                  <a:pt x="1548678" y="0"/>
                </a:lnTo>
                <a:lnTo>
                  <a:pt x="1572143" y="0"/>
                </a:lnTo>
                <a:lnTo>
                  <a:pt x="1595608" y="0"/>
                </a:lnTo>
                <a:lnTo>
                  <a:pt x="1619073" y="0"/>
                </a:lnTo>
                <a:lnTo>
                  <a:pt x="1642537" y="0"/>
                </a:lnTo>
                <a:lnTo>
                  <a:pt x="1666002" y="0"/>
                </a:lnTo>
                <a:lnTo>
                  <a:pt x="1689467" y="0"/>
                </a:lnTo>
                <a:lnTo>
                  <a:pt x="1712932" y="0"/>
                </a:lnTo>
                <a:lnTo>
                  <a:pt x="1736396" y="0"/>
                </a:lnTo>
                <a:lnTo>
                  <a:pt x="1759861" y="0"/>
                </a:lnTo>
                <a:lnTo>
                  <a:pt x="1783326" y="0"/>
                </a:lnTo>
                <a:lnTo>
                  <a:pt x="1806791" y="0"/>
                </a:lnTo>
                <a:lnTo>
                  <a:pt x="1830256" y="0"/>
                </a:lnTo>
                <a:lnTo>
                  <a:pt x="1853721" y="0"/>
                </a:lnTo>
                <a:lnTo>
                  <a:pt x="1877185" y="0"/>
                </a:lnTo>
                <a:lnTo>
                  <a:pt x="1900650" y="0"/>
                </a:lnTo>
                <a:lnTo>
                  <a:pt x="1924115" y="0"/>
                </a:lnTo>
                <a:lnTo>
                  <a:pt x="1947580" y="0"/>
                </a:lnTo>
                <a:lnTo>
                  <a:pt x="1971045" y="0"/>
                </a:lnTo>
                <a:lnTo>
                  <a:pt x="1994510" y="0"/>
                </a:lnTo>
                <a:lnTo>
                  <a:pt x="2017974" y="0"/>
                </a:lnTo>
                <a:lnTo>
                  <a:pt x="2041439" y="0"/>
                </a:lnTo>
                <a:lnTo>
                  <a:pt x="2064904" y="0"/>
                </a:lnTo>
                <a:lnTo>
                  <a:pt x="2088369" y="0"/>
                </a:lnTo>
                <a:lnTo>
                  <a:pt x="2111834" y="0"/>
                </a:lnTo>
                <a:lnTo>
                  <a:pt x="2135298" y="0"/>
                </a:lnTo>
                <a:lnTo>
                  <a:pt x="2158763" y="0"/>
                </a:lnTo>
                <a:lnTo>
                  <a:pt x="2182228" y="0"/>
                </a:lnTo>
                <a:lnTo>
                  <a:pt x="2205693" y="0"/>
                </a:lnTo>
                <a:lnTo>
                  <a:pt x="2229158" y="0"/>
                </a:lnTo>
                <a:lnTo>
                  <a:pt x="2252623" y="0"/>
                </a:lnTo>
                <a:lnTo>
                  <a:pt x="2276087" y="0"/>
                </a:lnTo>
                <a:lnTo>
                  <a:pt x="2299552" y="0"/>
                </a:lnTo>
                <a:lnTo>
                  <a:pt x="2323017" y="0"/>
                </a:lnTo>
                <a:lnTo>
                  <a:pt x="2346482" y="0"/>
                </a:lnTo>
                <a:lnTo>
                  <a:pt x="2369947" y="0"/>
                </a:lnTo>
                <a:lnTo>
                  <a:pt x="2393411" y="0"/>
                </a:lnTo>
                <a:lnTo>
                  <a:pt x="2416876" y="0"/>
                </a:lnTo>
                <a:lnTo>
                  <a:pt x="2440341" y="0"/>
                </a:lnTo>
                <a:lnTo>
                  <a:pt x="2463806" y="0"/>
                </a:lnTo>
                <a:lnTo>
                  <a:pt x="2487271" y="0"/>
                </a:lnTo>
                <a:lnTo>
                  <a:pt x="2510736" y="0"/>
                </a:lnTo>
                <a:lnTo>
                  <a:pt x="2534200" y="0"/>
                </a:lnTo>
                <a:lnTo>
                  <a:pt x="2557665" y="0"/>
                </a:lnTo>
                <a:lnTo>
                  <a:pt x="2581130" y="0"/>
                </a:lnTo>
                <a:lnTo>
                  <a:pt x="2604595" y="0"/>
                </a:lnTo>
                <a:lnTo>
                  <a:pt x="2628060" y="0"/>
                </a:lnTo>
                <a:lnTo>
                  <a:pt x="2651524" y="0"/>
                </a:lnTo>
                <a:lnTo>
                  <a:pt x="2674989" y="0"/>
                </a:lnTo>
                <a:lnTo>
                  <a:pt x="2698454" y="0"/>
                </a:lnTo>
                <a:lnTo>
                  <a:pt x="2721919" y="0"/>
                </a:lnTo>
                <a:lnTo>
                  <a:pt x="2745384" y="0"/>
                </a:lnTo>
                <a:lnTo>
                  <a:pt x="2768849" y="0"/>
                </a:lnTo>
                <a:lnTo>
                  <a:pt x="2792313" y="0"/>
                </a:lnTo>
                <a:lnTo>
                  <a:pt x="2815778" y="0"/>
                </a:lnTo>
                <a:lnTo>
                  <a:pt x="2839243" y="0"/>
                </a:lnTo>
                <a:lnTo>
                  <a:pt x="2862708" y="0"/>
                </a:lnTo>
                <a:lnTo>
                  <a:pt x="2886173" y="0"/>
                </a:lnTo>
                <a:lnTo>
                  <a:pt x="2909637" y="0"/>
                </a:lnTo>
                <a:lnTo>
                  <a:pt x="2933102" y="0"/>
                </a:lnTo>
                <a:lnTo>
                  <a:pt x="2956567" y="0"/>
                </a:lnTo>
                <a:lnTo>
                  <a:pt x="2980032" y="0"/>
                </a:lnTo>
                <a:lnTo>
                  <a:pt x="3003497" y="0"/>
                </a:lnTo>
                <a:lnTo>
                  <a:pt x="3026962" y="0"/>
                </a:lnTo>
                <a:lnTo>
                  <a:pt x="3050426" y="0"/>
                </a:lnTo>
                <a:lnTo>
                  <a:pt x="3073891" y="0"/>
                </a:lnTo>
                <a:lnTo>
                  <a:pt x="3097356" y="0"/>
                </a:lnTo>
                <a:lnTo>
                  <a:pt x="3120821" y="0"/>
                </a:lnTo>
                <a:lnTo>
                  <a:pt x="3144286" y="0"/>
                </a:lnTo>
                <a:lnTo>
                  <a:pt x="3167750" y="0"/>
                </a:lnTo>
                <a:lnTo>
                  <a:pt x="3191215" y="0"/>
                </a:lnTo>
                <a:lnTo>
                  <a:pt x="3214680" y="0"/>
                </a:lnTo>
                <a:lnTo>
                  <a:pt x="3238145" y="0"/>
                </a:lnTo>
                <a:lnTo>
                  <a:pt x="3261610" y="0"/>
                </a:lnTo>
                <a:lnTo>
                  <a:pt x="3285075" y="0"/>
                </a:lnTo>
                <a:lnTo>
                  <a:pt x="3308539" y="0"/>
                </a:lnTo>
                <a:lnTo>
                  <a:pt x="3332004" y="0"/>
                </a:lnTo>
                <a:lnTo>
                  <a:pt x="3355469" y="0"/>
                </a:lnTo>
                <a:lnTo>
                  <a:pt x="3378934" y="0"/>
                </a:lnTo>
                <a:lnTo>
                  <a:pt x="3402399" y="0"/>
                </a:lnTo>
                <a:lnTo>
                  <a:pt x="3425863" y="0"/>
                </a:lnTo>
                <a:lnTo>
                  <a:pt x="3449328" y="0"/>
                </a:lnTo>
                <a:lnTo>
                  <a:pt x="3472793" y="0"/>
                </a:lnTo>
                <a:lnTo>
                  <a:pt x="3496258" y="0"/>
                </a:lnTo>
                <a:lnTo>
                  <a:pt x="3519723" y="0"/>
                </a:lnTo>
                <a:lnTo>
                  <a:pt x="3543188" y="0"/>
                </a:lnTo>
                <a:lnTo>
                  <a:pt x="3566652" y="0"/>
                </a:lnTo>
                <a:lnTo>
                  <a:pt x="3590117" y="0"/>
                </a:lnTo>
                <a:lnTo>
                  <a:pt x="3613582" y="0"/>
                </a:lnTo>
                <a:lnTo>
                  <a:pt x="3637047" y="0"/>
                </a:lnTo>
                <a:lnTo>
                  <a:pt x="3660512" y="0"/>
                </a:lnTo>
                <a:lnTo>
                  <a:pt x="3683977" y="0"/>
                </a:lnTo>
                <a:lnTo>
                  <a:pt x="3707441" y="0"/>
                </a:lnTo>
                <a:lnTo>
                  <a:pt x="3730906" y="0"/>
                </a:lnTo>
                <a:lnTo>
                  <a:pt x="3754371" y="0"/>
                </a:lnTo>
                <a:lnTo>
                  <a:pt x="3777836" y="0"/>
                </a:lnTo>
                <a:lnTo>
                  <a:pt x="3801301" y="0"/>
                </a:lnTo>
                <a:lnTo>
                  <a:pt x="3824766" y="0"/>
                </a:lnTo>
                <a:lnTo>
                  <a:pt x="3848230" y="0"/>
                </a:lnTo>
                <a:lnTo>
                  <a:pt x="3871695" y="0"/>
                </a:lnTo>
                <a:lnTo>
                  <a:pt x="3895160" y="0"/>
                </a:lnTo>
                <a:lnTo>
                  <a:pt x="3918625" y="0"/>
                </a:lnTo>
                <a:lnTo>
                  <a:pt x="3942090" y="0"/>
                </a:lnTo>
                <a:lnTo>
                  <a:pt x="3965554" y="0"/>
                </a:lnTo>
                <a:lnTo>
                  <a:pt x="3989019" y="0"/>
                </a:lnTo>
                <a:lnTo>
                  <a:pt x="4012484" y="0"/>
                </a:lnTo>
                <a:lnTo>
                  <a:pt x="4035949" y="0"/>
                </a:lnTo>
                <a:lnTo>
                  <a:pt x="4059413" y="0"/>
                </a:lnTo>
                <a:lnTo>
                  <a:pt x="4082878" y="0"/>
                </a:lnTo>
              </a:path>
            </a:pathLst>
          </a:custGeom>
          <a:solidFill xmlns:a="http://schemas.openxmlformats.org/drawingml/2006/main">
            <a:srgbClr val="000000"/>
          </a:solidFill>
          <a:ln xmlns:a="http://schemas.openxmlformats.org/drawingml/2006/main" w="11778">
            <a:solidFill>
              <a:srgbClr val="75827C"/>
            </a:solidFill>
            <a:prstDash val="dash"/>
          </a:ln>
        </p:spPr>
      </p:sp>
      <p:sp>
        <p:nvSpPr>
          <p:cNvPr id="33" name="Opponent half">
            <a:extLst xmlns:a="http://schemas.openxmlformats.org/drawingml/2006/main">
              <a:ext uri="{FF2B5EF4-FFF2-40B4-BE49-F238E27FC236}">
                <a16:creationId xmlns:a16="http://schemas.microsoft.com/office/drawing/2014/main" id="{3D03D4F0-7049-42C3-BEB9-D14BD3364BBD}"/>
              </a:ext>
            </a:extLst>
          </p:cNvPr>
          <p:cNvSpPr>
            <a:spLocks xmlns:a="http://schemas.openxmlformats.org/drawingml/2006/main" noGrp="1"/>
          </p:cNvSpPr>
          <p:nvPr/>
        </p:nvSpPr>
        <p:spPr>
          <a:xfrm xmlns:a="http://schemas.openxmlformats.org/drawingml/2006/main">
            <a:off x="8974352" y="3854528"/>
            <a:ext cx="1359222" cy="2748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1855"/>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Opponent half</a:t>
            </a:r>
          </a:p>
        </p:txBody>
      </p:sp>
      <p:sp>
        <p:nvSpPr>
          <p:cNvPr id="34" name="Our half">
            <a:extLst xmlns:a="http://schemas.openxmlformats.org/drawingml/2006/main">
              <a:ext uri="{FF2B5EF4-FFF2-40B4-BE49-F238E27FC236}">
                <a16:creationId xmlns:a16="http://schemas.microsoft.com/office/drawing/2014/main" id="{895E63AB-5088-4B75-B9A7-73A03902F968}"/>
              </a:ext>
            </a:extLst>
          </p:cNvPr>
          <p:cNvSpPr>
            <a:spLocks xmlns:a="http://schemas.openxmlformats.org/drawingml/2006/main" noGrp="1"/>
          </p:cNvSpPr>
          <p:nvPr/>
        </p:nvSpPr>
        <p:spPr>
          <a:xfrm xmlns:a="http://schemas.openxmlformats.org/drawingml/2006/main">
            <a:off x="8974352" y="8518431"/>
            <a:ext cx="824422" cy="2748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1855"/>
              </a:lnSpc>
              <a:spcBef>
                <a:spcPts val="0"/>
              </a:spcBef>
              <a:spcAft>
                <a:spcPts val="0"/>
              </a:spcAft>
              <a:buNone/>
              <a:defRPr sz="1546" b="0">
                <a:solidFill>
                  <a:srgbClr val="75827C"/>
                </a:solidFill>
                <a:latin typeface="Arial"/>
                <a:ea typeface="Arial"/>
                <a:cs typeface="Arial"/>
              </a:defRPr>
            </a:pPr>
            <a:r>
              <a:rPr sz="1546" b="0">
                <a:solidFill>
                  <a:srgbClr val="75827C"/>
                </a:solidFill>
                <a:latin typeface="Arial"/>
                <a:ea typeface="Arial"/>
                <a:cs typeface="Arial"/>
              </a:rPr>
              <a:t>Our half</a:t>
            </a:r>
          </a:p>
        </p:txBody>
      </p:sp>
      <p:sp>
        <p:nvSpPr>
          <p:cNvPr id="35" name="Diagram rect">
            <a:extLst xmlns:a="http://schemas.openxmlformats.org/drawingml/2006/main">
              <a:ext uri="{FF2B5EF4-FFF2-40B4-BE49-F238E27FC236}">
                <a16:creationId xmlns:a16="http://schemas.microsoft.com/office/drawing/2014/main" id="{F1E234B1-76E6-47DF-82C8-638A66DBBBF6}"/>
              </a:ext>
            </a:extLst>
          </p:cNvPr>
          <p:cNvSpPr>
            <a:spLocks xmlns:a="http://schemas.openxmlformats.org/drawingml/2006/main" noGrp="1"/>
          </p:cNvSpPr>
          <p:nvPr/>
        </p:nvSpPr>
        <p:spPr>
          <a:xfrm xmlns:a="http://schemas.openxmlformats.org/drawingml/2006/main">
            <a:off x="9822334" y="5880650"/>
            <a:ext cx="1805889" cy="1813740"/>
          </a:xfrm>
          <a:prstGeom xmlns:a="http://schemas.openxmlformats.org/drawingml/2006/main" prst="rect">
            <a:avLst/>
          </a:prstGeom>
          <a:solidFill xmlns:a="http://schemas.openxmlformats.org/drawingml/2006/main">
            <a:srgbClr val="34695B">
              <a:alpha val="7000"/>
            </a:srgbClr>
          </a:solidFill>
          <a:ln xmlns:a="http://schemas.openxmlformats.org/drawingml/2006/main" w="7852">
            <a:noFill/>
            <a:prstDash val="solid"/>
          </a:ln>
        </p:spPr>
      </p:sp>
      <p:sp>
        <p:nvSpPr>
          <p:cNvPr id="36" name="Diagram path">
            <a:extLst xmlns:a="http://schemas.openxmlformats.org/drawingml/2006/main">
              <a:ext uri="{FF2B5EF4-FFF2-40B4-BE49-F238E27FC236}">
                <a16:creationId xmlns:a16="http://schemas.microsoft.com/office/drawing/2014/main" id="{B607D0CF-36BE-48B4-A679-4363A8DABFCD}"/>
              </a:ext>
            </a:extLst>
          </p:cNvPr>
          <p:cNvSpPr>
            <a:spLocks xmlns:a="http://schemas.openxmlformats.org/drawingml/2006/main" noGrp="1"/>
          </p:cNvSpPr>
          <p:nvPr/>
        </p:nvSpPr>
        <p:spPr>
          <a:xfrm xmlns:a="http://schemas.openxmlformats.org/drawingml/2006/main">
            <a:off x="9822334" y="5880650"/>
            <a:ext cx="9525" cy="1813740"/>
          </a:xfrm>
          <a:custGeom xmlns:a="http://schemas.openxmlformats.org/drawingml/2006/main">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xmlns:a="http://schemas.openxmlformats.org/drawingml/2006/main">
            <a:srgbClr val="000000"/>
          </a:solidFill>
          <a:ln xmlns:a="http://schemas.openxmlformats.org/drawingml/2006/main" w="10207">
            <a:solidFill>
              <a:srgbClr val="34695B"/>
            </a:solidFill>
            <a:prstDash val="dash"/>
          </a:ln>
        </p:spPr>
      </p:sp>
      <p:sp>
        <p:nvSpPr>
          <p:cNvPr id="37" name="Diagram path">
            <a:extLst xmlns:a="http://schemas.openxmlformats.org/drawingml/2006/main">
              <a:ext uri="{FF2B5EF4-FFF2-40B4-BE49-F238E27FC236}">
                <a16:creationId xmlns:a16="http://schemas.microsoft.com/office/drawing/2014/main" id="{4E74FDA1-9014-41C2-9F99-A9C9BAD7BB25}"/>
              </a:ext>
            </a:extLst>
          </p:cNvPr>
          <p:cNvSpPr>
            <a:spLocks xmlns:a="http://schemas.openxmlformats.org/drawingml/2006/main" noGrp="1"/>
          </p:cNvSpPr>
          <p:nvPr/>
        </p:nvSpPr>
        <p:spPr>
          <a:xfrm xmlns:a="http://schemas.openxmlformats.org/drawingml/2006/main">
            <a:off x="11628223" y="5880650"/>
            <a:ext cx="9525" cy="1813740"/>
          </a:xfrm>
          <a:custGeom xmlns:a="http://schemas.openxmlformats.org/drawingml/2006/main">
            <a:pathLst>
              <a:path w="9525" h="1813740">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lnTo>
                  <a:pt x="0" y="871538"/>
                </a:lnTo>
                <a:lnTo>
                  <a:pt x="0" y="895093"/>
                </a:lnTo>
                <a:lnTo>
                  <a:pt x="0" y="918648"/>
                </a:lnTo>
                <a:lnTo>
                  <a:pt x="0" y="942203"/>
                </a:lnTo>
                <a:lnTo>
                  <a:pt x="0" y="965758"/>
                </a:lnTo>
                <a:lnTo>
                  <a:pt x="0" y="989313"/>
                </a:lnTo>
                <a:lnTo>
                  <a:pt x="0" y="1012868"/>
                </a:lnTo>
                <a:lnTo>
                  <a:pt x="0" y="1036423"/>
                </a:lnTo>
                <a:lnTo>
                  <a:pt x="0" y="1059978"/>
                </a:lnTo>
                <a:lnTo>
                  <a:pt x="0" y="1083533"/>
                </a:lnTo>
                <a:lnTo>
                  <a:pt x="0" y="1107088"/>
                </a:lnTo>
                <a:lnTo>
                  <a:pt x="0" y="1130643"/>
                </a:lnTo>
                <a:lnTo>
                  <a:pt x="0" y="1154198"/>
                </a:lnTo>
                <a:lnTo>
                  <a:pt x="0" y="1177753"/>
                </a:lnTo>
                <a:lnTo>
                  <a:pt x="0" y="1201308"/>
                </a:lnTo>
                <a:lnTo>
                  <a:pt x="0" y="1224864"/>
                </a:lnTo>
                <a:lnTo>
                  <a:pt x="0" y="1248419"/>
                </a:lnTo>
                <a:lnTo>
                  <a:pt x="0" y="1271974"/>
                </a:lnTo>
                <a:lnTo>
                  <a:pt x="0" y="1295529"/>
                </a:lnTo>
                <a:lnTo>
                  <a:pt x="0" y="1319084"/>
                </a:lnTo>
                <a:lnTo>
                  <a:pt x="0" y="1342639"/>
                </a:lnTo>
                <a:lnTo>
                  <a:pt x="0" y="1366194"/>
                </a:lnTo>
                <a:lnTo>
                  <a:pt x="0" y="1389749"/>
                </a:lnTo>
                <a:lnTo>
                  <a:pt x="0" y="1413304"/>
                </a:lnTo>
                <a:lnTo>
                  <a:pt x="0" y="1436859"/>
                </a:lnTo>
                <a:lnTo>
                  <a:pt x="0" y="1460414"/>
                </a:lnTo>
                <a:lnTo>
                  <a:pt x="0" y="1483969"/>
                </a:lnTo>
                <a:lnTo>
                  <a:pt x="0" y="1507524"/>
                </a:lnTo>
                <a:lnTo>
                  <a:pt x="0" y="1531079"/>
                </a:lnTo>
                <a:lnTo>
                  <a:pt x="0" y="1554634"/>
                </a:lnTo>
                <a:lnTo>
                  <a:pt x="0" y="1578190"/>
                </a:lnTo>
                <a:lnTo>
                  <a:pt x="0" y="1601745"/>
                </a:lnTo>
                <a:lnTo>
                  <a:pt x="0" y="1625300"/>
                </a:lnTo>
                <a:lnTo>
                  <a:pt x="0" y="1648855"/>
                </a:lnTo>
                <a:lnTo>
                  <a:pt x="0" y="1672410"/>
                </a:lnTo>
                <a:lnTo>
                  <a:pt x="0" y="1695965"/>
                </a:lnTo>
                <a:lnTo>
                  <a:pt x="0" y="1719520"/>
                </a:lnTo>
                <a:lnTo>
                  <a:pt x="0" y="1743075"/>
                </a:lnTo>
                <a:lnTo>
                  <a:pt x="0" y="1766630"/>
                </a:lnTo>
                <a:lnTo>
                  <a:pt x="0" y="1790185"/>
                </a:lnTo>
                <a:lnTo>
                  <a:pt x="0" y="1813740"/>
                </a:lnTo>
              </a:path>
            </a:pathLst>
          </a:custGeom>
          <a:solidFill xmlns:a="http://schemas.openxmlformats.org/drawingml/2006/main">
            <a:srgbClr val="000000"/>
          </a:solidFill>
          <a:ln xmlns:a="http://schemas.openxmlformats.org/drawingml/2006/main" w="10207">
            <a:solidFill>
              <a:srgbClr val="34695B"/>
            </a:solidFill>
            <a:prstDash val="dash"/>
          </a:ln>
        </p:spPr>
      </p:sp>
      <p:sp>
        <p:nvSpPr>
          <p:cNvPr id="38" name="Diagram rect">
            <a:extLst xmlns:a="http://schemas.openxmlformats.org/drawingml/2006/main">
              <a:ext uri="{FF2B5EF4-FFF2-40B4-BE49-F238E27FC236}">
                <a16:creationId xmlns:a16="http://schemas.microsoft.com/office/drawing/2014/main" id="{61B5D4C5-A0A3-465D-8559-5A5DE715AFD6}"/>
              </a:ext>
            </a:extLst>
          </p:cNvPr>
          <p:cNvSpPr>
            <a:spLocks xmlns:a="http://schemas.openxmlformats.org/drawingml/2006/main" noGrp="1"/>
          </p:cNvSpPr>
          <p:nvPr/>
        </p:nvSpPr>
        <p:spPr>
          <a:xfrm xmlns:a="http://schemas.openxmlformats.org/drawingml/2006/main">
            <a:off x="9469009"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39" name="Diagram rect">
            <a:extLst xmlns:a="http://schemas.openxmlformats.org/drawingml/2006/main">
              <a:ext uri="{FF2B5EF4-FFF2-40B4-BE49-F238E27FC236}">
                <a16:creationId xmlns:a16="http://schemas.microsoft.com/office/drawing/2014/main" id="{1312E392-425E-4723-92DC-8396261124D2}"/>
              </a:ext>
            </a:extLst>
          </p:cNvPr>
          <p:cNvSpPr>
            <a:spLocks xmlns:a="http://schemas.openxmlformats.org/drawingml/2006/main" noGrp="1"/>
          </p:cNvSpPr>
          <p:nvPr/>
        </p:nvSpPr>
        <p:spPr>
          <a:xfrm xmlns:a="http://schemas.openxmlformats.org/drawingml/2006/main">
            <a:off x="10065737"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0" name="Diagram rect">
            <a:extLst xmlns:a="http://schemas.openxmlformats.org/drawingml/2006/main">
              <a:ext uri="{FF2B5EF4-FFF2-40B4-BE49-F238E27FC236}">
                <a16:creationId xmlns:a16="http://schemas.microsoft.com/office/drawing/2014/main" id="{496AC6EF-9768-4B7A-80B4-F0D9AEDA3EBA}"/>
              </a:ext>
            </a:extLst>
          </p:cNvPr>
          <p:cNvSpPr>
            <a:spLocks xmlns:a="http://schemas.openxmlformats.org/drawingml/2006/main" noGrp="1"/>
          </p:cNvSpPr>
          <p:nvPr/>
        </p:nvSpPr>
        <p:spPr>
          <a:xfrm xmlns:a="http://schemas.openxmlformats.org/drawingml/2006/main">
            <a:off x="10662465"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1" name="Diagram rect">
            <a:extLst xmlns:a="http://schemas.openxmlformats.org/drawingml/2006/main">
              <a:ext uri="{FF2B5EF4-FFF2-40B4-BE49-F238E27FC236}">
                <a16:creationId xmlns:a16="http://schemas.microsoft.com/office/drawing/2014/main" id="{D7F87FFA-ADC4-4754-AB4F-D735612D0937}"/>
              </a:ext>
            </a:extLst>
          </p:cNvPr>
          <p:cNvSpPr>
            <a:spLocks xmlns:a="http://schemas.openxmlformats.org/drawingml/2006/main" noGrp="1"/>
          </p:cNvSpPr>
          <p:nvPr/>
        </p:nvSpPr>
        <p:spPr>
          <a:xfrm xmlns:a="http://schemas.openxmlformats.org/drawingml/2006/main">
            <a:off x="11259194"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2" name="Diagram rect">
            <a:extLst xmlns:a="http://schemas.openxmlformats.org/drawingml/2006/main">
              <a:ext uri="{FF2B5EF4-FFF2-40B4-BE49-F238E27FC236}">
                <a16:creationId xmlns:a16="http://schemas.microsoft.com/office/drawing/2014/main" id="{E4AD06CD-8C28-42FD-AFC0-75D7A254A377}"/>
              </a:ext>
            </a:extLst>
          </p:cNvPr>
          <p:cNvSpPr>
            <a:spLocks xmlns:a="http://schemas.openxmlformats.org/drawingml/2006/main" noGrp="1"/>
          </p:cNvSpPr>
          <p:nvPr/>
        </p:nvSpPr>
        <p:spPr>
          <a:xfrm xmlns:a="http://schemas.openxmlformats.org/drawingml/2006/main">
            <a:off x="11855922"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3" name="Diagram rect">
            <a:extLst xmlns:a="http://schemas.openxmlformats.org/drawingml/2006/main">
              <a:ext uri="{FF2B5EF4-FFF2-40B4-BE49-F238E27FC236}">
                <a16:creationId xmlns:a16="http://schemas.microsoft.com/office/drawing/2014/main" id="{52346190-45E8-4649-812A-1C92584590C8}"/>
              </a:ext>
            </a:extLst>
          </p:cNvPr>
          <p:cNvSpPr>
            <a:spLocks xmlns:a="http://schemas.openxmlformats.org/drawingml/2006/main" noGrp="1"/>
          </p:cNvSpPr>
          <p:nvPr/>
        </p:nvSpPr>
        <p:spPr>
          <a:xfrm xmlns:a="http://schemas.openxmlformats.org/drawingml/2006/main">
            <a:off x="12452650" y="6124052"/>
            <a:ext cx="109924" cy="109924"/>
          </a:xfrm>
          <a:prstGeom xmlns:a="http://schemas.openxmlformats.org/drawingml/2006/main" prst="rect">
            <a:avLst/>
          </a:prstGeom>
          <a:solidFill xmlns:a="http://schemas.openxmlformats.org/drawingml/2006/main">
            <a:srgbClr val="34695B"/>
          </a:solidFill>
          <a:ln xmlns:a="http://schemas.openxmlformats.org/drawingml/2006/main" w="7852">
            <a:noFill/>
            <a:prstDash val="solid"/>
          </a:ln>
        </p:spPr>
      </p:sp>
      <p:sp>
        <p:nvSpPr>
          <p:cNvPr id="44" name="Diagram circle">
            <a:extLst xmlns:a="http://schemas.openxmlformats.org/drawingml/2006/main">
              <a:ext uri="{FF2B5EF4-FFF2-40B4-BE49-F238E27FC236}">
                <a16:creationId xmlns:a16="http://schemas.microsoft.com/office/drawing/2014/main" id="{61C5C934-29BE-46B1-82B3-B602AE9BE71B}"/>
              </a:ext>
            </a:extLst>
          </p:cNvPr>
          <p:cNvSpPr>
            <a:spLocks xmlns:a="http://schemas.openxmlformats.org/drawingml/2006/main" noGrp="1"/>
          </p:cNvSpPr>
          <p:nvPr/>
        </p:nvSpPr>
        <p:spPr>
          <a:xfrm xmlns:a="http://schemas.openxmlformats.org/drawingml/2006/main">
            <a:off x="10544690" y="5268218"/>
            <a:ext cx="345474" cy="345474"/>
          </a:xfrm>
          <a:prstGeom xmlns:a="http://schemas.openxmlformats.org/drawingml/2006/main" prst="ellipse">
            <a:avLst/>
          </a:prstGeom>
          <a:solidFill xmlns:a="http://schemas.openxmlformats.org/drawingml/2006/main">
            <a:srgbClr val="34695B"/>
          </a:solidFill>
          <a:ln xmlns:a="http://schemas.openxmlformats.org/drawingml/2006/main" w="15703">
            <a:solidFill>
              <a:srgbClr val="34695B"/>
            </a:solidFill>
            <a:prstDash val="solid"/>
          </a:ln>
        </p:spPr>
      </p:sp>
      <p:sp>
        <p:nvSpPr>
          <p:cNvPr id="45" name="Diagram path">
            <a:extLst xmlns:a="http://schemas.openxmlformats.org/drawingml/2006/main">
              <a:ext uri="{FF2B5EF4-FFF2-40B4-BE49-F238E27FC236}">
                <a16:creationId xmlns:a16="http://schemas.microsoft.com/office/drawing/2014/main" id="{821A90E0-C204-4E90-B558-EF24FCE07622}"/>
              </a:ext>
            </a:extLst>
          </p:cNvPr>
          <p:cNvSpPr>
            <a:spLocks xmlns:a="http://schemas.openxmlformats.org/drawingml/2006/main" noGrp="1"/>
          </p:cNvSpPr>
          <p:nvPr/>
        </p:nvSpPr>
        <p:spPr>
          <a:xfrm xmlns:a="http://schemas.openxmlformats.org/drawingml/2006/main">
            <a:off x="10652608" y="5378142"/>
            <a:ext cx="135484" cy="173119"/>
          </a:xfrm>
          <a:custGeom xmlns:a="http://schemas.openxmlformats.org/drawingml/2006/main">
            <a:pathLst>
              <a:path w="135484" h="173119">
                <a:moveTo>
                  <a:pt x="135484" y="0"/>
                </a:moveTo>
                <a:lnTo>
                  <a:pt x="127017" y="21640"/>
                </a:lnTo>
                <a:lnTo>
                  <a:pt x="118549" y="43280"/>
                </a:lnTo>
                <a:lnTo>
                  <a:pt x="110081" y="64920"/>
                </a:lnTo>
                <a:lnTo>
                  <a:pt x="101613" y="86559"/>
                </a:lnTo>
                <a:lnTo>
                  <a:pt x="93145" y="108199"/>
                </a:lnTo>
                <a:lnTo>
                  <a:pt x="84678" y="129839"/>
                </a:lnTo>
                <a:lnTo>
                  <a:pt x="76210" y="151479"/>
                </a:lnTo>
                <a:lnTo>
                  <a:pt x="67742" y="173119"/>
                </a:lnTo>
                <a:lnTo>
                  <a:pt x="59274" y="166419"/>
                </a:lnTo>
                <a:lnTo>
                  <a:pt x="50807" y="144779"/>
                </a:lnTo>
                <a:lnTo>
                  <a:pt x="42339" y="123139"/>
                </a:lnTo>
                <a:lnTo>
                  <a:pt x="33871" y="101499"/>
                </a:lnTo>
                <a:lnTo>
                  <a:pt x="25403" y="79859"/>
                </a:lnTo>
                <a:lnTo>
                  <a:pt x="16936" y="58220"/>
                </a:lnTo>
                <a:lnTo>
                  <a:pt x="8468" y="36580"/>
                </a:lnTo>
                <a:lnTo>
                  <a:pt x="0" y="14940"/>
                </a:lnTo>
                <a:lnTo>
                  <a:pt x="140" y="3991"/>
                </a:lnTo>
                <a:lnTo>
                  <a:pt x="19475" y="16881"/>
                </a:lnTo>
                <a:lnTo>
                  <a:pt x="38810" y="29771"/>
                </a:lnTo>
                <a:lnTo>
                  <a:pt x="58145" y="42661"/>
                </a:lnTo>
                <a:lnTo>
                  <a:pt x="77480" y="38670"/>
                </a:lnTo>
                <a:lnTo>
                  <a:pt x="96815" y="25780"/>
                </a:lnTo>
                <a:lnTo>
                  <a:pt x="116149" y="12890"/>
                </a:lnTo>
                <a:lnTo>
                  <a:pt x="135484" y="0"/>
                </a:lnTo>
                <a:close/>
              </a:path>
            </a:pathLst>
          </a:custGeom>
          <a:solidFill xmlns:a="http://schemas.openxmlformats.org/drawingml/2006/main">
            <a:srgbClr val="FFFFFF"/>
          </a:solidFill>
          <a:ln xmlns:a="http://schemas.openxmlformats.org/drawingml/2006/main" w="7852">
            <a:noFill/>
            <a:prstDash val="solid"/>
          </a:ln>
        </p:spPr>
      </p:sp>
      <p:sp>
        <p:nvSpPr>
          <p:cNvPr id="46" name="Diagram circle">
            <a:extLst xmlns:a="http://schemas.openxmlformats.org/drawingml/2006/main">
              <a:ext uri="{FF2B5EF4-FFF2-40B4-BE49-F238E27FC236}">
                <a16:creationId xmlns:a16="http://schemas.microsoft.com/office/drawing/2014/main" id="{F7806BCD-4291-4A29-AD57-28D42705A32B}"/>
              </a:ext>
            </a:extLst>
          </p:cNvPr>
          <p:cNvSpPr>
            <a:spLocks xmlns:a="http://schemas.openxmlformats.org/drawingml/2006/main" noGrp="1"/>
          </p:cNvSpPr>
          <p:nvPr/>
        </p:nvSpPr>
        <p:spPr>
          <a:xfrm xmlns:a="http://schemas.openxmlformats.org/drawingml/2006/main">
            <a:off x="10466173" y="5189701"/>
            <a:ext cx="502509" cy="502508"/>
          </a:xfrm>
          <a:prstGeom xmlns:a="http://schemas.openxmlformats.org/drawingml/2006/main" prst="ellipse">
            <a:avLst/>
          </a:prstGeom>
          <a:noFill xmlns:a="http://schemas.openxmlformats.org/drawingml/2006/main"/>
          <a:ln xmlns:a="http://schemas.openxmlformats.org/drawingml/2006/main" w="11778">
            <a:solidFill>
              <a:srgbClr val="34695B">
                <a:alpha val="24000"/>
              </a:srgbClr>
            </a:solidFill>
            <a:prstDash val="solid"/>
          </a:ln>
        </p:spPr>
      </p:sp>
      <p:sp>
        <p:nvSpPr>
          <p:cNvPr id="47" name="Diagram path">
            <a:extLst xmlns:a="http://schemas.openxmlformats.org/drawingml/2006/main">
              <a:ext uri="{FF2B5EF4-FFF2-40B4-BE49-F238E27FC236}">
                <a16:creationId xmlns:a16="http://schemas.microsoft.com/office/drawing/2014/main" id="{6104ED43-0175-41DC-91EE-EBB4117DF36F}"/>
              </a:ext>
            </a:extLst>
          </p:cNvPr>
          <p:cNvSpPr>
            <a:spLocks xmlns:a="http://schemas.openxmlformats.org/drawingml/2006/main" noGrp="1"/>
          </p:cNvSpPr>
          <p:nvPr/>
        </p:nvSpPr>
        <p:spPr>
          <a:xfrm xmlns:a="http://schemas.openxmlformats.org/drawingml/2006/main">
            <a:off x="10717427" y="6540192"/>
            <a:ext cx="9525" cy="847982"/>
          </a:xfrm>
          <a:custGeom xmlns:a="http://schemas.openxmlformats.org/drawingml/2006/main">
            <a:pathLst>
              <a:path w="9525" h="847982">
                <a:moveTo>
                  <a:pt x="0" y="0"/>
                </a:moveTo>
                <a:lnTo>
                  <a:pt x="0" y="23555"/>
                </a:lnTo>
                <a:lnTo>
                  <a:pt x="0" y="47110"/>
                </a:lnTo>
                <a:lnTo>
                  <a:pt x="0" y="70665"/>
                </a:lnTo>
                <a:lnTo>
                  <a:pt x="0" y="94220"/>
                </a:lnTo>
                <a:lnTo>
                  <a:pt x="0" y="117775"/>
                </a:lnTo>
                <a:lnTo>
                  <a:pt x="0" y="141330"/>
                </a:lnTo>
                <a:lnTo>
                  <a:pt x="0" y="164885"/>
                </a:lnTo>
                <a:lnTo>
                  <a:pt x="0" y="188441"/>
                </a:lnTo>
                <a:lnTo>
                  <a:pt x="0" y="211996"/>
                </a:lnTo>
                <a:lnTo>
                  <a:pt x="0" y="235551"/>
                </a:lnTo>
                <a:lnTo>
                  <a:pt x="0" y="259106"/>
                </a:lnTo>
                <a:lnTo>
                  <a:pt x="0" y="282661"/>
                </a:lnTo>
                <a:lnTo>
                  <a:pt x="0" y="306216"/>
                </a:lnTo>
                <a:lnTo>
                  <a:pt x="0" y="329771"/>
                </a:lnTo>
                <a:lnTo>
                  <a:pt x="0" y="353326"/>
                </a:lnTo>
                <a:lnTo>
                  <a:pt x="0" y="376881"/>
                </a:lnTo>
                <a:lnTo>
                  <a:pt x="0" y="400436"/>
                </a:lnTo>
                <a:lnTo>
                  <a:pt x="0" y="423991"/>
                </a:lnTo>
                <a:lnTo>
                  <a:pt x="0" y="447546"/>
                </a:lnTo>
                <a:lnTo>
                  <a:pt x="0" y="471101"/>
                </a:lnTo>
                <a:lnTo>
                  <a:pt x="0" y="494656"/>
                </a:lnTo>
                <a:lnTo>
                  <a:pt x="0" y="518211"/>
                </a:lnTo>
                <a:lnTo>
                  <a:pt x="0" y="541767"/>
                </a:lnTo>
                <a:lnTo>
                  <a:pt x="0" y="565322"/>
                </a:lnTo>
                <a:lnTo>
                  <a:pt x="0" y="588877"/>
                </a:lnTo>
                <a:lnTo>
                  <a:pt x="0" y="612432"/>
                </a:lnTo>
                <a:lnTo>
                  <a:pt x="0" y="635987"/>
                </a:lnTo>
                <a:lnTo>
                  <a:pt x="0" y="659542"/>
                </a:lnTo>
                <a:lnTo>
                  <a:pt x="0" y="683097"/>
                </a:lnTo>
                <a:lnTo>
                  <a:pt x="0" y="706652"/>
                </a:lnTo>
                <a:lnTo>
                  <a:pt x="0" y="730207"/>
                </a:lnTo>
                <a:lnTo>
                  <a:pt x="0" y="753762"/>
                </a:lnTo>
                <a:lnTo>
                  <a:pt x="0" y="777317"/>
                </a:lnTo>
                <a:lnTo>
                  <a:pt x="0" y="800872"/>
                </a:lnTo>
                <a:lnTo>
                  <a:pt x="0" y="824427"/>
                </a:lnTo>
                <a:lnTo>
                  <a:pt x="0" y="847982"/>
                </a:lnTo>
              </a:path>
            </a:pathLst>
          </a:custGeom>
          <a:noFill xmlns:a="http://schemas.openxmlformats.org/drawingml/2006/main"/>
          <a:ln xmlns:a="http://schemas.openxmlformats.org/drawingml/2006/main" w="26696">
            <a:solidFill>
              <a:srgbClr val="34695B"/>
            </a:solidFill>
            <a:prstDash val="solid"/>
          </a:ln>
        </p:spPr>
      </p:sp>
      <p:sp>
        <p:nvSpPr>
          <p:cNvPr id="48" name="Route arrowhead">
            <a:extLst xmlns:a="http://schemas.openxmlformats.org/drawingml/2006/main">
              <a:ext uri="{FF2B5EF4-FFF2-40B4-BE49-F238E27FC236}">
                <a16:creationId xmlns:a16="http://schemas.microsoft.com/office/drawing/2014/main" id="{DBA36D58-3CBA-46E4-8F89-EA36F80C562D}"/>
              </a:ext>
            </a:extLst>
          </p:cNvPr>
          <p:cNvSpPr>
            <a:spLocks xmlns:a="http://schemas.openxmlformats.org/drawingml/2006/main" noGrp="1"/>
          </p:cNvSpPr>
          <p:nvPr/>
        </p:nvSpPr>
        <p:spPr>
          <a:xfrm xmlns:a="http://schemas.openxmlformats.org/drawingml/2006/main">
            <a:off x="10637340" y="7228000"/>
            <a:ext cx="160174" cy="160174"/>
          </a:xfrm>
          <a:custGeom xmlns:a="http://schemas.openxmlformats.org/drawingml/2006/main">
            <a:pathLst>
              <a:path w="160174" h="160174">
                <a:moveTo>
                  <a:pt x="160174" y="0"/>
                </a:moveTo>
                <a:lnTo>
                  <a:pt x="80087" y="160174"/>
                </a:lnTo>
                <a:lnTo>
                  <a:pt x="0" y="0"/>
                </a:lnTo>
              </a:path>
            </a:pathLst>
          </a:custGeom>
          <a:noFill xmlns:a="http://schemas.openxmlformats.org/drawingml/2006/main"/>
          <a:ln xmlns:a="http://schemas.openxmlformats.org/drawingml/2006/main" w="40044">
            <a:solidFill>
              <a:srgbClr val="34695B"/>
            </a:solidFill>
            <a:prstDash val="solid"/>
          </a:ln>
        </p:spPr>
      </p:sp>
      <p:sp>
        <p:nvSpPr>
          <p:cNvPr id="49" name="Diagram path">
            <a:extLst xmlns:a="http://schemas.openxmlformats.org/drawingml/2006/main">
              <a:ext uri="{FF2B5EF4-FFF2-40B4-BE49-F238E27FC236}">
                <a16:creationId xmlns:a16="http://schemas.microsoft.com/office/drawing/2014/main" id="{15A9F9B2-EC4E-459A-AD12-E2B0F5F469E4}"/>
              </a:ext>
            </a:extLst>
          </p:cNvPr>
          <p:cNvSpPr>
            <a:spLocks xmlns:a="http://schemas.openxmlformats.org/drawingml/2006/main" noGrp="1"/>
          </p:cNvSpPr>
          <p:nvPr/>
        </p:nvSpPr>
        <p:spPr>
          <a:xfrm xmlns:a="http://schemas.openxmlformats.org/drawingml/2006/main">
            <a:off x="10874461" y="5166146"/>
            <a:ext cx="2779498" cy="274809"/>
          </a:xfrm>
          <a:custGeom xmlns:a="http://schemas.openxmlformats.org/drawingml/2006/main">
            <a:pathLst>
              <a:path w="2779498" h="274809">
                <a:moveTo>
                  <a:pt x="0" y="274809"/>
                </a:moveTo>
                <a:lnTo>
                  <a:pt x="23338" y="272166"/>
                </a:lnTo>
                <a:lnTo>
                  <a:pt x="46676" y="269522"/>
                </a:lnTo>
                <a:lnTo>
                  <a:pt x="70015" y="266879"/>
                </a:lnTo>
                <a:lnTo>
                  <a:pt x="93353" y="264235"/>
                </a:lnTo>
                <a:lnTo>
                  <a:pt x="116691" y="261592"/>
                </a:lnTo>
                <a:lnTo>
                  <a:pt x="140030" y="258948"/>
                </a:lnTo>
                <a:lnTo>
                  <a:pt x="163368" y="256305"/>
                </a:lnTo>
                <a:lnTo>
                  <a:pt x="186706" y="253661"/>
                </a:lnTo>
                <a:lnTo>
                  <a:pt x="210044" y="251018"/>
                </a:lnTo>
                <a:lnTo>
                  <a:pt x="233382" y="248374"/>
                </a:lnTo>
                <a:lnTo>
                  <a:pt x="256721" y="245731"/>
                </a:lnTo>
                <a:lnTo>
                  <a:pt x="280059" y="243087"/>
                </a:lnTo>
                <a:lnTo>
                  <a:pt x="303397" y="240444"/>
                </a:lnTo>
                <a:lnTo>
                  <a:pt x="326736" y="237800"/>
                </a:lnTo>
                <a:lnTo>
                  <a:pt x="350074" y="235157"/>
                </a:lnTo>
                <a:lnTo>
                  <a:pt x="373412" y="232513"/>
                </a:lnTo>
                <a:lnTo>
                  <a:pt x="396750" y="229870"/>
                </a:lnTo>
                <a:lnTo>
                  <a:pt x="420089" y="227226"/>
                </a:lnTo>
                <a:lnTo>
                  <a:pt x="443427" y="224583"/>
                </a:lnTo>
                <a:lnTo>
                  <a:pt x="466765" y="221939"/>
                </a:lnTo>
                <a:lnTo>
                  <a:pt x="490103" y="219296"/>
                </a:lnTo>
                <a:lnTo>
                  <a:pt x="513442" y="216652"/>
                </a:lnTo>
                <a:lnTo>
                  <a:pt x="536780" y="214009"/>
                </a:lnTo>
                <a:lnTo>
                  <a:pt x="560118" y="211365"/>
                </a:lnTo>
                <a:lnTo>
                  <a:pt x="583457" y="208722"/>
                </a:lnTo>
                <a:lnTo>
                  <a:pt x="606795" y="206078"/>
                </a:lnTo>
                <a:lnTo>
                  <a:pt x="630133" y="203435"/>
                </a:lnTo>
                <a:lnTo>
                  <a:pt x="653471" y="200791"/>
                </a:lnTo>
                <a:lnTo>
                  <a:pt x="676809" y="198148"/>
                </a:lnTo>
                <a:lnTo>
                  <a:pt x="700148" y="195504"/>
                </a:lnTo>
                <a:lnTo>
                  <a:pt x="723486" y="192861"/>
                </a:lnTo>
                <a:lnTo>
                  <a:pt x="746824" y="190217"/>
                </a:lnTo>
                <a:lnTo>
                  <a:pt x="770163" y="187574"/>
                </a:lnTo>
                <a:lnTo>
                  <a:pt x="793501" y="184930"/>
                </a:lnTo>
                <a:lnTo>
                  <a:pt x="816839" y="182287"/>
                </a:lnTo>
                <a:lnTo>
                  <a:pt x="840177" y="179643"/>
                </a:lnTo>
                <a:lnTo>
                  <a:pt x="863516" y="177000"/>
                </a:lnTo>
                <a:lnTo>
                  <a:pt x="886854" y="174356"/>
                </a:lnTo>
                <a:lnTo>
                  <a:pt x="910192" y="171713"/>
                </a:lnTo>
                <a:lnTo>
                  <a:pt x="933530" y="169069"/>
                </a:lnTo>
                <a:lnTo>
                  <a:pt x="956869" y="166426"/>
                </a:lnTo>
                <a:lnTo>
                  <a:pt x="980207" y="163782"/>
                </a:lnTo>
                <a:lnTo>
                  <a:pt x="1003545" y="161139"/>
                </a:lnTo>
                <a:lnTo>
                  <a:pt x="1026883" y="158495"/>
                </a:lnTo>
                <a:lnTo>
                  <a:pt x="1050222" y="155852"/>
                </a:lnTo>
                <a:lnTo>
                  <a:pt x="1073560" y="153208"/>
                </a:lnTo>
                <a:lnTo>
                  <a:pt x="1096898" y="150565"/>
                </a:lnTo>
                <a:lnTo>
                  <a:pt x="1120236" y="147921"/>
                </a:lnTo>
                <a:lnTo>
                  <a:pt x="1143575" y="145278"/>
                </a:lnTo>
                <a:lnTo>
                  <a:pt x="1166913" y="142635"/>
                </a:lnTo>
                <a:lnTo>
                  <a:pt x="1190251" y="139991"/>
                </a:lnTo>
                <a:lnTo>
                  <a:pt x="1213590" y="137348"/>
                </a:lnTo>
                <a:lnTo>
                  <a:pt x="1236928" y="134704"/>
                </a:lnTo>
                <a:lnTo>
                  <a:pt x="1260266" y="132061"/>
                </a:lnTo>
                <a:lnTo>
                  <a:pt x="1283604" y="129417"/>
                </a:lnTo>
                <a:lnTo>
                  <a:pt x="1306943" y="126774"/>
                </a:lnTo>
                <a:lnTo>
                  <a:pt x="1330281" y="124130"/>
                </a:lnTo>
                <a:lnTo>
                  <a:pt x="1353619" y="121487"/>
                </a:lnTo>
                <a:lnTo>
                  <a:pt x="1376957" y="118843"/>
                </a:lnTo>
                <a:lnTo>
                  <a:pt x="1400296" y="116200"/>
                </a:lnTo>
                <a:lnTo>
                  <a:pt x="1423634" y="113556"/>
                </a:lnTo>
                <a:lnTo>
                  <a:pt x="1446972" y="110913"/>
                </a:lnTo>
                <a:lnTo>
                  <a:pt x="1470310" y="108269"/>
                </a:lnTo>
                <a:lnTo>
                  <a:pt x="1493649" y="105626"/>
                </a:lnTo>
                <a:lnTo>
                  <a:pt x="1516987" y="102982"/>
                </a:lnTo>
                <a:lnTo>
                  <a:pt x="1540325" y="100339"/>
                </a:lnTo>
                <a:lnTo>
                  <a:pt x="1563664" y="97695"/>
                </a:lnTo>
                <a:lnTo>
                  <a:pt x="1587002" y="95052"/>
                </a:lnTo>
                <a:lnTo>
                  <a:pt x="1610340" y="92408"/>
                </a:lnTo>
                <a:lnTo>
                  <a:pt x="1633678" y="89765"/>
                </a:lnTo>
                <a:lnTo>
                  <a:pt x="1657016" y="87121"/>
                </a:lnTo>
                <a:lnTo>
                  <a:pt x="1680354" y="84478"/>
                </a:lnTo>
                <a:lnTo>
                  <a:pt x="1703693" y="81834"/>
                </a:lnTo>
                <a:lnTo>
                  <a:pt x="1727031" y="79191"/>
                </a:lnTo>
                <a:lnTo>
                  <a:pt x="1750369" y="76547"/>
                </a:lnTo>
                <a:lnTo>
                  <a:pt x="1773708" y="73904"/>
                </a:lnTo>
                <a:lnTo>
                  <a:pt x="1797046" y="71260"/>
                </a:lnTo>
                <a:lnTo>
                  <a:pt x="1820384" y="68617"/>
                </a:lnTo>
                <a:lnTo>
                  <a:pt x="1843723" y="65973"/>
                </a:lnTo>
                <a:lnTo>
                  <a:pt x="1867061" y="63330"/>
                </a:lnTo>
                <a:lnTo>
                  <a:pt x="1890399" y="60686"/>
                </a:lnTo>
                <a:lnTo>
                  <a:pt x="1913737" y="58043"/>
                </a:lnTo>
                <a:lnTo>
                  <a:pt x="1937076" y="55399"/>
                </a:lnTo>
                <a:lnTo>
                  <a:pt x="1960414" y="52756"/>
                </a:lnTo>
                <a:lnTo>
                  <a:pt x="1983752" y="50112"/>
                </a:lnTo>
                <a:lnTo>
                  <a:pt x="2007090" y="47469"/>
                </a:lnTo>
                <a:lnTo>
                  <a:pt x="2030428" y="44825"/>
                </a:lnTo>
                <a:lnTo>
                  <a:pt x="2053767" y="42182"/>
                </a:lnTo>
                <a:lnTo>
                  <a:pt x="2077105" y="39538"/>
                </a:lnTo>
                <a:lnTo>
                  <a:pt x="2100443" y="36895"/>
                </a:lnTo>
                <a:lnTo>
                  <a:pt x="2123782" y="34251"/>
                </a:lnTo>
                <a:lnTo>
                  <a:pt x="2147120" y="31608"/>
                </a:lnTo>
                <a:lnTo>
                  <a:pt x="2170458" y="28964"/>
                </a:lnTo>
                <a:lnTo>
                  <a:pt x="2193797" y="26321"/>
                </a:lnTo>
                <a:lnTo>
                  <a:pt x="2217135" y="23677"/>
                </a:lnTo>
                <a:lnTo>
                  <a:pt x="2240473" y="21034"/>
                </a:lnTo>
                <a:lnTo>
                  <a:pt x="2263811" y="18390"/>
                </a:lnTo>
                <a:lnTo>
                  <a:pt x="2287150" y="15747"/>
                </a:lnTo>
                <a:lnTo>
                  <a:pt x="2310488" y="13103"/>
                </a:lnTo>
                <a:lnTo>
                  <a:pt x="2333826" y="10460"/>
                </a:lnTo>
                <a:lnTo>
                  <a:pt x="2357164" y="7816"/>
                </a:lnTo>
                <a:lnTo>
                  <a:pt x="2380502" y="5173"/>
                </a:lnTo>
                <a:lnTo>
                  <a:pt x="2403841" y="2529"/>
                </a:lnTo>
                <a:lnTo>
                  <a:pt x="2427186" y="0"/>
                </a:lnTo>
                <a:lnTo>
                  <a:pt x="2450673" y="0"/>
                </a:lnTo>
                <a:lnTo>
                  <a:pt x="2474161" y="0"/>
                </a:lnTo>
                <a:lnTo>
                  <a:pt x="2497648" y="0"/>
                </a:lnTo>
                <a:lnTo>
                  <a:pt x="2521136" y="0"/>
                </a:lnTo>
                <a:lnTo>
                  <a:pt x="2544623" y="0"/>
                </a:lnTo>
                <a:lnTo>
                  <a:pt x="2568111" y="0"/>
                </a:lnTo>
                <a:lnTo>
                  <a:pt x="2591598" y="0"/>
                </a:lnTo>
                <a:lnTo>
                  <a:pt x="2615085" y="0"/>
                </a:lnTo>
                <a:lnTo>
                  <a:pt x="2638573" y="0"/>
                </a:lnTo>
                <a:lnTo>
                  <a:pt x="2662060" y="0"/>
                </a:lnTo>
                <a:lnTo>
                  <a:pt x="2685548" y="0"/>
                </a:lnTo>
                <a:lnTo>
                  <a:pt x="2709035" y="0"/>
                </a:lnTo>
                <a:lnTo>
                  <a:pt x="2732523" y="0"/>
                </a:lnTo>
                <a:lnTo>
                  <a:pt x="2756010" y="0"/>
                </a:lnTo>
                <a:lnTo>
                  <a:pt x="2779498" y="0"/>
                </a:lnTo>
              </a:path>
            </a:pathLst>
          </a:custGeom>
          <a:noFill xmlns:a="http://schemas.openxmlformats.org/drawingml/2006/main"/>
          <a:ln xmlns:a="http://schemas.openxmlformats.org/drawingml/2006/main" w="10992">
            <a:solidFill>
              <a:srgbClr val="34695B"/>
            </a:solidFill>
            <a:prstDash val="solid"/>
          </a:ln>
        </p:spPr>
      </p:sp>
      <p:sp>
        <p:nvSpPr>
          <p:cNvPr id="50" name="Diagram circle">
            <a:extLst xmlns:a="http://schemas.openxmlformats.org/drawingml/2006/main">
              <a:ext uri="{FF2B5EF4-FFF2-40B4-BE49-F238E27FC236}">
                <a16:creationId xmlns:a16="http://schemas.microsoft.com/office/drawing/2014/main" id="{7C562268-C5E9-463D-BACF-C868006E508B}"/>
              </a:ext>
            </a:extLst>
          </p:cNvPr>
          <p:cNvSpPr>
            <a:spLocks xmlns:a="http://schemas.openxmlformats.org/drawingml/2006/main" noGrp="1"/>
          </p:cNvSpPr>
          <p:nvPr/>
        </p:nvSpPr>
        <p:spPr>
          <a:xfrm xmlns:a="http://schemas.openxmlformats.org/drawingml/2006/main">
            <a:off x="10843054" y="5409548"/>
            <a:ext cx="62812" cy="62814"/>
          </a:xfrm>
          <a:prstGeom xmlns:a="http://schemas.openxmlformats.org/drawingml/2006/main" prst="ellipse">
            <a:avLst/>
          </a:prstGeom>
          <a:solidFill xmlns:a="http://schemas.openxmlformats.org/drawingml/2006/main">
            <a:srgbClr val="34695B"/>
          </a:solidFill>
          <a:ln xmlns:a="http://schemas.openxmlformats.org/drawingml/2006/main" w="7852">
            <a:noFill/>
            <a:prstDash val="solid"/>
          </a:ln>
        </p:spPr>
      </p:sp>
      <p:sp>
        <p:nvSpPr>
          <p:cNvPr id="51" name="Starting pose">
            <a:extLst xmlns:a="http://schemas.openxmlformats.org/drawingml/2006/main">
              <a:ext uri="{FF2B5EF4-FFF2-40B4-BE49-F238E27FC236}">
                <a16:creationId xmlns:a16="http://schemas.microsoft.com/office/drawing/2014/main" id="{1C1330D5-FF9A-4EE1-AB68-9AF846FF5B8F}"/>
              </a:ext>
            </a:extLst>
          </p:cNvPr>
          <p:cNvSpPr>
            <a:spLocks xmlns:a="http://schemas.openxmlformats.org/drawingml/2006/main" noGrp="1"/>
          </p:cNvSpPr>
          <p:nvPr/>
        </p:nvSpPr>
        <p:spPr>
          <a:xfrm xmlns:a="http://schemas.openxmlformats.org/drawingml/2006/main">
            <a:off x="13614700" y="4772660"/>
            <a:ext cx="1719263" cy="351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74"/>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Starting pose</a:t>
            </a:r>
          </a:p>
        </p:txBody>
      </p:sp>
      <p:sp>
        <p:nvSpPr>
          <p:cNvPr id="52" name="Start in the opponent half">
            <a:extLst xmlns:a="http://schemas.openxmlformats.org/drawingml/2006/main">
              <a:ext uri="{FF2B5EF4-FFF2-40B4-BE49-F238E27FC236}">
                <a16:creationId xmlns:a16="http://schemas.microsoft.com/office/drawing/2014/main" id="{1B48D201-B2A1-4793-BABE-787DD9BFDBFB}"/>
              </a:ext>
            </a:extLst>
          </p:cNvPr>
          <p:cNvSpPr>
            <a:spLocks xmlns:a="http://schemas.openxmlformats.org/drawingml/2006/main" noGrp="1"/>
          </p:cNvSpPr>
          <p:nvPr/>
        </p:nvSpPr>
        <p:spPr>
          <a:xfrm xmlns:a="http://schemas.openxmlformats.org/drawingml/2006/main">
            <a:off x="13614700" y="5297565"/>
            <a:ext cx="2499909"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Start in the opponent half</a:t>
            </a:r>
          </a:p>
        </p:txBody>
      </p:sp>
      <p:sp>
        <p:nvSpPr>
          <p:cNvPr id="53" name="Face our own half">
            <a:extLst xmlns:a="http://schemas.openxmlformats.org/drawingml/2006/main">
              <a:ext uri="{FF2B5EF4-FFF2-40B4-BE49-F238E27FC236}">
                <a16:creationId xmlns:a16="http://schemas.microsoft.com/office/drawing/2014/main" id="{08E7DD01-B042-44B0-B7D1-585243B148EE}"/>
              </a:ext>
            </a:extLst>
          </p:cNvPr>
          <p:cNvSpPr>
            <a:spLocks xmlns:a="http://schemas.openxmlformats.org/drawingml/2006/main" noGrp="1"/>
          </p:cNvSpPr>
          <p:nvPr/>
        </p:nvSpPr>
        <p:spPr>
          <a:xfrm xmlns:a="http://schemas.openxmlformats.org/drawingml/2006/main">
            <a:off x="13614700" y="5619484"/>
            <a:ext cx="1816203"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Face our own half</a:t>
            </a:r>
          </a:p>
        </p:txBody>
      </p:sp>
      <p:sp>
        <p:nvSpPr>
          <p:cNvPr id="54" name="Diagram path">
            <a:extLst xmlns:a="http://schemas.openxmlformats.org/drawingml/2006/main">
              <a:ext uri="{FF2B5EF4-FFF2-40B4-BE49-F238E27FC236}">
                <a16:creationId xmlns:a16="http://schemas.microsoft.com/office/drawing/2014/main" id="{22230CC2-D9E5-450F-80BE-EC3EF314F066}"/>
              </a:ext>
            </a:extLst>
          </p:cNvPr>
          <p:cNvSpPr>
            <a:spLocks xmlns:a="http://schemas.openxmlformats.org/drawingml/2006/main" noGrp="1"/>
          </p:cNvSpPr>
          <p:nvPr/>
        </p:nvSpPr>
        <p:spPr>
          <a:xfrm xmlns:a="http://schemas.openxmlformats.org/drawingml/2006/main">
            <a:off x="11628223" y="6964183"/>
            <a:ext cx="2025736" cy="321919"/>
          </a:xfrm>
          <a:custGeom xmlns:a="http://schemas.openxmlformats.org/drawingml/2006/main">
            <a:pathLst>
              <a:path w="2025736" h="321919">
                <a:moveTo>
                  <a:pt x="0" y="321919"/>
                </a:moveTo>
                <a:lnTo>
                  <a:pt x="22947" y="317502"/>
                </a:lnTo>
                <a:lnTo>
                  <a:pt x="45895" y="313085"/>
                </a:lnTo>
                <a:lnTo>
                  <a:pt x="68842" y="308668"/>
                </a:lnTo>
                <a:lnTo>
                  <a:pt x="91789" y="304251"/>
                </a:lnTo>
                <a:lnTo>
                  <a:pt x="114737" y="299834"/>
                </a:lnTo>
                <a:lnTo>
                  <a:pt x="137684" y="295417"/>
                </a:lnTo>
                <a:lnTo>
                  <a:pt x="160631" y="291000"/>
                </a:lnTo>
                <a:lnTo>
                  <a:pt x="183579" y="286583"/>
                </a:lnTo>
                <a:lnTo>
                  <a:pt x="206526" y="282165"/>
                </a:lnTo>
                <a:lnTo>
                  <a:pt x="229474" y="277748"/>
                </a:lnTo>
                <a:lnTo>
                  <a:pt x="252421" y="273331"/>
                </a:lnTo>
                <a:lnTo>
                  <a:pt x="275368" y="268914"/>
                </a:lnTo>
                <a:lnTo>
                  <a:pt x="298316" y="264497"/>
                </a:lnTo>
                <a:lnTo>
                  <a:pt x="321263" y="260080"/>
                </a:lnTo>
                <a:lnTo>
                  <a:pt x="344210" y="255663"/>
                </a:lnTo>
                <a:lnTo>
                  <a:pt x="367158" y="251246"/>
                </a:lnTo>
                <a:lnTo>
                  <a:pt x="390105" y="246829"/>
                </a:lnTo>
                <a:lnTo>
                  <a:pt x="413052" y="242412"/>
                </a:lnTo>
                <a:lnTo>
                  <a:pt x="436000" y="237995"/>
                </a:lnTo>
                <a:lnTo>
                  <a:pt x="458947" y="233577"/>
                </a:lnTo>
                <a:lnTo>
                  <a:pt x="481894" y="229160"/>
                </a:lnTo>
                <a:lnTo>
                  <a:pt x="504842" y="224743"/>
                </a:lnTo>
                <a:lnTo>
                  <a:pt x="527789" y="220326"/>
                </a:lnTo>
                <a:lnTo>
                  <a:pt x="550736" y="215909"/>
                </a:lnTo>
                <a:lnTo>
                  <a:pt x="573684" y="211492"/>
                </a:lnTo>
                <a:lnTo>
                  <a:pt x="596631" y="207075"/>
                </a:lnTo>
                <a:lnTo>
                  <a:pt x="619578" y="202658"/>
                </a:lnTo>
                <a:lnTo>
                  <a:pt x="642526" y="198241"/>
                </a:lnTo>
                <a:lnTo>
                  <a:pt x="665473" y="193823"/>
                </a:lnTo>
                <a:lnTo>
                  <a:pt x="688420" y="189406"/>
                </a:lnTo>
                <a:lnTo>
                  <a:pt x="711368" y="184989"/>
                </a:lnTo>
                <a:lnTo>
                  <a:pt x="734315" y="180572"/>
                </a:lnTo>
                <a:lnTo>
                  <a:pt x="757262" y="176155"/>
                </a:lnTo>
                <a:lnTo>
                  <a:pt x="780210" y="171738"/>
                </a:lnTo>
                <a:lnTo>
                  <a:pt x="803157" y="167321"/>
                </a:lnTo>
                <a:lnTo>
                  <a:pt x="826105" y="162904"/>
                </a:lnTo>
                <a:lnTo>
                  <a:pt x="849052" y="158487"/>
                </a:lnTo>
                <a:lnTo>
                  <a:pt x="871999" y="154070"/>
                </a:lnTo>
                <a:lnTo>
                  <a:pt x="894946" y="149652"/>
                </a:lnTo>
                <a:lnTo>
                  <a:pt x="917894" y="145235"/>
                </a:lnTo>
                <a:lnTo>
                  <a:pt x="940841" y="140818"/>
                </a:lnTo>
                <a:lnTo>
                  <a:pt x="963789" y="136401"/>
                </a:lnTo>
                <a:lnTo>
                  <a:pt x="986736" y="131984"/>
                </a:lnTo>
                <a:lnTo>
                  <a:pt x="1009683" y="127567"/>
                </a:lnTo>
                <a:lnTo>
                  <a:pt x="1032631" y="123150"/>
                </a:lnTo>
                <a:lnTo>
                  <a:pt x="1055578" y="118733"/>
                </a:lnTo>
                <a:lnTo>
                  <a:pt x="1078525" y="114316"/>
                </a:lnTo>
                <a:lnTo>
                  <a:pt x="1101473" y="109899"/>
                </a:lnTo>
                <a:lnTo>
                  <a:pt x="1124420" y="105482"/>
                </a:lnTo>
                <a:lnTo>
                  <a:pt x="1147367" y="101065"/>
                </a:lnTo>
                <a:lnTo>
                  <a:pt x="1170315" y="96647"/>
                </a:lnTo>
                <a:lnTo>
                  <a:pt x="1193262" y="92230"/>
                </a:lnTo>
                <a:lnTo>
                  <a:pt x="1216210" y="87813"/>
                </a:lnTo>
                <a:lnTo>
                  <a:pt x="1239157" y="83396"/>
                </a:lnTo>
                <a:lnTo>
                  <a:pt x="1262104" y="78979"/>
                </a:lnTo>
                <a:lnTo>
                  <a:pt x="1285051" y="74562"/>
                </a:lnTo>
                <a:lnTo>
                  <a:pt x="1307999" y="70145"/>
                </a:lnTo>
                <a:lnTo>
                  <a:pt x="1330946" y="65728"/>
                </a:lnTo>
                <a:lnTo>
                  <a:pt x="1353894" y="61311"/>
                </a:lnTo>
                <a:lnTo>
                  <a:pt x="1376841" y="56894"/>
                </a:lnTo>
                <a:lnTo>
                  <a:pt x="1399788" y="52477"/>
                </a:lnTo>
                <a:lnTo>
                  <a:pt x="1422736" y="48059"/>
                </a:lnTo>
                <a:lnTo>
                  <a:pt x="1445683" y="43642"/>
                </a:lnTo>
                <a:lnTo>
                  <a:pt x="1468630" y="39225"/>
                </a:lnTo>
                <a:lnTo>
                  <a:pt x="1491577" y="34808"/>
                </a:lnTo>
                <a:lnTo>
                  <a:pt x="1514525" y="30391"/>
                </a:lnTo>
                <a:lnTo>
                  <a:pt x="1537472" y="25974"/>
                </a:lnTo>
                <a:lnTo>
                  <a:pt x="1560420" y="21557"/>
                </a:lnTo>
                <a:lnTo>
                  <a:pt x="1583367" y="17140"/>
                </a:lnTo>
                <a:lnTo>
                  <a:pt x="1606315" y="12723"/>
                </a:lnTo>
                <a:lnTo>
                  <a:pt x="1629262" y="8306"/>
                </a:lnTo>
                <a:lnTo>
                  <a:pt x="1652209" y="3888"/>
                </a:lnTo>
                <a:lnTo>
                  <a:pt x="1675207" y="0"/>
                </a:lnTo>
                <a:lnTo>
                  <a:pt x="1698575" y="0"/>
                </a:lnTo>
                <a:lnTo>
                  <a:pt x="1721944" y="0"/>
                </a:lnTo>
                <a:lnTo>
                  <a:pt x="1745313" y="0"/>
                </a:lnTo>
                <a:lnTo>
                  <a:pt x="1768681" y="0"/>
                </a:lnTo>
                <a:lnTo>
                  <a:pt x="1792050" y="0"/>
                </a:lnTo>
                <a:lnTo>
                  <a:pt x="1815418" y="0"/>
                </a:lnTo>
                <a:lnTo>
                  <a:pt x="1838787" y="0"/>
                </a:lnTo>
                <a:lnTo>
                  <a:pt x="1862156" y="0"/>
                </a:lnTo>
                <a:lnTo>
                  <a:pt x="1885524" y="0"/>
                </a:lnTo>
                <a:lnTo>
                  <a:pt x="1908893" y="0"/>
                </a:lnTo>
                <a:lnTo>
                  <a:pt x="1932261" y="0"/>
                </a:lnTo>
                <a:lnTo>
                  <a:pt x="1955630" y="0"/>
                </a:lnTo>
                <a:lnTo>
                  <a:pt x="1978999" y="0"/>
                </a:lnTo>
                <a:lnTo>
                  <a:pt x="2002367" y="0"/>
                </a:lnTo>
                <a:lnTo>
                  <a:pt x="2025736" y="0"/>
                </a:lnTo>
              </a:path>
            </a:pathLst>
          </a:custGeom>
          <a:noFill xmlns:a="http://schemas.openxmlformats.org/drawingml/2006/main"/>
          <a:ln xmlns:a="http://schemas.openxmlformats.org/drawingml/2006/main" w="10992">
            <a:solidFill>
              <a:srgbClr val="34695B"/>
            </a:solidFill>
            <a:prstDash val="solid"/>
          </a:ln>
        </p:spPr>
      </p:sp>
      <p:sp>
        <p:nvSpPr>
          <p:cNvPr id="55" name="Diagram circle">
            <a:extLst xmlns:a="http://schemas.openxmlformats.org/drawingml/2006/main">
              <a:ext uri="{FF2B5EF4-FFF2-40B4-BE49-F238E27FC236}">
                <a16:creationId xmlns:a16="http://schemas.microsoft.com/office/drawing/2014/main" id="{7D754655-05C3-4FD0-8ACF-CBABEA7C026E}"/>
              </a:ext>
            </a:extLst>
          </p:cNvPr>
          <p:cNvSpPr>
            <a:spLocks xmlns:a="http://schemas.openxmlformats.org/drawingml/2006/main" noGrp="1"/>
          </p:cNvSpPr>
          <p:nvPr/>
        </p:nvSpPr>
        <p:spPr>
          <a:xfrm xmlns:a="http://schemas.openxmlformats.org/drawingml/2006/main">
            <a:off x="11596817" y="7254696"/>
            <a:ext cx="62814" cy="62814"/>
          </a:xfrm>
          <a:prstGeom xmlns:a="http://schemas.openxmlformats.org/drawingml/2006/main" prst="ellipse">
            <a:avLst/>
          </a:prstGeom>
          <a:solidFill xmlns:a="http://schemas.openxmlformats.org/drawingml/2006/main">
            <a:srgbClr val="34695B"/>
          </a:solidFill>
          <a:ln xmlns:a="http://schemas.openxmlformats.org/drawingml/2006/main" w="7852">
            <a:noFill/>
            <a:prstDash val="solid"/>
          </a:ln>
        </p:spPr>
      </p:sp>
      <p:sp>
        <p:nvSpPr>
          <p:cNvPr id="56" name="Pushing objective">
            <a:extLst xmlns:a="http://schemas.openxmlformats.org/drawingml/2006/main">
              <a:ext uri="{FF2B5EF4-FFF2-40B4-BE49-F238E27FC236}">
                <a16:creationId xmlns:a16="http://schemas.microsoft.com/office/drawing/2014/main" id="{A5A30DC1-F430-4AF8-AA3E-6480FF6E7C75}"/>
              </a:ext>
            </a:extLst>
          </p:cNvPr>
          <p:cNvSpPr>
            <a:spLocks xmlns:a="http://schemas.openxmlformats.org/drawingml/2006/main" noGrp="1"/>
          </p:cNvSpPr>
          <p:nvPr/>
        </p:nvSpPr>
        <p:spPr>
          <a:xfrm xmlns:a="http://schemas.openxmlformats.org/drawingml/2006/main">
            <a:off x="13614700" y="6570697"/>
            <a:ext cx="2263676" cy="3517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74"/>
              </a:lnSpc>
              <a:spcBef>
                <a:spcPts val="0"/>
              </a:spcBef>
              <a:spcAft>
                <a:spcPts val="0"/>
              </a:spcAft>
              <a:buNone/>
              <a:defRPr sz="1978" b="1">
                <a:solidFill>
                  <a:srgbClr val="34695B"/>
                </a:solidFill>
                <a:latin typeface="Arial"/>
                <a:ea typeface="Arial"/>
                <a:cs typeface="Arial"/>
              </a:defRPr>
            </a:pPr>
            <a:r>
              <a:rPr sz="1978" b="1">
                <a:solidFill>
                  <a:srgbClr val="34695B"/>
                </a:solidFill>
                <a:latin typeface="Arial"/>
                <a:ea typeface="Arial"/>
                <a:cs typeface="Arial"/>
              </a:rPr>
              <a:t>Pushing objective</a:t>
            </a:r>
          </a:p>
        </p:txBody>
      </p:sp>
      <p:sp>
        <p:nvSpPr>
          <p:cNvPr id="57" name="Move blocks to our half">
            <a:extLst xmlns:a="http://schemas.openxmlformats.org/drawingml/2006/main">
              <a:ext uri="{FF2B5EF4-FFF2-40B4-BE49-F238E27FC236}">
                <a16:creationId xmlns:a16="http://schemas.microsoft.com/office/drawing/2014/main" id="{9CED80B4-1001-4DE9-B16D-31EFBB26F4E7}"/>
              </a:ext>
            </a:extLst>
          </p:cNvPr>
          <p:cNvSpPr>
            <a:spLocks xmlns:a="http://schemas.openxmlformats.org/drawingml/2006/main" noGrp="1"/>
          </p:cNvSpPr>
          <p:nvPr/>
        </p:nvSpPr>
        <p:spPr>
          <a:xfrm xmlns:a="http://schemas.openxmlformats.org/drawingml/2006/main">
            <a:off x="13614700" y="7095602"/>
            <a:ext cx="2310847"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Move blocks to our half</a:t>
            </a:r>
          </a:p>
        </p:txBody>
      </p:sp>
      <p:sp>
        <p:nvSpPr>
          <p:cNvPr id="58" name="Keep them until the finish">
            <a:extLst xmlns:a="http://schemas.openxmlformats.org/drawingml/2006/main">
              <a:ext uri="{FF2B5EF4-FFF2-40B4-BE49-F238E27FC236}">
                <a16:creationId xmlns:a16="http://schemas.microsoft.com/office/drawing/2014/main" id="{1FCDB0CF-98ED-4915-8457-EEB4B52BC8C6}"/>
              </a:ext>
            </a:extLst>
          </p:cNvPr>
          <p:cNvSpPr>
            <a:spLocks xmlns:a="http://schemas.openxmlformats.org/drawingml/2006/main" noGrp="1"/>
          </p:cNvSpPr>
          <p:nvPr/>
        </p:nvSpPr>
        <p:spPr>
          <a:xfrm xmlns:a="http://schemas.openxmlformats.org/drawingml/2006/main">
            <a:off x="13614700" y="7417522"/>
            <a:ext cx="2494211" cy="296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3"/>
              </a:lnSpc>
              <a:spcBef>
                <a:spcPts val="0"/>
              </a:spcBef>
              <a:spcAft>
                <a:spcPts val="0"/>
              </a:spcAft>
              <a:buNone/>
              <a:defRPr sz="1669" b="0">
                <a:solidFill>
                  <a:srgbClr val="75827C"/>
                </a:solidFill>
                <a:latin typeface="Arial"/>
                <a:ea typeface="Arial"/>
                <a:cs typeface="Arial"/>
              </a:defRPr>
            </a:pPr>
            <a:r>
              <a:rPr sz="1669" b="0">
                <a:solidFill>
                  <a:srgbClr val="75827C"/>
                </a:solidFill>
                <a:latin typeface="Arial"/>
                <a:ea typeface="Arial"/>
                <a:cs typeface="Arial"/>
              </a:rPr>
              <a:t>Keep them until the finish</a:t>
            </a:r>
          </a:p>
        </p:txBody>
      </p:sp>
    </p:spTree>
    <p:extLst>
      <p:ext uri="{BB962C8B-B14F-4D97-AF65-F5344CB8AC3E}">
        <p14:creationId xmlns:p14="http://schemas.microsoft.com/office/powerpoint/2010/main" val="522887832"/>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 name="Section rule">
            <a:extLst xmlns:a="http://schemas.openxmlformats.org/drawingml/2006/main">
              <a:ext uri="{FF2B5EF4-FFF2-40B4-BE49-F238E27FC236}">
                <a16:creationId xmlns:a16="http://schemas.microsoft.com/office/drawing/2014/main" id="{AB12D538-DD51-4541-AE6D-7797D57FC32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6B4495C8-F94C-4864-9503-EDAD93A99BD8}"/>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5F4CD632-BA01-46BD-9ADC-E1834FC2E62F}"/>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417195FA-CB6C-4423-8026-985297274ABC}"/>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D79221F5-F6E8-4C30-BDCB-C1AB33373AEC}"/>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Match objective: more blocks in our half</a:t>
            </a:r>
          </a:p>
        </p:txBody>
      </p:sp>
      <p:sp>
        <p:nvSpPr>
          <p:cNvPr id="6" name="The final block count matters.We must also prevent losses.">
            <a:extLst xmlns:a="http://schemas.openxmlformats.org/drawingml/2006/main">
              <a:ext uri="{FF2B5EF4-FFF2-40B4-BE49-F238E27FC236}">
                <a16:creationId xmlns:a16="http://schemas.microsoft.com/office/drawing/2014/main" id="{DEC977EC-3971-47A3-927C-1C60717D68D8}"/>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final block count matters.</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We must also prevent losses.</a:t>
            </a:r>
          </a:p>
        </p:txBody>
      </p:sp>
      <p:sp>
        <p:nvSpPr>
          <p:cNvPr id="7" name="Starting conditions">
            <a:extLst xmlns:a="http://schemas.openxmlformats.org/drawingml/2006/main">
              <a:ext uri="{FF2B5EF4-FFF2-40B4-BE49-F238E27FC236}">
                <a16:creationId xmlns:a16="http://schemas.microsoft.com/office/drawing/2014/main" id="{55406B44-F0F4-4A82-9861-E14813BD7CA7}"/>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Starting conditions</a:t>
            </a:r>
          </a:p>
        </p:txBody>
      </p:sp>
      <p:sp>
        <p:nvSpPr>
          <p:cNvPr id="8" name="Blocks lie near the centerline. Our robot faces our half.">
            <a:extLst xmlns:a="http://schemas.openxmlformats.org/drawingml/2006/main">
              <a:ext uri="{FF2B5EF4-FFF2-40B4-BE49-F238E27FC236}">
                <a16:creationId xmlns:a16="http://schemas.microsoft.com/office/drawing/2014/main" id="{DEDDDE30-6B6D-410C-A1BA-F22EF9B1FCF7}"/>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 lie near the centerline. Our robot faces</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our half.</a:t>
            </a:r>
          </a:p>
        </p:txBody>
      </p:sp>
      <p:sp>
        <p:nvSpPr>
          <p:cNvPr id="9" name="Crossing the line">
            <a:extLst xmlns:a="http://schemas.openxmlformats.org/drawingml/2006/main">
              <a:ext uri="{FF2B5EF4-FFF2-40B4-BE49-F238E27FC236}">
                <a16:creationId xmlns:a16="http://schemas.microsoft.com/office/drawing/2014/main" id="{37A9B930-3041-4978-91CD-921A7C14E7DC}"/>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Crossing the line</a:t>
            </a:r>
          </a:p>
        </p:txBody>
      </p:sp>
      <p:sp>
        <p:nvSpPr>
          <p:cNvPr id="10" name="The robot may cross into the opponent half to reposition.">
            <a:extLst xmlns:a="http://schemas.openxmlformats.org/drawingml/2006/main">
              <a:ext uri="{FF2B5EF4-FFF2-40B4-BE49-F238E27FC236}">
                <a16:creationId xmlns:a16="http://schemas.microsoft.com/office/drawing/2014/main" id="{28200B73-9A2A-4AE0-85C6-7C36A6499441}"/>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robot may cross into the opponent half to</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reposition.</a:t>
            </a:r>
          </a:p>
        </p:txBody>
      </p:sp>
      <p:sp>
        <p:nvSpPr>
          <p:cNvPr id="11" name="Autonomous operation">
            <a:extLst xmlns:a="http://schemas.openxmlformats.org/drawingml/2006/main">
              <a:ext uri="{FF2B5EF4-FFF2-40B4-BE49-F238E27FC236}">
                <a16:creationId xmlns:a16="http://schemas.microsoft.com/office/drawing/2014/main" id="{30606E34-7475-4F4D-81B9-7BE9026D94E2}"/>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Autonomous operation</a:t>
            </a:r>
          </a:p>
        </p:txBody>
      </p:sp>
      <p:sp>
        <p:nvSpPr>
          <p:cNvPr id="12" name="Each match is under 90 s. External vision and wireless control ar">
            <a:extLst xmlns:a="http://schemas.openxmlformats.org/drawingml/2006/main">
              <a:ext uri="{FF2B5EF4-FFF2-40B4-BE49-F238E27FC236}">
                <a16:creationId xmlns:a16="http://schemas.microsoft.com/office/drawing/2014/main" id="{5CFE8BAC-75D8-4D48-94E2-350C6B218BFF}"/>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Each match is under 90 s. External vision and</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wireless control are allowed.</a:t>
            </a:r>
          </a:p>
        </p:txBody>
      </p:sp>
      <p:sp>
        <p:nvSpPr>
          <p:cNvPr id="13" name="Diagram rect">
            <a:extLst xmlns:a="http://schemas.openxmlformats.org/drawingml/2006/main">
              <a:ext uri="{FF2B5EF4-FFF2-40B4-BE49-F238E27FC236}">
                <a16:creationId xmlns:a16="http://schemas.microsoft.com/office/drawing/2014/main" id="{D44581CF-154E-4CEF-812E-99145AAD1CEF}"/>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BEFCE001-824C-4018-82C8-05A3D0E95E2D}"/>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3EDE35F5-4B52-4C50-A77C-3B8E9D1C26F0}"/>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1D6205C3-D362-4046-97BA-8C2D79CADB8B}"/>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0A8AAF27-4915-451D-BB0E-7FD69DE9AB7A}"/>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8F8F4AE3-067D-4FA8-8AB7-3F7D00E56CC4}"/>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99EC5F36-D230-4FEA-9F93-D02006207847}"/>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8329BA62-D259-4553-82EB-B907A3ADDCB3}"/>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45FDB949-B5BD-41F6-AAA3-2421D5AE4D5C}"/>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03CE216A-5899-4CAE-B516-9330397270D0}"/>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BBCFDF04-738A-4751-98C5-5FDF2CB6153B}"/>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3651997D-1560-4048-B229-032F0342A173}"/>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9D9A84F3-F0E4-4291-B3D4-624E81259CAD}"/>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E0EC3021-913C-4860-A3D6-59A08C17944E}"/>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952AD153-66B9-4E14-ABBF-DF8473426A03}"/>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011FFE09-955A-49BF-8EB3-EBA57E532364}"/>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DE9D4849-741E-4A85-A1C5-F4CCBD4BF25A}"/>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C0FF1D26-6463-4B7A-9FAC-0D08396821AF}"/>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DD918BA8-740F-4828-97C8-A71B5CF54F62}"/>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7749436C-52E9-470D-9B07-D63444DE0C18}"/>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3975E5F4-DBF2-413C-BAF4-EA0B808F492D}"/>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D7713D49-EC6F-4ED5-9DFA-2CCFC40C27E7}"/>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0C13E87B-9DA3-4548-97D5-72E016E4779A}"/>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E4C65397-1C15-4746-9A89-61F1FA0B1A60}"/>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4F658643-1B98-4740-AAB7-C9788E57B5F1}"/>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F538BB15-8B99-438C-8119-E3F792406F6B}"/>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57170898-EB53-4A29-82E5-AC92EA5C5635}"/>
              </a:ext>
            </a:extLst>
          </p:cNvPr>
          <p:cNvSpPr>
            <a:spLocks xmlns:a="http://schemas.openxmlformats.org/drawingml/2006/main" noGrp="1"/>
          </p:cNvSpPr>
          <p:nvPr/>
        </p:nvSpPr>
        <p:spPr>
          <a:xfrm xmlns:a="http://schemas.openxmlformats.org/drawingml/2006/main">
            <a:off x="9247488" y="5042313"/>
            <a:ext cx="2184829" cy="2194328"/>
          </a:xfrm>
          <a:prstGeom xmlns:a="http://schemas.openxmlformats.org/drawingml/2006/main" prst="rect">
            <a:avLst/>
          </a:prstGeom>
          <a:solidFill xmlns:a="http://schemas.openxmlformats.org/drawingml/2006/main">
            <a:srgbClr val="34695B">
              <a:alpha val="7000"/>
            </a:srgbClr>
          </a:solidFill>
          <a:ln xmlns:a="http://schemas.openxmlformats.org/drawingml/2006/main" w="9499">
            <a:noFill/>
            <a:prstDash val="solid"/>
          </a:ln>
        </p:spPr>
      </p:sp>
      <p:sp>
        <p:nvSpPr>
          <p:cNvPr id="40" name="Diagram path">
            <a:extLst xmlns:a="http://schemas.openxmlformats.org/drawingml/2006/main">
              <a:ext uri="{FF2B5EF4-FFF2-40B4-BE49-F238E27FC236}">
                <a16:creationId xmlns:a16="http://schemas.microsoft.com/office/drawing/2014/main" id="{2AF3C054-C9B8-400B-94AC-13AE2CFBE683}"/>
              </a:ext>
            </a:extLst>
          </p:cNvPr>
          <p:cNvSpPr>
            <a:spLocks xmlns:a="http://schemas.openxmlformats.org/drawingml/2006/main" noGrp="1"/>
          </p:cNvSpPr>
          <p:nvPr/>
        </p:nvSpPr>
        <p:spPr>
          <a:xfrm xmlns:a="http://schemas.openxmlformats.org/drawingml/2006/main">
            <a:off x="9247488" y="5042313"/>
            <a:ext cx="9525" cy="2194328"/>
          </a:xfrm>
          <a:custGeom xmlns:a="http://schemas.openxmlformats.org/drawingml/2006/main">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xmlns:a="http://schemas.openxmlformats.org/drawingml/2006/main">
            <a:srgbClr val="000000"/>
          </a:solidFill>
          <a:ln xmlns:a="http://schemas.openxmlformats.org/drawingml/2006/main" w="12349">
            <a:solidFill>
              <a:srgbClr val="34695B"/>
            </a:solidFill>
            <a:prstDash val="dash"/>
          </a:ln>
        </p:spPr>
      </p:sp>
      <p:sp>
        <p:nvSpPr>
          <p:cNvPr id="41" name="Diagram path">
            <a:extLst xmlns:a="http://schemas.openxmlformats.org/drawingml/2006/main">
              <a:ext uri="{FF2B5EF4-FFF2-40B4-BE49-F238E27FC236}">
                <a16:creationId xmlns:a16="http://schemas.microsoft.com/office/drawing/2014/main" id="{B682E30B-45D2-46A9-8600-4026BF861A03}"/>
              </a:ext>
            </a:extLst>
          </p:cNvPr>
          <p:cNvSpPr>
            <a:spLocks xmlns:a="http://schemas.openxmlformats.org/drawingml/2006/main" noGrp="1"/>
          </p:cNvSpPr>
          <p:nvPr/>
        </p:nvSpPr>
        <p:spPr>
          <a:xfrm xmlns:a="http://schemas.openxmlformats.org/drawingml/2006/main">
            <a:off x="11432317" y="5042313"/>
            <a:ext cx="9525" cy="2194328"/>
          </a:xfrm>
          <a:custGeom xmlns:a="http://schemas.openxmlformats.org/drawingml/2006/main">
            <a:pathLst>
              <a:path w="9525" h="2194328">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lnTo>
                  <a:pt x="0" y="1225404"/>
                </a:lnTo>
                <a:lnTo>
                  <a:pt x="0" y="1253902"/>
                </a:lnTo>
                <a:lnTo>
                  <a:pt x="0" y="1282400"/>
                </a:lnTo>
                <a:lnTo>
                  <a:pt x="0" y="1310897"/>
                </a:lnTo>
                <a:lnTo>
                  <a:pt x="0" y="1339395"/>
                </a:lnTo>
                <a:lnTo>
                  <a:pt x="0" y="1367893"/>
                </a:lnTo>
                <a:lnTo>
                  <a:pt x="0" y="1396391"/>
                </a:lnTo>
                <a:lnTo>
                  <a:pt x="0" y="1424889"/>
                </a:lnTo>
                <a:lnTo>
                  <a:pt x="0" y="1453386"/>
                </a:lnTo>
                <a:lnTo>
                  <a:pt x="0" y="1481884"/>
                </a:lnTo>
                <a:lnTo>
                  <a:pt x="0" y="1510382"/>
                </a:lnTo>
                <a:lnTo>
                  <a:pt x="0" y="1538880"/>
                </a:lnTo>
                <a:lnTo>
                  <a:pt x="0" y="1567377"/>
                </a:lnTo>
                <a:lnTo>
                  <a:pt x="0" y="1595875"/>
                </a:lnTo>
                <a:lnTo>
                  <a:pt x="0" y="1624373"/>
                </a:lnTo>
                <a:lnTo>
                  <a:pt x="0" y="1652871"/>
                </a:lnTo>
                <a:lnTo>
                  <a:pt x="0" y="1681368"/>
                </a:lnTo>
                <a:lnTo>
                  <a:pt x="0" y="1709866"/>
                </a:lnTo>
                <a:lnTo>
                  <a:pt x="0" y="1738364"/>
                </a:lnTo>
                <a:lnTo>
                  <a:pt x="0" y="1766862"/>
                </a:lnTo>
                <a:lnTo>
                  <a:pt x="0" y="1795360"/>
                </a:lnTo>
                <a:lnTo>
                  <a:pt x="0" y="1823857"/>
                </a:lnTo>
                <a:lnTo>
                  <a:pt x="0" y="1852355"/>
                </a:lnTo>
                <a:lnTo>
                  <a:pt x="0" y="1880853"/>
                </a:lnTo>
                <a:lnTo>
                  <a:pt x="0" y="1909351"/>
                </a:lnTo>
                <a:lnTo>
                  <a:pt x="0" y="1937848"/>
                </a:lnTo>
                <a:lnTo>
                  <a:pt x="0" y="1966346"/>
                </a:lnTo>
                <a:lnTo>
                  <a:pt x="0" y="1994844"/>
                </a:lnTo>
                <a:lnTo>
                  <a:pt x="0" y="2023342"/>
                </a:lnTo>
                <a:lnTo>
                  <a:pt x="0" y="2051839"/>
                </a:lnTo>
                <a:lnTo>
                  <a:pt x="0" y="2080337"/>
                </a:lnTo>
                <a:lnTo>
                  <a:pt x="0" y="2108835"/>
                </a:lnTo>
                <a:lnTo>
                  <a:pt x="0" y="2137333"/>
                </a:lnTo>
                <a:lnTo>
                  <a:pt x="0" y="2165831"/>
                </a:lnTo>
                <a:lnTo>
                  <a:pt x="0" y="2194328"/>
                </a:lnTo>
              </a:path>
            </a:pathLst>
          </a:custGeom>
          <a:solidFill xmlns:a="http://schemas.openxmlformats.org/drawingml/2006/main">
            <a:srgbClr val="000000"/>
          </a:solidFill>
          <a:ln xmlns:a="http://schemas.openxmlformats.org/drawingml/2006/main" w="12349">
            <a:solidFill>
              <a:srgbClr val="34695B"/>
            </a:solidFill>
            <a:prstDash val="dash"/>
          </a:ln>
        </p:spPr>
      </p:sp>
      <p:sp>
        <p:nvSpPr>
          <p:cNvPr id="42" name="Diagram rect">
            <a:extLst xmlns:a="http://schemas.openxmlformats.org/drawingml/2006/main">
              <a:ext uri="{FF2B5EF4-FFF2-40B4-BE49-F238E27FC236}">
                <a16:creationId xmlns:a16="http://schemas.microsoft.com/office/drawing/2014/main" id="{80C46B38-7D32-4598-A9C9-1D3F9493B112}"/>
              </a:ext>
            </a:extLst>
          </p:cNvPr>
          <p:cNvSpPr>
            <a:spLocks xmlns:a="http://schemas.openxmlformats.org/drawingml/2006/main" noGrp="1"/>
          </p:cNvSpPr>
          <p:nvPr/>
        </p:nvSpPr>
        <p:spPr>
          <a:xfrm xmlns:a="http://schemas.openxmlformats.org/drawingml/2006/main">
            <a:off x="8820021"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2CB2BA49-AB9D-4BB1-A4EB-FD26B0688310}"/>
              </a:ext>
            </a:extLst>
          </p:cNvPr>
          <p:cNvSpPr>
            <a:spLocks xmlns:a="http://schemas.openxmlformats.org/drawingml/2006/main" noGrp="1"/>
          </p:cNvSpPr>
          <p:nvPr/>
        </p:nvSpPr>
        <p:spPr>
          <a:xfrm xmlns:a="http://schemas.openxmlformats.org/drawingml/2006/main">
            <a:off x="9541965"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B2526F06-598E-42ED-8718-E8D3BAB32E42}"/>
              </a:ext>
            </a:extLst>
          </p:cNvPr>
          <p:cNvSpPr>
            <a:spLocks xmlns:a="http://schemas.openxmlformats.org/drawingml/2006/main" noGrp="1"/>
          </p:cNvSpPr>
          <p:nvPr/>
        </p:nvSpPr>
        <p:spPr>
          <a:xfrm xmlns:a="http://schemas.openxmlformats.org/drawingml/2006/main">
            <a:off x="10263908"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441A41C9-DDF9-4BB6-9C95-72ED2843BD66}"/>
              </a:ext>
            </a:extLst>
          </p:cNvPr>
          <p:cNvSpPr>
            <a:spLocks xmlns:a="http://schemas.openxmlformats.org/drawingml/2006/main" noGrp="1"/>
          </p:cNvSpPr>
          <p:nvPr/>
        </p:nvSpPr>
        <p:spPr>
          <a:xfrm xmlns:a="http://schemas.openxmlformats.org/drawingml/2006/main">
            <a:off x="10985852"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861D0DE1-CBFD-4B73-AA6C-42EFEE137652}"/>
              </a:ext>
            </a:extLst>
          </p:cNvPr>
          <p:cNvSpPr>
            <a:spLocks xmlns:a="http://schemas.openxmlformats.org/drawingml/2006/main" noGrp="1"/>
          </p:cNvSpPr>
          <p:nvPr/>
        </p:nvSpPr>
        <p:spPr>
          <a:xfrm xmlns:a="http://schemas.openxmlformats.org/drawingml/2006/main">
            <a:off x="11707795"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560361FA-D52F-4E10-8B45-AD8411BEC708}"/>
              </a:ext>
            </a:extLst>
          </p:cNvPr>
          <p:cNvSpPr>
            <a:spLocks xmlns:a="http://schemas.openxmlformats.org/drawingml/2006/main" noGrp="1"/>
          </p:cNvSpPr>
          <p:nvPr/>
        </p:nvSpPr>
        <p:spPr>
          <a:xfrm xmlns:a="http://schemas.openxmlformats.org/drawingml/2006/main">
            <a:off x="12429739" y="533679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8" name="Diagram circle">
            <a:extLst xmlns:a="http://schemas.openxmlformats.org/drawingml/2006/main">
              <a:ext uri="{FF2B5EF4-FFF2-40B4-BE49-F238E27FC236}">
                <a16:creationId xmlns:a16="http://schemas.microsoft.com/office/drawing/2014/main" id="{FACCC7A0-8FA5-4CE7-9211-4FAA117F0612}"/>
              </a:ext>
            </a:extLst>
          </p:cNvPr>
          <p:cNvSpPr>
            <a:spLocks xmlns:a="http://schemas.openxmlformats.org/drawingml/2006/main" noGrp="1"/>
          </p:cNvSpPr>
          <p:nvPr/>
        </p:nvSpPr>
        <p:spPr>
          <a:xfrm xmlns:a="http://schemas.openxmlformats.org/drawingml/2006/main">
            <a:off x="10121419" y="4301371"/>
            <a:ext cx="417968" cy="417967"/>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49" name="Diagram path">
            <a:extLst xmlns:a="http://schemas.openxmlformats.org/drawingml/2006/main">
              <a:ext uri="{FF2B5EF4-FFF2-40B4-BE49-F238E27FC236}">
                <a16:creationId xmlns:a16="http://schemas.microsoft.com/office/drawing/2014/main" id="{DB89504A-6F2E-4A62-B375-A98C9BC33917}"/>
              </a:ext>
            </a:extLst>
          </p:cNvPr>
          <p:cNvSpPr>
            <a:spLocks xmlns:a="http://schemas.openxmlformats.org/drawingml/2006/main" noGrp="1"/>
          </p:cNvSpPr>
          <p:nvPr/>
        </p:nvSpPr>
        <p:spPr>
          <a:xfrm xmlns:a="http://schemas.openxmlformats.org/drawingml/2006/main">
            <a:off x="10251983" y="4434361"/>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FFFFFF"/>
          </a:solidFill>
          <a:ln xmlns:a="http://schemas.openxmlformats.org/drawingml/2006/main" w="9499">
            <a:noFill/>
            <a:prstDash val="solid"/>
          </a:ln>
        </p:spPr>
      </p:sp>
      <p:sp>
        <p:nvSpPr>
          <p:cNvPr id="50" name="Diagram circle">
            <a:extLst xmlns:a="http://schemas.openxmlformats.org/drawingml/2006/main">
              <a:ext uri="{FF2B5EF4-FFF2-40B4-BE49-F238E27FC236}">
                <a16:creationId xmlns:a16="http://schemas.microsoft.com/office/drawing/2014/main" id="{646B4A15-3365-4994-99C2-11FC2DF7AA61}"/>
              </a:ext>
            </a:extLst>
          </p:cNvPr>
          <p:cNvSpPr>
            <a:spLocks xmlns:a="http://schemas.openxmlformats.org/drawingml/2006/main" noGrp="1"/>
          </p:cNvSpPr>
          <p:nvPr/>
        </p:nvSpPr>
        <p:spPr>
          <a:xfrm xmlns:a="http://schemas.openxmlformats.org/drawingml/2006/main">
            <a:off x="10026428" y="4206378"/>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1" name="Diagram path">
            <a:extLst xmlns:a="http://schemas.openxmlformats.org/drawingml/2006/main">
              <a:ext uri="{FF2B5EF4-FFF2-40B4-BE49-F238E27FC236}">
                <a16:creationId xmlns:a16="http://schemas.microsoft.com/office/drawing/2014/main" id="{C86DEDA2-6947-44C0-A4C4-571034A3B777}"/>
              </a:ext>
            </a:extLst>
          </p:cNvPr>
          <p:cNvSpPr>
            <a:spLocks xmlns:a="http://schemas.openxmlformats.org/drawingml/2006/main" noGrp="1"/>
          </p:cNvSpPr>
          <p:nvPr/>
        </p:nvSpPr>
        <p:spPr>
          <a:xfrm xmlns:a="http://schemas.openxmlformats.org/drawingml/2006/main">
            <a:off x="10330403" y="5840251"/>
            <a:ext cx="9525" cy="1025920"/>
          </a:xfrm>
          <a:custGeom xmlns:a="http://schemas.openxmlformats.org/drawingml/2006/main">
            <a:pathLst>
              <a:path w="9525" h="1025920">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path>
            </a:pathLst>
          </a:custGeom>
          <a:noFill xmlns:a="http://schemas.openxmlformats.org/drawingml/2006/main"/>
          <a:ln xmlns:a="http://schemas.openxmlformats.org/drawingml/2006/main" w="322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BB10EB67-0ACE-49C9-973B-E47BA99AA7E4}"/>
              </a:ext>
            </a:extLst>
          </p:cNvPr>
          <p:cNvSpPr>
            <a:spLocks xmlns:a="http://schemas.openxmlformats.org/drawingml/2006/main" noGrp="1"/>
          </p:cNvSpPr>
          <p:nvPr/>
        </p:nvSpPr>
        <p:spPr>
          <a:xfrm xmlns:a="http://schemas.openxmlformats.org/drawingml/2006/main">
            <a:off x="10233511" y="6672385"/>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E0A5CBA9-3E7F-4DE4-849D-7BF262601FCC}"/>
              </a:ext>
            </a:extLst>
          </p:cNvPr>
          <p:cNvSpPr>
            <a:spLocks xmlns:a="http://schemas.openxmlformats.org/drawingml/2006/main" noGrp="1"/>
          </p:cNvSpPr>
          <p:nvPr/>
        </p:nvSpPr>
        <p:spPr>
          <a:xfrm xmlns:a="http://schemas.openxmlformats.org/drawingml/2006/main">
            <a:off x="10520388" y="4177881"/>
            <a:ext cx="3362737" cy="332474"/>
          </a:xfrm>
          <a:custGeom xmlns:a="http://schemas.openxmlformats.org/drawingml/2006/main">
            <a:pathLst>
              <a:path w="3362737" h="332474">
                <a:moveTo>
                  <a:pt x="0" y="332474"/>
                </a:moveTo>
                <a:lnTo>
                  <a:pt x="28235" y="329276"/>
                </a:lnTo>
                <a:lnTo>
                  <a:pt x="56471" y="326078"/>
                </a:lnTo>
                <a:lnTo>
                  <a:pt x="84706" y="322879"/>
                </a:lnTo>
                <a:lnTo>
                  <a:pt x="112942" y="319681"/>
                </a:lnTo>
                <a:lnTo>
                  <a:pt x="141177" y="316483"/>
                </a:lnTo>
                <a:lnTo>
                  <a:pt x="169413" y="313285"/>
                </a:lnTo>
                <a:lnTo>
                  <a:pt x="197648" y="310087"/>
                </a:lnTo>
                <a:lnTo>
                  <a:pt x="225884" y="306888"/>
                </a:lnTo>
                <a:lnTo>
                  <a:pt x="254119" y="303690"/>
                </a:lnTo>
                <a:lnTo>
                  <a:pt x="282354" y="300492"/>
                </a:lnTo>
                <a:lnTo>
                  <a:pt x="310590" y="297294"/>
                </a:lnTo>
                <a:lnTo>
                  <a:pt x="338826" y="294096"/>
                </a:lnTo>
                <a:lnTo>
                  <a:pt x="367061" y="290897"/>
                </a:lnTo>
                <a:lnTo>
                  <a:pt x="395296" y="287699"/>
                </a:lnTo>
                <a:lnTo>
                  <a:pt x="423532" y="284501"/>
                </a:lnTo>
                <a:lnTo>
                  <a:pt x="451768" y="281303"/>
                </a:lnTo>
                <a:lnTo>
                  <a:pt x="480003" y="278105"/>
                </a:lnTo>
                <a:lnTo>
                  <a:pt x="508238" y="274906"/>
                </a:lnTo>
                <a:lnTo>
                  <a:pt x="536474" y="271708"/>
                </a:lnTo>
                <a:lnTo>
                  <a:pt x="564709" y="268510"/>
                </a:lnTo>
                <a:lnTo>
                  <a:pt x="592945" y="265312"/>
                </a:lnTo>
                <a:lnTo>
                  <a:pt x="621180" y="262114"/>
                </a:lnTo>
                <a:lnTo>
                  <a:pt x="649416" y="258916"/>
                </a:lnTo>
                <a:lnTo>
                  <a:pt x="677651" y="255717"/>
                </a:lnTo>
                <a:lnTo>
                  <a:pt x="705887" y="252519"/>
                </a:lnTo>
                <a:lnTo>
                  <a:pt x="734122" y="249321"/>
                </a:lnTo>
                <a:lnTo>
                  <a:pt x="762358" y="246123"/>
                </a:lnTo>
                <a:lnTo>
                  <a:pt x="790593" y="242925"/>
                </a:lnTo>
                <a:lnTo>
                  <a:pt x="818829" y="239726"/>
                </a:lnTo>
                <a:lnTo>
                  <a:pt x="847064" y="236528"/>
                </a:lnTo>
                <a:lnTo>
                  <a:pt x="875299" y="233330"/>
                </a:lnTo>
                <a:lnTo>
                  <a:pt x="903535" y="230132"/>
                </a:lnTo>
                <a:lnTo>
                  <a:pt x="931770" y="226934"/>
                </a:lnTo>
                <a:lnTo>
                  <a:pt x="960006" y="223736"/>
                </a:lnTo>
                <a:lnTo>
                  <a:pt x="988241" y="220537"/>
                </a:lnTo>
                <a:lnTo>
                  <a:pt x="1016477" y="217339"/>
                </a:lnTo>
                <a:lnTo>
                  <a:pt x="1044712" y="214141"/>
                </a:lnTo>
                <a:lnTo>
                  <a:pt x="1072948" y="210943"/>
                </a:lnTo>
                <a:lnTo>
                  <a:pt x="1101183" y="207744"/>
                </a:lnTo>
                <a:lnTo>
                  <a:pt x="1129419" y="204546"/>
                </a:lnTo>
                <a:lnTo>
                  <a:pt x="1157654" y="201348"/>
                </a:lnTo>
                <a:lnTo>
                  <a:pt x="1185890" y="198150"/>
                </a:lnTo>
                <a:lnTo>
                  <a:pt x="1214125" y="194952"/>
                </a:lnTo>
                <a:lnTo>
                  <a:pt x="1242361" y="191753"/>
                </a:lnTo>
                <a:lnTo>
                  <a:pt x="1270596" y="188555"/>
                </a:lnTo>
                <a:lnTo>
                  <a:pt x="1298831" y="185357"/>
                </a:lnTo>
                <a:lnTo>
                  <a:pt x="1327067" y="182159"/>
                </a:lnTo>
                <a:lnTo>
                  <a:pt x="1355302" y="178961"/>
                </a:lnTo>
                <a:lnTo>
                  <a:pt x="1383538" y="175763"/>
                </a:lnTo>
                <a:lnTo>
                  <a:pt x="1411773" y="172564"/>
                </a:lnTo>
                <a:lnTo>
                  <a:pt x="1440009" y="169366"/>
                </a:lnTo>
                <a:lnTo>
                  <a:pt x="1468245" y="166168"/>
                </a:lnTo>
                <a:lnTo>
                  <a:pt x="1496480" y="162970"/>
                </a:lnTo>
                <a:lnTo>
                  <a:pt x="1524715" y="159772"/>
                </a:lnTo>
                <a:lnTo>
                  <a:pt x="1552951" y="156573"/>
                </a:lnTo>
                <a:lnTo>
                  <a:pt x="1581186" y="153375"/>
                </a:lnTo>
                <a:lnTo>
                  <a:pt x="1609422" y="150177"/>
                </a:lnTo>
                <a:lnTo>
                  <a:pt x="1637657" y="146979"/>
                </a:lnTo>
                <a:lnTo>
                  <a:pt x="1665893" y="143781"/>
                </a:lnTo>
                <a:lnTo>
                  <a:pt x="1694128" y="140583"/>
                </a:lnTo>
                <a:lnTo>
                  <a:pt x="1722364" y="137384"/>
                </a:lnTo>
                <a:lnTo>
                  <a:pt x="1750599" y="134186"/>
                </a:lnTo>
                <a:lnTo>
                  <a:pt x="1778834" y="130988"/>
                </a:lnTo>
                <a:lnTo>
                  <a:pt x="1807070" y="127790"/>
                </a:lnTo>
                <a:lnTo>
                  <a:pt x="1835306" y="124592"/>
                </a:lnTo>
                <a:lnTo>
                  <a:pt x="1863541" y="121393"/>
                </a:lnTo>
                <a:lnTo>
                  <a:pt x="1891777" y="118195"/>
                </a:lnTo>
                <a:lnTo>
                  <a:pt x="1920012" y="114997"/>
                </a:lnTo>
                <a:lnTo>
                  <a:pt x="1948247" y="111799"/>
                </a:lnTo>
                <a:lnTo>
                  <a:pt x="1976483" y="108600"/>
                </a:lnTo>
                <a:lnTo>
                  <a:pt x="2004718" y="105402"/>
                </a:lnTo>
                <a:lnTo>
                  <a:pt x="2032953" y="102204"/>
                </a:lnTo>
                <a:lnTo>
                  <a:pt x="2061189" y="99006"/>
                </a:lnTo>
                <a:lnTo>
                  <a:pt x="2089425" y="95808"/>
                </a:lnTo>
                <a:lnTo>
                  <a:pt x="2117660" y="92610"/>
                </a:lnTo>
                <a:lnTo>
                  <a:pt x="2145896" y="89411"/>
                </a:lnTo>
                <a:lnTo>
                  <a:pt x="2174131" y="86213"/>
                </a:lnTo>
                <a:lnTo>
                  <a:pt x="2202367" y="83015"/>
                </a:lnTo>
                <a:lnTo>
                  <a:pt x="2230602" y="79817"/>
                </a:lnTo>
                <a:lnTo>
                  <a:pt x="2258837" y="76619"/>
                </a:lnTo>
                <a:lnTo>
                  <a:pt x="2287073" y="73420"/>
                </a:lnTo>
                <a:lnTo>
                  <a:pt x="2315308" y="70222"/>
                </a:lnTo>
                <a:lnTo>
                  <a:pt x="2343544" y="67024"/>
                </a:lnTo>
                <a:lnTo>
                  <a:pt x="2371780" y="63826"/>
                </a:lnTo>
                <a:lnTo>
                  <a:pt x="2400015" y="60628"/>
                </a:lnTo>
                <a:lnTo>
                  <a:pt x="2428250" y="57430"/>
                </a:lnTo>
                <a:lnTo>
                  <a:pt x="2456486" y="54231"/>
                </a:lnTo>
                <a:lnTo>
                  <a:pt x="2484721" y="51033"/>
                </a:lnTo>
                <a:lnTo>
                  <a:pt x="2512957" y="47835"/>
                </a:lnTo>
                <a:lnTo>
                  <a:pt x="2541192" y="44637"/>
                </a:lnTo>
                <a:lnTo>
                  <a:pt x="2569428" y="41439"/>
                </a:lnTo>
                <a:lnTo>
                  <a:pt x="2597663" y="38240"/>
                </a:lnTo>
                <a:lnTo>
                  <a:pt x="2625899" y="35042"/>
                </a:lnTo>
                <a:lnTo>
                  <a:pt x="2654134" y="31844"/>
                </a:lnTo>
                <a:lnTo>
                  <a:pt x="2682369" y="28646"/>
                </a:lnTo>
                <a:lnTo>
                  <a:pt x="2710605" y="25448"/>
                </a:lnTo>
                <a:lnTo>
                  <a:pt x="2738840" y="22249"/>
                </a:lnTo>
                <a:lnTo>
                  <a:pt x="2767076" y="19051"/>
                </a:lnTo>
                <a:lnTo>
                  <a:pt x="2795312" y="15853"/>
                </a:lnTo>
                <a:lnTo>
                  <a:pt x="2823547" y="12655"/>
                </a:lnTo>
                <a:lnTo>
                  <a:pt x="2851783" y="9456"/>
                </a:lnTo>
                <a:lnTo>
                  <a:pt x="2880018" y="6258"/>
                </a:lnTo>
                <a:lnTo>
                  <a:pt x="2908253" y="3060"/>
                </a:lnTo>
                <a:lnTo>
                  <a:pt x="2936497" y="0"/>
                </a:lnTo>
                <a:lnTo>
                  <a:pt x="2964913" y="0"/>
                </a:lnTo>
                <a:lnTo>
                  <a:pt x="2993329" y="0"/>
                </a:lnTo>
                <a:lnTo>
                  <a:pt x="3021745" y="0"/>
                </a:lnTo>
                <a:lnTo>
                  <a:pt x="3050161" y="0"/>
                </a:lnTo>
                <a:lnTo>
                  <a:pt x="3078577" y="0"/>
                </a:lnTo>
                <a:lnTo>
                  <a:pt x="3106993" y="0"/>
                </a:lnTo>
                <a:lnTo>
                  <a:pt x="3135409" y="0"/>
                </a:lnTo>
                <a:lnTo>
                  <a:pt x="3163825" y="0"/>
                </a:lnTo>
                <a:lnTo>
                  <a:pt x="3192241" y="0"/>
                </a:lnTo>
                <a:lnTo>
                  <a:pt x="3220657" y="0"/>
                </a:lnTo>
                <a:lnTo>
                  <a:pt x="3249073" y="0"/>
                </a:lnTo>
                <a:lnTo>
                  <a:pt x="3277489" y="0"/>
                </a:lnTo>
                <a:lnTo>
                  <a:pt x="3305905" y="0"/>
                </a:lnTo>
                <a:lnTo>
                  <a:pt x="3334321" y="0"/>
                </a:lnTo>
                <a:lnTo>
                  <a:pt x="3362737" y="0"/>
                </a:lnTo>
              </a:path>
            </a:pathLst>
          </a:custGeom>
          <a:noFill xmlns:a="http://schemas.openxmlformats.org/drawingml/2006/main"/>
          <a:ln xmlns:a="http://schemas.openxmlformats.org/drawingml/2006/main" w="13299">
            <a:solidFill>
              <a:srgbClr val="34695B"/>
            </a:solidFill>
            <a:prstDash val="solid"/>
          </a:ln>
        </p:spPr>
      </p:sp>
      <p:sp>
        <p:nvSpPr>
          <p:cNvPr id="54" name="Diagram circle">
            <a:extLst xmlns:a="http://schemas.openxmlformats.org/drawingml/2006/main">
              <a:ext uri="{FF2B5EF4-FFF2-40B4-BE49-F238E27FC236}">
                <a16:creationId xmlns:a16="http://schemas.microsoft.com/office/drawing/2014/main" id="{D62143B3-B9D5-4E26-A122-794C3BCC3770}"/>
              </a:ext>
            </a:extLst>
          </p:cNvPr>
          <p:cNvSpPr>
            <a:spLocks xmlns:a="http://schemas.openxmlformats.org/drawingml/2006/main" noGrp="1"/>
          </p:cNvSpPr>
          <p:nvPr/>
        </p:nvSpPr>
        <p:spPr>
          <a:xfrm xmlns:a="http://schemas.openxmlformats.org/drawingml/2006/main">
            <a:off x="10482392" y="4472358"/>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55" name="Starting pose">
            <a:extLst xmlns:a="http://schemas.openxmlformats.org/drawingml/2006/main">
              <a:ext uri="{FF2B5EF4-FFF2-40B4-BE49-F238E27FC236}">
                <a16:creationId xmlns:a16="http://schemas.microsoft.com/office/drawing/2014/main" id="{69257CE6-453D-440A-8E83-9AAABB25E7DB}"/>
              </a:ext>
            </a:extLst>
          </p:cNvPr>
          <p:cNvSpPr>
            <a:spLocks xmlns:a="http://schemas.openxmlformats.org/drawingml/2006/main" noGrp="1"/>
          </p:cNvSpPr>
          <p:nvPr/>
        </p:nvSpPr>
        <p:spPr>
          <a:xfrm xmlns:a="http://schemas.openxmlformats.org/drawingml/2006/main">
            <a:off x="13835629" y="3702171"/>
            <a:ext cx="2056508"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Starting pose</a:t>
            </a:r>
          </a:p>
        </p:txBody>
      </p:sp>
      <p:sp>
        <p:nvSpPr>
          <p:cNvPr id="56" name="Start in the opponent half">
            <a:extLst xmlns:a="http://schemas.openxmlformats.org/drawingml/2006/main">
              <a:ext uri="{FF2B5EF4-FFF2-40B4-BE49-F238E27FC236}">
                <a16:creationId xmlns:a16="http://schemas.microsoft.com/office/drawing/2014/main" id="{67AE2431-4916-4D92-9610-523553E9C0DC}"/>
              </a:ext>
            </a:extLst>
          </p:cNvPr>
          <p:cNvSpPr>
            <a:spLocks xmlns:a="http://schemas.openxmlformats.org/drawingml/2006/main" noGrp="1"/>
          </p:cNvSpPr>
          <p:nvPr/>
        </p:nvSpPr>
        <p:spPr>
          <a:xfrm xmlns:a="http://schemas.openxmlformats.org/drawingml/2006/main">
            <a:off x="13835629" y="4338750"/>
            <a:ext cx="2994150"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 in the opponent half</a:t>
            </a:r>
          </a:p>
        </p:txBody>
      </p:sp>
      <p:sp>
        <p:nvSpPr>
          <p:cNvPr id="57" name="Face our own half">
            <a:extLst xmlns:a="http://schemas.openxmlformats.org/drawingml/2006/main">
              <a:ext uri="{FF2B5EF4-FFF2-40B4-BE49-F238E27FC236}">
                <a16:creationId xmlns:a16="http://schemas.microsoft.com/office/drawing/2014/main" id="{7AD5E9C8-3F8B-44EF-AB72-B3AEDDBB5C98}"/>
              </a:ext>
            </a:extLst>
          </p:cNvPr>
          <p:cNvSpPr>
            <a:spLocks xmlns:a="http://schemas.openxmlformats.org/drawingml/2006/main" noGrp="1"/>
          </p:cNvSpPr>
          <p:nvPr/>
        </p:nvSpPr>
        <p:spPr>
          <a:xfrm xmlns:a="http://schemas.openxmlformats.org/drawingml/2006/main">
            <a:off x="13835629" y="4728220"/>
            <a:ext cx="2166942"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Face our own half</a:t>
            </a:r>
          </a:p>
        </p:txBody>
      </p:sp>
      <p:sp>
        <p:nvSpPr>
          <p:cNvPr id="58" name="Diagram path">
            <a:extLst xmlns:a="http://schemas.openxmlformats.org/drawingml/2006/main">
              <a:ext uri="{FF2B5EF4-FFF2-40B4-BE49-F238E27FC236}">
                <a16:creationId xmlns:a16="http://schemas.microsoft.com/office/drawing/2014/main" id="{64023E59-52FA-4C74-8D7F-B1697D6DB9B9}"/>
              </a:ext>
            </a:extLst>
          </p:cNvPr>
          <p:cNvSpPr>
            <a:spLocks xmlns:a="http://schemas.openxmlformats.org/drawingml/2006/main" noGrp="1"/>
          </p:cNvSpPr>
          <p:nvPr/>
        </p:nvSpPr>
        <p:spPr>
          <a:xfrm xmlns:a="http://schemas.openxmlformats.org/drawingml/2006/main">
            <a:off x="11432317" y="6353210"/>
            <a:ext cx="2450808" cy="389470"/>
          </a:xfrm>
          <a:custGeom xmlns:a="http://schemas.openxmlformats.org/drawingml/2006/main">
            <a:pathLst>
              <a:path w="2450808" h="389470">
                <a:moveTo>
                  <a:pt x="0" y="389470"/>
                </a:moveTo>
                <a:lnTo>
                  <a:pt x="27763" y="384126"/>
                </a:lnTo>
                <a:lnTo>
                  <a:pt x="55525" y="378782"/>
                </a:lnTo>
                <a:lnTo>
                  <a:pt x="83288" y="373438"/>
                </a:lnTo>
                <a:lnTo>
                  <a:pt x="111050" y="368094"/>
                </a:lnTo>
                <a:lnTo>
                  <a:pt x="138812" y="362750"/>
                </a:lnTo>
                <a:lnTo>
                  <a:pt x="166575" y="357406"/>
                </a:lnTo>
                <a:lnTo>
                  <a:pt x="194338" y="352062"/>
                </a:lnTo>
                <a:lnTo>
                  <a:pt x="222100" y="346718"/>
                </a:lnTo>
                <a:lnTo>
                  <a:pt x="249863" y="341374"/>
                </a:lnTo>
                <a:lnTo>
                  <a:pt x="277625" y="336030"/>
                </a:lnTo>
                <a:lnTo>
                  <a:pt x="305388" y="330686"/>
                </a:lnTo>
                <a:lnTo>
                  <a:pt x="333150" y="325342"/>
                </a:lnTo>
                <a:lnTo>
                  <a:pt x="360913" y="319998"/>
                </a:lnTo>
                <a:lnTo>
                  <a:pt x="388675" y="314654"/>
                </a:lnTo>
                <a:lnTo>
                  <a:pt x="416438" y="309310"/>
                </a:lnTo>
                <a:lnTo>
                  <a:pt x="444200" y="303966"/>
                </a:lnTo>
                <a:lnTo>
                  <a:pt x="471963" y="298622"/>
                </a:lnTo>
                <a:lnTo>
                  <a:pt x="499726" y="293278"/>
                </a:lnTo>
                <a:lnTo>
                  <a:pt x="527488" y="287934"/>
                </a:lnTo>
                <a:lnTo>
                  <a:pt x="555251" y="282590"/>
                </a:lnTo>
                <a:lnTo>
                  <a:pt x="583013" y="277246"/>
                </a:lnTo>
                <a:lnTo>
                  <a:pt x="610776" y="271902"/>
                </a:lnTo>
                <a:lnTo>
                  <a:pt x="638538" y="266558"/>
                </a:lnTo>
                <a:lnTo>
                  <a:pt x="666301" y="261214"/>
                </a:lnTo>
                <a:lnTo>
                  <a:pt x="694063" y="255871"/>
                </a:lnTo>
                <a:lnTo>
                  <a:pt x="721826" y="250527"/>
                </a:lnTo>
                <a:lnTo>
                  <a:pt x="749588" y="245182"/>
                </a:lnTo>
                <a:lnTo>
                  <a:pt x="777351" y="239839"/>
                </a:lnTo>
                <a:lnTo>
                  <a:pt x="805113" y="234495"/>
                </a:lnTo>
                <a:lnTo>
                  <a:pt x="832876" y="229151"/>
                </a:lnTo>
                <a:lnTo>
                  <a:pt x="860638" y="223807"/>
                </a:lnTo>
                <a:lnTo>
                  <a:pt x="888401" y="218463"/>
                </a:lnTo>
                <a:lnTo>
                  <a:pt x="916163" y="213119"/>
                </a:lnTo>
                <a:lnTo>
                  <a:pt x="943926" y="207775"/>
                </a:lnTo>
                <a:lnTo>
                  <a:pt x="971689" y="202431"/>
                </a:lnTo>
                <a:lnTo>
                  <a:pt x="999451" y="197087"/>
                </a:lnTo>
                <a:lnTo>
                  <a:pt x="1027214" y="191743"/>
                </a:lnTo>
                <a:lnTo>
                  <a:pt x="1054976" y="186399"/>
                </a:lnTo>
                <a:lnTo>
                  <a:pt x="1082738" y="181055"/>
                </a:lnTo>
                <a:lnTo>
                  <a:pt x="1110501" y="175711"/>
                </a:lnTo>
                <a:lnTo>
                  <a:pt x="1138264" y="170367"/>
                </a:lnTo>
                <a:lnTo>
                  <a:pt x="1166026" y="165023"/>
                </a:lnTo>
                <a:lnTo>
                  <a:pt x="1193789" y="159679"/>
                </a:lnTo>
                <a:lnTo>
                  <a:pt x="1221551" y="154335"/>
                </a:lnTo>
                <a:lnTo>
                  <a:pt x="1249314" y="148991"/>
                </a:lnTo>
                <a:lnTo>
                  <a:pt x="1277076" y="143647"/>
                </a:lnTo>
                <a:lnTo>
                  <a:pt x="1304839" y="138303"/>
                </a:lnTo>
                <a:lnTo>
                  <a:pt x="1332601" y="132959"/>
                </a:lnTo>
                <a:lnTo>
                  <a:pt x="1360364" y="127616"/>
                </a:lnTo>
                <a:lnTo>
                  <a:pt x="1388126" y="122272"/>
                </a:lnTo>
                <a:lnTo>
                  <a:pt x="1415889" y="116927"/>
                </a:lnTo>
                <a:lnTo>
                  <a:pt x="1443652" y="111584"/>
                </a:lnTo>
                <a:lnTo>
                  <a:pt x="1471414" y="106240"/>
                </a:lnTo>
                <a:lnTo>
                  <a:pt x="1499177" y="100896"/>
                </a:lnTo>
                <a:lnTo>
                  <a:pt x="1526939" y="95552"/>
                </a:lnTo>
                <a:lnTo>
                  <a:pt x="1554701" y="90208"/>
                </a:lnTo>
                <a:lnTo>
                  <a:pt x="1582464" y="84864"/>
                </a:lnTo>
                <a:lnTo>
                  <a:pt x="1610227" y="79520"/>
                </a:lnTo>
                <a:lnTo>
                  <a:pt x="1637989" y="74176"/>
                </a:lnTo>
                <a:lnTo>
                  <a:pt x="1665752" y="68832"/>
                </a:lnTo>
                <a:lnTo>
                  <a:pt x="1693514" y="63488"/>
                </a:lnTo>
                <a:lnTo>
                  <a:pt x="1721277" y="58144"/>
                </a:lnTo>
                <a:lnTo>
                  <a:pt x="1749040" y="52800"/>
                </a:lnTo>
                <a:lnTo>
                  <a:pt x="1776802" y="47456"/>
                </a:lnTo>
                <a:lnTo>
                  <a:pt x="1804564" y="42112"/>
                </a:lnTo>
                <a:lnTo>
                  <a:pt x="1832327" y="36768"/>
                </a:lnTo>
                <a:lnTo>
                  <a:pt x="1860089" y="31424"/>
                </a:lnTo>
                <a:lnTo>
                  <a:pt x="1887852" y="26080"/>
                </a:lnTo>
                <a:lnTo>
                  <a:pt x="1915615" y="20736"/>
                </a:lnTo>
                <a:lnTo>
                  <a:pt x="1943377" y="15392"/>
                </a:lnTo>
                <a:lnTo>
                  <a:pt x="1971140" y="10048"/>
                </a:lnTo>
                <a:lnTo>
                  <a:pt x="1998902" y="4704"/>
                </a:lnTo>
                <a:lnTo>
                  <a:pt x="2026725" y="0"/>
                </a:lnTo>
                <a:lnTo>
                  <a:pt x="2054998" y="0"/>
                </a:lnTo>
                <a:lnTo>
                  <a:pt x="2083270" y="0"/>
                </a:lnTo>
                <a:lnTo>
                  <a:pt x="2111542" y="0"/>
                </a:lnTo>
                <a:lnTo>
                  <a:pt x="2139814" y="0"/>
                </a:lnTo>
                <a:lnTo>
                  <a:pt x="2168086" y="0"/>
                </a:lnTo>
                <a:lnTo>
                  <a:pt x="2196359" y="0"/>
                </a:lnTo>
                <a:lnTo>
                  <a:pt x="2224631" y="0"/>
                </a:lnTo>
                <a:lnTo>
                  <a:pt x="2252903" y="0"/>
                </a:lnTo>
                <a:lnTo>
                  <a:pt x="2281175" y="0"/>
                </a:lnTo>
                <a:lnTo>
                  <a:pt x="2309448" y="0"/>
                </a:lnTo>
                <a:lnTo>
                  <a:pt x="2337719" y="0"/>
                </a:lnTo>
                <a:lnTo>
                  <a:pt x="2365992" y="0"/>
                </a:lnTo>
                <a:lnTo>
                  <a:pt x="2394264" y="0"/>
                </a:lnTo>
                <a:lnTo>
                  <a:pt x="2422536" y="0"/>
                </a:lnTo>
                <a:lnTo>
                  <a:pt x="2450808" y="0"/>
                </a:lnTo>
              </a:path>
            </a:pathLst>
          </a:custGeom>
          <a:noFill xmlns:a="http://schemas.openxmlformats.org/drawingml/2006/main"/>
          <a:ln xmlns:a="http://schemas.openxmlformats.org/drawingml/2006/main" w="13299">
            <a:solidFill>
              <a:srgbClr val="34695B"/>
            </a:solidFill>
            <a:prstDash val="solid"/>
          </a:ln>
        </p:spPr>
      </p:sp>
      <p:sp>
        <p:nvSpPr>
          <p:cNvPr id="59" name="Diagram circle">
            <a:extLst xmlns:a="http://schemas.openxmlformats.org/drawingml/2006/main">
              <a:ext uri="{FF2B5EF4-FFF2-40B4-BE49-F238E27FC236}">
                <a16:creationId xmlns:a16="http://schemas.microsoft.com/office/drawing/2014/main" id="{498BF46F-7DDF-44C1-9FB8-DEB3AB8CBC72}"/>
              </a:ext>
            </a:extLst>
          </p:cNvPr>
          <p:cNvSpPr>
            <a:spLocks xmlns:a="http://schemas.openxmlformats.org/drawingml/2006/main" noGrp="1"/>
          </p:cNvSpPr>
          <p:nvPr/>
        </p:nvSpPr>
        <p:spPr>
          <a:xfrm xmlns:a="http://schemas.openxmlformats.org/drawingml/2006/main">
            <a:off x="11394320" y="6704683"/>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0" name="Pushing objective">
            <a:extLst xmlns:a="http://schemas.openxmlformats.org/drawingml/2006/main">
              <a:ext uri="{FF2B5EF4-FFF2-40B4-BE49-F238E27FC236}">
                <a16:creationId xmlns:a16="http://schemas.microsoft.com/office/drawing/2014/main" id="{429D0534-D0C5-4014-A863-E32478E217AA}"/>
              </a:ext>
            </a:extLst>
          </p:cNvPr>
          <p:cNvSpPr>
            <a:spLocks xmlns:a="http://schemas.openxmlformats.org/drawingml/2006/main" noGrp="1"/>
          </p:cNvSpPr>
          <p:nvPr/>
        </p:nvSpPr>
        <p:spPr>
          <a:xfrm xmlns:a="http://schemas.openxmlformats.org/drawingml/2006/main">
            <a:off x="13835629" y="5877501"/>
            <a:ext cx="2715220"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Pushing objective</a:t>
            </a:r>
          </a:p>
        </p:txBody>
      </p:sp>
      <p:sp>
        <p:nvSpPr>
          <p:cNvPr id="61" name="Move blocks to our half">
            <a:extLst xmlns:a="http://schemas.openxmlformats.org/drawingml/2006/main">
              <a:ext uri="{FF2B5EF4-FFF2-40B4-BE49-F238E27FC236}">
                <a16:creationId xmlns:a16="http://schemas.microsoft.com/office/drawing/2014/main" id="{88E73313-719D-4F6B-8FE5-A6BAF131D11D}"/>
              </a:ext>
            </a:extLst>
          </p:cNvPr>
          <p:cNvSpPr>
            <a:spLocks xmlns:a="http://schemas.openxmlformats.org/drawingml/2006/main" noGrp="1"/>
          </p:cNvSpPr>
          <p:nvPr/>
        </p:nvSpPr>
        <p:spPr>
          <a:xfrm xmlns:a="http://schemas.openxmlformats.org/drawingml/2006/main">
            <a:off x="13835629" y="6514080"/>
            <a:ext cx="276540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Move blocks to our half</a:t>
            </a:r>
          </a:p>
        </p:txBody>
      </p:sp>
      <p:sp>
        <p:nvSpPr>
          <p:cNvPr id="62" name="Keep them until the finish">
            <a:extLst xmlns:a="http://schemas.openxmlformats.org/drawingml/2006/main">
              <a:ext uri="{FF2B5EF4-FFF2-40B4-BE49-F238E27FC236}">
                <a16:creationId xmlns:a16="http://schemas.microsoft.com/office/drawing/2014/main" id="{4B2445D3-FEB3-4362-8918-1F6B1FD5FF67}"/>
              </a:ext>
            </a:extLst>
          </p:cNvPr>
          <p:cNvSpPr>
            <a:spLocks xmlns:a="http://schemas.openxmlformats.org/drawingml/2006/main" noGrp="1"/>
          </p:cNvSpPr>
          <p:nvPr/>
        </p:nvSpPr>
        <p:spPr>
          <a:xfrm xmlns:a="http://schemas.openxmlformats.org/drawingml/2006/main">
            <a:off x="13835629" y="6903550"/>
            <a:ext cx="2993678"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Keep them until the finish</a:t>
            </a:r>
          </a:p>
        </p:txBody>
      </p:sp>
    </p:spTree>
    <p:extLst>
      <p:ext uri="{BB962C8B-B14F-4D97-AF65-F5344CB8AC3E}">
        <p14:creationId xmlns:p14="http://schemas.microsoft.com/office/powerpoint/2010/main" val="272789970"/>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8" name="Section rule">
            <a:extLst xmlns:a="http://schemas.openxmlformats.org/drawingml/2006/main">
              <a:ext uri="{FF2B5EF4-FFF2-40B4-BE49-F238E27FC236}">
                <a16:creationId xmlns:a16="http://schemas.microsoft.com/office/drawing/2014/main" id="{9BE14AFD-65AB-4709-82C2-C51B463F533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C4084DC7-DA82-461C-8334-9C704EBC72AE}"/>
              </a:ext>
            </a:extLst>
          </p:cNvPr>
          <p:cNvSpPr>
            <a:spLocks xmlns:a="http://schemas.openxmlformats.org/drawingml/2006/main" noGrp="1"/>
          </p:cNvSpPr>
          <p:nvPr/>
        </p:nvSpPr>
        <p:spPr>
          <a:xfrm xmlns:a="http://schemas.openxmlformats.org/drawingml/2006/main">
            <a:off x="857250" y="4382542"/>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7D630151-40B9-403A-A401-33CC6DDDD2B0}"/>
              </a:ext>
            </a:extLst>
          </p:cNvPr>
          <p:cNvSpPr>
            <a:spLocks xmlns:a="http://schemas.openxmlformats.org/drawingml/2006/main" noGrp="1"/>
          </p:cNvSpPr>
          <p:nvPr/>
        </p:nvSpPr>
        <p:spPr>
          <a:xfrm xmlns:a="http://schemas.openxmlformats.org/drawingml/2006/main">
            <a:off x="857250" y="6156871"/>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D44D18F6-3873-40A2-9C9B-EFF158AB901E}"/>
              </a:ext>
            </a:extLst>
          </p:cNvPr>
          <p:cNvSpPr>
            <a:spLocks xmlns:a="http://schemas.openxmlformats.org/drawingml/2006/main" noGrp="1"/>
          </p:cNvSpPr>
          <p:nvPr/>
        </p:nvSpPr>
        <p:spPr>
          <a:xfrm xmlns:a="http://schemas.openxmlformats.org/drawingml/2006/main">
            <a:off x="857250" y="7931200"/>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1639593F-26BE-4565-AA33-CB1D376B4925}"/>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System architecture: PC planning, onboard control</a:t>
            </a:r>
          </a:p>
        </p:txBody>
      </p:sp>
      <p:sp>
        <p:nvSpPr>
          <p:cNvPr id="6" name="The PC handles vision and strategy.The onboard controller handles">
            <a:extLst xmlns:a="http://schemas.openxmlformats.org/drawingml/2006/main">
              <a:ext uri="{FF2B5EF4-FFF2-40B4-BE49-F238E27FC236}">
                <a16:creationId xmlns:a16="http://schemas.microsoft.com/office/drawing/2014/main" id="{DF0E8A04-8A2C-4F46-A7B1-06169E84B0FD}"/>
              </a:ext>
            </a:extLst>
          </p:cNvPr>
          <p:cNvSpPr>
            <a:spLocks xmlns:a="http://schemas.openxmlformats.org/drawingml/2006/main" noGrp="1"/>
          </p:cNvSpPr>
          <p:nvPr/>
        </p:nvSpPr>
        <p:spPr>
          <a:xfrm xmlns:a="http://schemas.openxmlformats.org/drawingml/2006/main">
            <a:off x="857250" y="2602111"/>
            <a:ext cx="5743575" cy="1515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The PC handles vision and strategy.</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The onboard controller handles</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motion.</a:t>
            </a:r>
          </a:p>
        </p:txBody>
      </p:sp>
      <p:sp>
        <p:nvSpPr>
          <p:cNvPr id="7" name="Vision">
            <a:extLst xmlns:a="http://schemas.openxmlformats.org/drawingml/2006/main">
              <a:ext uri="{FF2B5EF4-FFF2-40B4-BE49-F238E27FC236}">
                <a16:creationId xmlns:a16="http://schemas.microsoft.com/office/drawing/2014/main" id="{AD2E8900-0828-4B11-99CF-6ACE3C8CB76B}"/>
              </a:ext>
            </a:extLst>
          </p:cNvPr>
          <p:cNvSpPr>
            <a:spLocks xmlns:a="http://schemas.openxmlformats.org/drawingml/2006/main" noGrp="1"/>
          </p:cNvSpPr>
          <p:nvPr/>
        </p:nvSpPr>
        <p:spPr>
          <a:xfrm xmlns:a="http://schemas.openxmlformats.org/drawingml/2006/main">
            <a:off x="857250" y="4639717"/>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Vision</a:t>
            </a:r>
          </a:p>
        </p:txBody>
      </p:sp>
      <p:sp>
        <p:nvSpPr>
          <p:cNvPr id="8" name="Estimate robot pose and block positions in each half.">
            <a:extLst xmlns:a="http://schemas.openxmlformats.org/drawingml/2006/main">
              <a:ext uri="{FF2B5EF4-FFF2-40B4-BE49-F238E27FC236}">
                <a16:creationId xmlns:a16="http://schemas.microsoft.com/office/drawing/2014/main" id="{CBD20717-6943-45D9-B02F-F86EF46794AA}"/>
              </a:ext>
            </a:extLst>
          </p:cNvPr>
          <p:cNvSpPr>
            <a:spLocks xmlns:a="http://schemas.openxmlformats.org/drawingml/2006/main" noGrp="1"/>
          </p:cNvSpPr>
          <p:nvPr/>
        </p:nvSpPr>
        <p:spPr>
          <a:xfrm xmlns:a="http://schemas.openxmlformats.org/drawingml/2006/main">
            <a:off x="857250" y="5187404"/>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Estimate robot pose and block positions in each</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half.</a:t>
            </a:r>
          </a:p>
        </p:txBody>
      </p:sp>
      <p:sp>
        <p:nvSpPr>
          <p:cNvPr id="9" name="Planning">
            <a:extLst xmlns:a="http://schemas.openxmlformats.org/drawingml/2006/main">
              <a:ext uri="{FF2B5EF4-FFF2-40B4-BE49-F238E27FC236}">
                <a16:creationId xmlns:a16="http://schemas.microsoft.com/office/drawing/2014/main" id="{16050645-B88C-473F-808E-C67CABB9FD76}"/>
              </a:ext>
            </a:extLst>
          </p:cNvPr>
          <p:cNvSpPr>
            <a:spLocks xmlns:a="http://schemas.openxmlformats.org/drawingml/2006/main" noGrp="1"/>
          </p:cNvSpPr>
          <p:nvPr/>
        </p:nvSpPr>
        <p:spPr>
          <a:xfrm xmlns:a="http://schemas.openxmlformats.org/drawingml/2006/main">
            <a:off x="857250" y="6414046"/>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Planning</a:t>
            </a:r>
          </a:p>
        </p:txBody>
      </p:sp>
      <p:sp>
        <p:nvSpPr>
          <p:cNvPr id="10" name="Select targets and plan approach, push and return actions.">
            <a:extLst xmlns:a="http://schemas.openxmlformats.org/drawingml/2006/main">
              <a:ext uri="{FF2B5EF4-FFF2-40B4-BE49-F238E27FC236}">
                <a16:creationId xmlns:a16="http://schemas.microsoft.com/office/drawing/2014/main" id="{3A8E29B7-62DB-4452-AA79-42F3808C86B9}"/>
              </a:ext>
            </a:extLst>
          </p:cNvPr>
          <p:cNvSpPr>
            <a:spLocks xmlns:a="http://schemas.openxmlformats.org/drawingml/2006/main" noGrp="1"/>
          </p:cNvSpPr>
          <p:nvPr/>
        </p:nvSpPr>
        <p:spPr>
          <a:xfrm xmlns:a="http://schemas.openxmlformats.org/drawingml/2006/main">
            <a:off x="857250" y="6961733"/>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Select targets and plan approach, push and</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 actions.</a:t>
            </a:r>
          </a:p>
        </p:txBody>
      </p:sp>
      <p:sp>
        <p:nvSpPr>
          <p:cNvPr id="11" name="Motion control">
            <a:extLst xmlns:a="http://schemas.openxmlformats.org/drawingml/2006/main">
              <a:ext uri="{FF2B5EF4-FFF2-40B4-BE49-F238E27FC236}">
                <a16:creationId xmlns:a16="http://schemas.microsoft.com/office/drawing/2014/main" id="{EFB9E6FA-8D50-4697-BBCB-F73D2C4655AA}"/>
              </a:ext>
            </a:extLst>
          </p:cNvPr>
          <p:cNvSpPr>
            <a:spLocks xmlns:a="http://schemas.openxmlformats.org/drawingml/2006/main" noGrp="1"/>
          </p:cNvSpPr>
          <p:nvPr/>
        </p:nvSpPr>
        <p:spPr>
          <a:xfrm xmlns:a="http://schemas.openxmlformats.org/drawingml/2006/main">
            <a:off x="857250" y="8188375"/>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Motion control</a:t>
            </a:r>
          </a:p>
        </p:txBody>
      </p:sp>
      <p:sp>
        <p:nvSpPr>
          <p:cNvPr id="12" name="Track speed commands and stop safely on faults.">
            <a:extLst xmlns:a="http://schemas.openxmlformats.org/drawingml/2006/main">
              <a:ext uri="{FF2B5EF4-FFF2-40B4-BE49-F238E27FC236}">
                <a16:creationId xmlns:a16="http://schemas.microsoft.com/office/drawing/2014/main" id="{F0F4279A-4A67-412D-A5A7-E25B6E4C12DE}"/>
              </a:ext>
            </a:extLst>
          </p:cNvPr>
          <p:cNvSpPr>
            <a:spLocks xmlns:a="http://schemas.openxmlformats.org/drawingml/2006/main" noGrp="1"/>
          </p:cNvSpPr>
          <p:nvPr/>
        </p:nvSpPr>
        <p:spPr>
          <a:xfrm xmlns:a="http://schemas.openxmlformats.org/drawingml/2006/main">
            <a:off x="857250" y="8736062"/>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Track speed commands and stop safely on</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faults.</a:t>
            </a:r>
          </a:p>
        </p:txBody>
      </p:sp>
      <p:sp>
        <p:nvSpPr>
          <p:cNvPr id="13" name="Diagram rect">
            <a:extLst xmlns:a="http://schemas.openxmlformats.org/drawingml/2006/main">
              <a:ext uri="{FF2B5EF4-FFF2-40B4-BE49-F238E27FC236}">
                <a16:creationId xmlns:a16="http://schemas.microsoft.com/office/drawing/2014/main" id="{27D30EEE-1FAD-4978-885A-8D5C6315A68B}"/>
              </a:ext>
            </a:extLst>
          </p:cNvPr>
          <p:cNvSpPr>
            <a:spLocks xmlns:a="http://schemas.openxmlformats.org/drawingml/2006/main" noGrp="1"/>
          </p:cNvSpPr>
          <p:nvPr/>
        </p:nvSpPr>
        <p:spPr>
          <a:xfrm xmlns:a="http://schemas.openxmlformats.org/drawingml/2006/main">
            <a:off x="8696531" y="2506012"/>
            <a:ext cx="6231513" cy="854933"/>
          </a:xfrm>
          <a:prstGeom xmlns:a="http://schemas.openxmlformats.org/drawingml/2006/main" prst="rect">
            <a:avLst/>
          </a:prstGeom>
          <a:solidFill xmlns:a="http://schemas.openxmlformats.org/drawingml/2006/main">
            <a:srgbClr val="EEF1E9"/>
          </a:solidFill>
          <a:ln xmlns:a="http://schemas.openxmlformats.org/drawingml/2006/main" w="9499">
            <a:solidFill>
              <a:srgbClr val="B9C5B8"/>
            </a:solidFill>
            <a:prstDash val="solid"/>
          </a:ln>
        </p:spPr>
      </p:sp>
      <p:sp>
        <p:nvSpPr>
          <p:cNvPr id="14" name="Overhead camera">
            <a:extLst xmlns:a="http://schemas.openxmlformats.org/drawingml/2006/main">
              <a:ext uri="{FF2B5EF4-FFF2-40B4-BE49-F238E27FC236}">
                <a16:creationId xmlns:a16="http://schemas.microsoft.com/office/drawing/2014/main" id="{0B2CEFE1-8E87-4339-8F29-DBD7247CA23E}"/>
              </a:ext>
            </a:extLst>
          </p:cNvPr>
          <p:cNvSpPr>
            <a:spLocks xmlns:a="http://schemas.openxmlformats.org/drawingml/2006/main" noGrp="1"/>
          </p:cNvSpPr>
          <p:nvPr/>
        </p:nvSpPr>
        <p:spPr>
          <a:xfrm xmlns:a="http://schemas.openxmlformats.org/drawingml/2006/main">
            <a:off x="10520013" y="2742695"/>
            <a:ext cx="2698849" cy="452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52"/>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Overhead camera</a:t>
            </a:r>
          </a:p>
        </p:txBody>
      </p:sp>
      <p:sp>
        <p:nvSpPr>
          <p:cNvPr id="15" name="Diagram path">
            <a:extLst xmlns:a="http://schemas.openxmlformats.org/drawingml/2006/main">
              <a:ext uri="{FF2B5EF4-FFF2-40B4-BE49-F238E27FC236}">
                <a16:creationId xmlns:a16="http://schemas.microsoft.com/office/drawing/2014/main" id="{1F790162-6AAA-4D92-9F3E-78AF021E9A0B}"/>
              </a:ext>
            </a:extLst>
          </p:cNvPr>
          <p:cNvSpPr>
            <a:spLocks xmlns:a="http://schemas.openxmlformats.org/drawingml/2006/main" noGrp="1"/>
          </p:cNvSpPr>
          <p:nvPr/>
        </p:nvSpPr>
        <p:spPr>
          <a:xfrm xmlns:a="http://schemas.openxmlformats.org/drawingml/2006/main">
            <a:off x="11812287" y="3370444"/>
            <a:ext cx="9525" cy="550957"/>
          </a:xfrm>
          <a:custGeom xmlns:a="http://schemas.openxmlformats.org/drawingml/2006/main">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1"/>
                </a:lnTo>
                <a:lnTo>
                  <a:pt x="0" y="275478"/>
                </a:lnTo>
                <a:lnTo>
                  <a:pt x="0" y="303026"/>
                </a:lnTo>
                <a:lnTo>
                  <a:pt x="0" y="330574"/>
                </a:lnTo>
                <a:lnTo>
                  <a:pt x="0" y="358122"/>
                </a:lnTo>
                <a:lnTo>
                  <a:pt x="0" y="385670"/>
                </a:lnTo>
                <a:lnTo>
                  <a:pt x="0" y="413218"/>
                </a:lnTo>
                <a:lnTo>
                  <a:pt x="0" y="440765"/>
                </a:lnTo>
                <a:lnTo>
                  <a:pt x="0" y="468313"/>
                </a:lnTo>
                <a:lnTo>
                  <a:pt x="0" y="495861"/>
                </a:lnTo>
                <a:lnTo>
                  <a:pt x="0" y="523409"/>
                </a:lnTo>
                <a:lnTo>
                  <a:pt x="0" y="550957"/>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16" name="Route arrowhead">
            <a:extLst xmlns:a="http://schemas.openxmlformats.org/drawingml/2006/main">
              <a:ext uri="{FF2B5EF4-FFF2-40B4-BE49-F238E27FC236}">
                <a16:creationId xmlns:a16="http://schemas.microsoft.com/office/drawing/2014/main" id="{72077F9A-89A1-45D0-BA12-9F2ACF726EAB}"/>
              </a:ext>
            </a:extLst>
          </p:cNvPr>
          <p:cNvSpPr>
            <a:spLocks xmlns:a="http://schemas.openxmlformats.org/drawingml/2006/main" noGrp="1"/>
          </p:cNvSpPr>
          <p:nvPr/>
        </p:nvSpPr>
        <p:spPr>
          <a:xfrm xmlns:a="http://schemas.openxmlformats.org/drawingml/2006/main">
            <a:off x="11755292" y="3807410"/>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17" name="Full-field image">
            <a:extLst xmlns:a="http://schemas.openxmlformats.org/drawingml/2006/main">
              <a:ext uri="{FF2B5EF4-FFF2-40B4-BE49-F238E27FC236}">
                <a16:creationId xmlns:a16="http://schemas.microsoft.com/office/drawing/2014/main" id="{89BAA7E8-8AA0-41E8-B159-EFDD29A7B1FA}"/>
              </a:ext>
            </a:extLst>
          </p:cNvPr>
          <p:cNvSpPr>
            <a:spLocks xmlns:a="http://schemas.openxmlformats.org/drawingml/2006/main" noGrp="1"/>
          </p:cNvSpPr>
          <p:nvPr/>
        </p:nvSpPr>
        <p:spPr>
          <a:xfrm xmlns:a="http://schemas.openxmlformats.org/drawingml/2006/main">
            <a:off x="12135262" y="3521840"/>
            <a:ext cx="1788319" cy="34577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34"/>
              </a:lnSpc>
              <a:spcBef>
                <a:spcPts val="0"/>
              </a:spcBef>
              <a:spcAft>
                <a:spcPts val="0"/>
              </a:spcAft>
              <a:buNone/>
              <a:defRPr sz="1945" b="0">
                <a:solidFill>
                  <a:srgbClr val="75827C"/>
                </a:solidFill>
                <a:latin typeface="Arial"/>
                <a:ea typeface="Arial"/>
                <a:cs typeface="Arial"/>
              </a:defRPr>
            </a:pPr>
            <a:r>
              <a:rPr sz="1945" b="0">
                <a:solidFill>
                  <a:srgbClr val="75827C"/>
                </a:solidFill>
                <a:latin typeface="Arial"/>
                <a:ea typeface="Arial"/>
                <a:cs typeface="Arial"/>
              </a:rPr>
              <a:t>Full-field image</a:t>
            </a:r>
          </a:p>
        </p:txBody>
      </p:sp>
      <p:sp>
        <p:nvSpPr>
          <p:cNvPr id="18" name="Diagram rect">
            <a:extLst xmlns:a="http://schemas.openxmlformats.org/drawingml/2006/main">
              <a:ext uri="{FF2B5EF4-FFF2-40B4-BE49-F238E27FC236}">
                <a16:creationId xmlns:a16="http://schemas.microsoft.com/office/drawing/2014/main" id="{E5F89374-EB5A-4767-AC6C-91739C11FC4B}"/>
              </a:ext>
            </a:extLst>
          </p:cNvPr>
          <p:cNvSpPr>
            <a:spLocks xmlns:a="http://schemas.openxmlformats.org/drawingml/2006/main" noGrp="1"/>
          </p:cNvSpPr>
          <p:nvPr/>
        </p:nvSpPr>
        <p:spPr>
          <a:xfrm xmlns:a="http://schemas.openxmlformats.org/drawingml/2006/main">
            <a:off x="8221568" y="4044891"/>
            <a:ext cx="7181438" cy="1424889"/>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19" name="External PC">
            <a:extLst xmlns:a="http://schemas.openxmlformats.org/drawingml/2006/main">
              <a:ext uri="{FF2B5EF4-FFF2-40B4-BE49-F238E27FC236}">
                <a16:creationId xmlns:a16="http://schemas.microsoft.com/office/drawing/2014/main" id="{17ADAA33-9D22-4B63-9990-B80EC18D8E9B}"/>
              </a:ext>
            </a:extLst>
          </p:cNvPr>
          <p:cNvSpPr>
            <a:spLocks xmlns:a="http://schemas.openxmlformats.org/drawingml/2006/main" noGrp="1"/>
          </p:cNvSpPr>
          <p:nvPr/>
        </p:nvSpPr>
        <p:spPr>
          <a:xfrm xmlns:a="http://schemas.openxmlformats.org/drawingml/2006/main">
            <a:off x="10900045" y="4319546"/>
            <a:ext cx="1938784" cy="4787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31"/>
              </a:lnSpc>
              <a:spcBef>
                <a:spcPts val="0"/>
              </a:spcBef>
              <a:spcAft>
                <a:spcPts val="0"/>
              </a:spcAft>
              <a:buNone/>
              <a:defRPr sz="2693" b="0">
                <a:solidFill>
                  <a:srgbClr val="FFFFFF"/>
                </a:solidFill>
                <a:latin typeface="Arial"/>
                <a:ea typeface="Arial"/>
                <a:cs typeface="Arial"/>
              </a:defRPr>
            </a:pPr>
            <a:r>
              <a:rPr sz="2693" b="0">
                <a:solidFill>
                  <a:srgbClr val="FFFFFF"/>
                </a:solidFill>
                <a:latin typeface="Arial"/>
                <a:ea typeface="Arial"/>
                <a:cs typeface="Arial"/>
              </a:rPr>
              <a:t>External PC</a:t>
            </a:r>
          </a:p>
        </p:txBody>
      </p:sp>
      <p:sp>
        <p:nvSpPr>
          <p:cNvPr id="20" name="Localization, target selection and action planning">
            <a:extLst xmlns:a="http://schemas.openxmlformats.org/drawingml/2006/main">
              <a:ext uri="{FF2B5EF4-FFF2-40B4-BE49-F238E27FC236}">
                <a16:creationId xmlns:a16="http://schemas.microsoft.com/office/drawing/2014/main" id="{5DBFF86A-A5E8-4974-86D8-26E79875671C}"/>
              </a:ext>
            </a:extLst>
          </p:cNvPr>
          <p:cNvSpPr>
            <a:spLocks xmlns:a="http://schemas.openxmlformats.org/drawingml/2006/main" noGrp="1"/>
          </p:cNvSpPr>
          <p:nvPr/>
        </p:nvSpPr>
        <p:spPr>
          <a:xfrm xmlns:a="http://schemas.openxmlformats.org/drawingml/2006/main">
            <a:off x="9046763" y="4870708"/>
            <a:ext cx="564534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DFEBE3"/>
                </a:solidFill>
                <a:latin typeface="Arial"/>
                <a:ea typeface="Arial"/>
                <a:cs typeface="Arial"/>
              </a:defRPr>
            </a:pPr>
            <a:r>
              <a:rPr sz="2020" b="0">
                <a:solidFill>
                  <a:srgbClr val="DFEBE3"/>
                </a:solidFill>
                <a:latin typeface="Arial"/>
                <a:ea typeface="Arial"/>
                <a:cs typeface="Arial"/>
              </a:rPr>
              <a:t>Localization, target selection and action planning</a:t>
            </a:r>
          </a:p>
        </p:txBody>
      </p:sp>
      <p:sp>
        <p:nvSpPr>
          <p:cNvPr id="21" name="Diagram path">
            <a:extLst xmlns:a="http://schemas.openxmlformats.org/drawingml/2006/main">
              <a:ext uri="{FF2B5EF4-FFF2-40B4-BE49-F238E27FC236}">
                <a16:creationId xmlns:a16="http://schemas.microsoft.com/office/drawing/2014/main" id="{35676241-3EBF-4B14-A136-E9E7EE84024C}"/>
              </a:ext>
            </a:extLst>
          </p:cNvPr>
          <p:cNvSpPr>
            <a:spLocks xmlns:a="http://schemas.openxmlformats.org/drawingml/2006/main" noGrp="1"/>
          </p:cNvSpPr>
          <p:nvPr/>
        </p:nvSpPr>
        <p:spPr>
          <a:xfrm xmlns:a="http://schemas.openxmlformats.org/drawingml/2006/main">
            <a:off x="10577384" y="5479279"/>
            <a:ext cx="9525" cy="759941"/>
          </a:xfrm>
          <a:custGeom xmlns:a="http://schemas.openxmlformats.org/drawingml/2006/main">
            <a:pathLst>
              <a:path w="9525" h="759941">
                <a:moveTo>
                  <a:pt x="0" y="0"/>
                </a:moveTo>
                <a:lnTo>
                  <a:pt x="0" y="28146"/>
                </a:lnTo>
                <a:lnTo>
                  <a:pt x="0" y="56292"/>
                </a:lnTo>
                <a:lnTo>
                  <a:pt x="0" y="84438"/>
                </a:lnTo>
                <a:lnTo>
                  <a:pt x="0" y="112584"/>
                </a:lnTo>
                <a:lnTo>
                  <a:pt x="0" y="140730"/>
                </a:lnTo>
                <a:lnTo>
                  <a:pt x="0" y="168876"/>
                </a:lnTo>
                <a:lnTo>
                  <a:pt x="0" y="197021"/>
                </a:lnTo>
                <a:lnTo>
                  <a:pt x="0" y="225168"/>
                </a:lnTo>
                <a:lnTo>
                  <a:pt x="0" y="253313"/>
                </a:lnTo>
                <a:lnTo>
                  <a:pt x="0" y="281460"/>
                </a:lnTo>
                <a:lnTo>
                  <a:pt x="0" y="309605"/>
                </a:lnTo>
                <a:lnTo>
                  <a:pt x="0" y="337751"/>
                </a:lnTo>
                <a:lnTo>
                  <a:pt x="0" y="365897"/>
                </a:lnTo>
                <a:lnTo>
                  <a:pt x="0" y="394043"/>
                </a:lnTo>
                <a:lnTo>
                  <a:pt x="0" y="422189"/>
                </a:lnTo>
                <a:lnTo>
                  <a:pt x="0" y="450335"/>
                </a:lnTo>
                <a:lnTo>
                  <a:pt x="0" y="478481"/>
                </a:lnTo>
                <a:lnTo>
                  <a:pt x="0" y="506627"/>
                </a:lnTo>
                <a:lnTo>
                  <a:pt x="0" y="534773"/>
                </a:lnTo>
                <a:lnTo>
                  <a:pt x="0" y="562919"/>
                </a:lnTo>
                <a:lnTo>
                  <a:pt x="0" y="591065"/>
                </a:lnTo>
                <a:lnTo>
                  <a:pt x="0" y="619211"/>
                </a:lnTo>
                <a:lnTo>
                  <a:pt x="0" y="647357"/>
                </a:lnTo>
                <a:lnTo>
                  <a:pt x="0" y="675503"/>
                </a:lnTo>
                <a:lnTo>
                  <a:pt x="0" y="703649"/>
                </a:lnTo>
                <a:lnTo>
                  <a:pt x="0" y="731795"/>
                </a:lnTo>
                <a:lnTo>
                  <a:pt x="0" y="759941"/>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22" name="Route arrowhead">
            <a:extLst xmlns:a="http://schemas.openxmlformats.org/drawingml/2006/main">
              <a:ext uri="{FF2B5EF4-FFF2-40B4-BE49-F238E27FC236}">
                <a16:creationId xmlns:a16="http://schemas.microsoft.com/office/drawing/2014/main" id="{B9D7EE34-5986-4270-903B-D7700391921D}"/>
              </a:ext>
            </a:extLst>
          </p:cNvPr>
          <p:cNvSpPr>
            <a:spLocks xmlns:a="http://schemas.openxmlformats.org/drawingml/2006/main" noGrp="1"/>
          </p:cNvSpPr>
          <p:nvPr/>
        </p:nvSpPr>
        <p:spPr>
          <a:xfrm xmlns:a="http://schemas.openxmlformats.org/drawingml/2006/main">
            <a:off x="10520388" y="6125228"/>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23" name="Wireless speed">
            <a:extLst xmlns:a="http://schemas.openxmlformats.org/drawingml/2006/main">
              <a:ext uri="{FF2B5EF4-FFF2-40B4-BE49-F238E27FC236}">
                <a16:creationId xmlns:a16="http://schemas.microsoft.com/office/drawing/2014/main" id="{56C73993-CC7D-4EFE-8252-DA5FA5D19090}"/>
              </a:ext>
            </a:extLst>
          </p:cNvPr>
          <p:cNvSpPr>
            <a:spLocks xmlns:a="http://schemas.openxmlformats.org/drawingml/2006/main" noGrp="1"/>
          </p:cNvSpPr>
          <p:nvPr/>
        </p:nvSpPr>
        <p:spPr>
          <a:xfrm xmlns:a="http://schemas.openxmlformats.org/drawingml/2006/main">
            <a:off x="8487547" y="5526157"/>
            <a:ext cx="1867198"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Wireless speed</a:t>
            </a:r>
          </a:p>
        </p:txBody>
      </p:sp>
      <p:sp>
        <p:nvSpPr>
          <p:cNvPr id="24" name="commands">
            <a:extLst xmlns:a="http://schemas.openxmlformats.org/drawingml/2006/main">
              <a:ext uri="{FF2B5EF4-FFF2-40B4-BE49-F238E27FC236}">
                <a16:creationId xmlns:a16="http://schemas.microsoft.com/office/drawing/2014/main" id="{DC17D2F3-02F4-4411-B251-8B5E460CC97F}"/>
              </a:ext>
            </a:extLst>
          </p:cNvPr>
          <p:cNvSpPr>
            <a:spLocks xmlns:a="http://schemas.openxmlformats.org/drawingml/2006/main" noGrp="1"/>
          </p:cNvSpPr>
          <p:nvPr/>
        </p:nvSpPr>
        <p:spPr>
          <a:xfrm xmlns:a="http://schemas.openxmlformats.org/drawingml/2006/main">
            <a:off x="8487547" y="5877630"/>
            <a:ext cx="1368326"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commands</a:t>
            </a:r>
          </a:p>
        </p:txBody>
      </p:sp>
      <p:sp>
        <p:nvSpPr>
          <p:cNvPr id="25" name="Diagram path">
            <a:extLst xmlns:a="http://schemas.openxmlformats.org/drawingml/2006/main">
              <a:ext uri="{FF2B5EF4-FFF2-40B4-BE49-F238E27FC236}">
                <a16:creationId xmlns:a16="http://schemas.microsoft.com/office/drawing/2014/main" id="{DDDC83DD-8C49-45FD-BAA2-1733A0B226C3}"/>
              </a:ext>
            </a:extLst>
          </p:cNvPr>
          <p:cNvSpPr>
            <a:spLocks xmlns:a="http://schemas.openxmlformats.org/drawingml/2006/main" noGrp="1"/>
          </p:cNvSpPr>
          <p:nvPr/>
        </p:nvSpPr>
        <p:spPr>
          <a:xfrm xmlns:a="http://schemas.openxmlformats.org/drawingml/2006/main">
            <a:off x="13664642" y="5488778"/>
            <a:ext cx="9525" cy="750441"/>
          </a:xfrm>
          <a:custGeom xmlns:a="http://schemas.openxmlformats.org/drawingml/2006/main">
            <a:pathLst>
              <a:path w="9525" h="750441">
                <a:moveTo>
                  <a:pt x="0" y="750441"/>
                </a:moveTo>
                <a:lnTo>
                  <a:pt x="0" y="722647"/>
                </a:lnTo>
                <a:lnTo>
                  <a:pt x="0" y="694853"/>
                </a:lnTo>
                <a:lnTo>
                  <a:pt x="0" y="667059"/>
                </a:lnTo>
                <a:lnTo>
                  <a:pt x="0" y="639265"/>
                </a:lnTo>
                <a:lnTo>
                  <a:pt x="0" y="611471"/>
                </a:lnTo>
                <a:lnTo>
                  <a:pt x="0" y="583677"/>
                </a:lnTo>
                <a:lnTo>
                  <a:pt x="0" y="555882"/>
                </a:lnTo>
                <a:lnTo>
                  <a:pt x="0" y="528088"/>
                </a:lnTo>
                <a:lnTo>
                  <a:pt x="0" y="500294"/>
                </a:lnTo>
                <a:lnTo>
                  <a:pt x="0" y="472500"/>
                </a:lnTo>
                <a:lnTo>
                  <a:pt x="0" y="444706"/>
                </a:lnTo>
                <a:lnTo>
                  <a:pt x="0" y="416912"/>
                </a:lnTo>
                <a:lnTo>
                  <a:pt x="0" y="389118"/>
                </a:lnTo>
                <a:lnTo>
                  <a:pt x="0" y="361324"/>
                </a:lnTo>
                <a:lnTo>
                  <a:pt x="0" y="333529"/>
                </a:lnTo>
                <a:lnTo>
                  <a:pt x="0" y="305735"/>
                </a:lnTo>
                <a:lnTo>
                  <a:pt x="0" y="277941"/>
                </a:lnTo>
                <a:lnTo>
                  <a:pt x="0" y="250147"/>
                </a:lnTo>
                <a:lnTo>
                  <a:pt x="0" y="222353"/>
                </a:lnTo>
                <a:lnTo>
                  <a:pt x="0" y="194559"/>
                </a:lnTo>
                <a:lnTo>
                  <a:pt x="0" y="166765"/>
                </a:lnTo>
                <a:lnTo>
                  <a:pt x="0" y="138971"/>
                </a:lnTo>
                <a:lnTo>
                  <a:pt x="0" y="111176"/>
                </a:lnTo>
                <a:lnTo>
                  <a:pt x="0" y="83382"/>
                </a:lnTo>
                <a:lnTo>
                  <a:pt x="0" y="55588"/>
                </a:lnTo>
                <a:lnTo>
                  <a:pt x="0" y="27794"/>
                </a:lnTo>
                <a:lnTo>
                  <a:pt x="0" y="0"/>
                </a:lnTo>
              </a:path>
            </a:pathLst>
          </a:custGeom>
          <a:solidFill xmlns:a="http://schemas.openxmlformats.org/drawingml/2006/main">
            <a:srgbClr val="000000"/>
          </a:solidFill>
          <a:ln xmlns:a="http://schemas.openxmlformats.org/drawingml/2006/main" w="18999">
            <a:solidFill>
              <a:srgbClr val="9AAA9A"/>
            </a:solidFill>
            <a:prstDash val="solid"/>
          </a:ln>
        </p:spPr>
      </p:sp>
      <p:sp>
        <p:nvSpPr>
          <p:cNvPr id="26" name="Route arrowhead">
            <a:extLst xmlns:a="http://schemas.openxmlformats.org/drawingml/2006/main">
              <a:ext uri="{FF2B5EF4-FFF2-40B4-BE49-F238E27FC236}">
                <a16:creationId xmlns:a16="http://schemas.microsoft.com/office/drawing/2014/main" id="{0BC4B219-350C-4877-B075-92EB536732A6}"/>
              </a:ext>
            </a:extLst>
          </p:cNvPr>
          <p:cNvSpPr>
            <a:spLocks xmlns:a="http://schemas.openxmlformats.org/drawingml/2006/main" noGrp="1"/>
          </p:cNvSpPr>
          <p:nvPr/>
        </p:nvSpPr>
        <p:spPr>
          <a:xfrm xmlns:a="http://schemas.openxmlformats.org/drawingml/2006/main">
            <a:off x="13607647" y="5488778"/>
            <a:ext cx="113991" cy="113991"/>
          </a:xfrm>
          <a:custGeom xmlns:a="http://schemas.openxmlformats.org/drawingml/2006/main">
            <a:pathLst>
              <a:path w="113991" h="113991">
                <a:moveTo>
                  <a:pt x="0" y="113991"/>
                </a:moveTo>
                <a:lnTo>
                  <a:pt x="56996" y="0"/>
                </a:lnTo>
                <a:lnTo>
                  <a:pt x="113991" y="113991"/>
                </a:lnTo>
              </a:path>
            </a:pathLst>
          </a:custGeom>
          <a:noFill xmlns:a="http://schemas.openxmlformats.org/drawingml/2006/main"/>
          <a:ln xmlns:a="http://schemas.openxmlformats.org/drawingml/2006/main" w="28498">
            <a:solidFill>
              <a:srgbClr val="9AAA9A"/>
            </a:solidFill>
            <a:prstDash val="solid"/>
          </a:ln>
        </p:spPr>
      </p:sp>
      <p:sp>
        <p:nvSpPr>
          <p:cNvPr id="27" name="Status">
            <a:extLst xmlns:a="http://schemas.openxmlformats.org/drawingml/2006/main">
              <a:ext uri="{FF2B5EF4-FFF2-40B4-BE49-F238E27FC236}">
                <a16:creationId xmlns:a16="http://schemas.microsoft.com/office/drawing/2014/main" id="{26AEAF2E-1BCF-4487-9BDE-14C28CDCCFB8}"/>
              </a:ext>
            </a:extLst>
          </p:cNvPr>
          <p:cNvSpPr>
            <a:spLocks xmlns:a="http://schemas.openxmlformats.org/drawingml/2006/main" noGrp="1"/>
          </p:cNvSpPr>
          <p:nvPr/>
        </p:nvSpPr>
        <p:spPr>
          <a:xfrm xmlns:a="http://schemas.openxmlformats.org/drawingml/2006/main">
            <a:off x="14044613" y="5744640"/>
            <a:ext cx="841325"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Status</a:t>
            </a:r>
          </a:p>
        </p:txBody>
      </p:sp>
      <p:sp>
        <p:nvSpPr>
          <p:cNvPr id="28" name="Diagram rect">
            <a:extLst xmlns:a="http://schemas.openxmlformats.org/drawingml/2006/main">
              <a:ext uri="{FF2B5EF4-FFF2-40B4-BE49-F238E27FC236}">
                <a16:creationId xmlns:a16="http://schemas.microsoft.com/office/drawing/2014/main" id="{AF4CF857-6FFE-4C96-B36C-237AE7843502}"/>
              </a:ext>
            </a:extLst>
          </p:cNvPr>
          <p:cNvSpPr>
            <a:spLocks xmlns:a="http://schemas.openxmlformats.org/drawingml/2006/main" noGrp="1"/>
          </p:cNvSpPr>
          <p:nvPr/>
        </p:nvSpPr>
        <p:spPr>
          <a:xfrm xmlns:a="http://schemas.openxmlformats.org/drawingml/2006/main">
            <a:off x="8696531" y="6372209"/>
            <a:ext cx="6231513" cy="892930"/>
          </a:xfrm>
          <a:prstGeom xmlns:a="http://schemas.openxmlformats.org/drawingml/2006/main" prst="rect">
            <a:avLst/>
          </a:prstGeom>
          <a:solidFill xmlns:a="http://schemas.openxmlformats.org/drawingml/2006/main">
            <a:srgbClr val="EEF1E9"/>
          </a:solidFill>
          <a:ln xmlns:a="http://schemas.openxmlformats.org/drawingml/2006/main" w="9499">
            <a:solidFill>
              <a:srgbClr val="B9C5B8"/>
            </a:solidFill>
            <a:prstDash val="solid"/>
          </a:ln>
        </p:spPr>
      </p:sp>
      <p:sp>
        <p:nvSpPr>
          <p:cNvPr id="29" name="Onboard control board">
            <a:extLst xmlns:a="http://schemas.openxmlformats.org/drawingml/2006/main">
              <a:ext uri="{FF2B5EF4-FFF2-40B4-BE49-F238E27FC236}">
                <a16:creationId xmlns:a16="http://schemas.microsoft.com/office/drawing/2014/main" id="{2DCC2721-417F-45E2-8C77-FCF9D41756DA}"/>
              </a:ext>
            </a:extLst>
          </p:cNvPr>
          <p:cNvSpPr>
            <a:spLocks xmlns:a="http://schemas.openxmlformats.org/drawingml/2006/main" noGrp="1"/>
          </p:cNvSpPr>
          <p:nvPr/>
        </p:nvSpPr>
        <p:spPr>
          <a:xfrm xmlns:a="http://schemas.openxmlformats.org/drawingml/2006/main">
            <a:off x="10196758" y="6627891"/>
            <a:ext cx="3345357" cy="452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52"/>
              </a:lnSpc>
              <a:spcBef>
                <a:spcPts val="0"/>
              </a:spcBef>
              <a:spcAft>
                <a:spcPts val="0"/>
              </a:spcAft>
              <a:buNone/>
              <a:defRPr sz="2543" b="0">
                <a:solidFill>
                  <a:srgbClr val="28332F"/>
                </a:solidFill>
                <a:latin typeface="Arial"/>
                <a:ea typeface="Arial"/>
                <a:cs typeface="Arial"/>
              </a:defRPr>
            </a:pPr>
            <a:r>
              <a:rPr sz="2543" b="0">
                <a:solidFill>
                  <a:srgbClr val="28332F"/>
                </a:solidFill>
                <a:latin typeface="Arial"/>
                <a:ea typeface="Arial"/>
                <a:cs typeface="Arial"/>
              </a:rPr>
              <a:t>Onboard control board</a:t>
            </a:r>
          </a:p>
        </p:txBody>
      </p:sp>
      <p:sp>
        <p:nvSpPr>
          <p:cNvPr id="30" name="Diagram path">
            <a:extLst xmlns:a="http://schemas.openxmlformats.org/drawingml/2006/main">
              <a:ext uri="{FF2B5EF4-FFF2-40B4-BE49-F238E27FC236}">
                <a16:creationId xmlns:a16="http://schemas.microsoft.com/office/drawing/2014/main" id="{B9D268CA-F81D-4B37-BFF8-8C945D0E9F5C}"/>
              </a:ext>
            </a:extLst>
          </p:cNvPr>
          <p:cNvSpPr>
            <a:spLocks xmlns:a="http://schemas.openxmlformats.org/drawingml/2006/main" noGrp="1"/>
          </p:cNvSpPr>
          <p:nvPr/>
        </p:nvSpPr>
        <p:spPr>
          <a:xfrm xmlns:a="http://schemas.openxmlformats.org/drawingml/2006/main">
            <a:off x="11812287" y="7274638"/>
            <a:ext cx="9525" cy="550957"/>
          </a:xfrm>
          <a:custGeom xmlns:a="http://schemas.openxmlformats.org/drawingml/2006/main">
            <a:pathLst>
              <a:path w="9525" h="550957">
                <a:moveTo>
                  <a:pt x="0" y="0"/>
                </a:moveTo>
                <a:lnTo>
                  <a:pt x="0" y="27548"/>
                </a:lnTo>
                <a:lnTo>
                  <a:pt x="0" y="55096"/>
                </a:lnTo>
                <a:lnTo>
                  <a:pt x="0" y="82644"/>
                </a:lnTo>
                <a:lnTo>
                  <a:pt x="0" y="110191"/>
                </a:lnTo>
                <a:lnTo>
                  <a:pt x="0" y="137739"/>
                </a:lnTo>
                <a:lnTo>
                  <a:pt x="0" y="165287"/>
                </a:lnTo>
                <a:lnTo>
                  <a:pt x="0" y="192835"/>
                </a:lnTo>
                <a:lnTo>
                  <a:pt x="0" y="220383"/>
                </a:lnTo>
                <a:lnTo>
                  <a:pt x="0" y="247930"/>
                </a:lnTo>
                <a:lnTo>
                  <a:pt x="0" y="275478"/>
                </a:lnTo>
                <a:lnTo>
                  <a:pt x="0" y="303027"/>
                </a:lnTo>
                <a:lnTo>
                  <a:pt x="0" y="330574"/>
                </a:lnTo>
                <a:lnTo>
                  <a:pt x="0" y="358122"/>
                </a:lnTo>
                <a:lnTo>
                  <a:pt x="0" y="385670"/>
                </a:lnTo>
                <a:lnTo>
                  <a:pt x="0" y="413218"/>
                </a:lnTo>
                <a:lnTo>
                  <a:pt x="0" y="440766"/>
                </a:lnTo>
                <a:lnTo>
                  <a:pt x="0" y="468313"/>
                </a:lnTo>
                <a:lnTo>
                  <a:pt x="0" y="495861"/>
                </a:lnTo>
                <a:lnTo>
                  <a:pt x="0" y="523409"/>
                </a:lnTo>
                <a:lnTo>
                  <a:pt x="0" y="550957"/>
                </a:lnTo>
              </a:path>
            </a:pathLst>
          </a:custGeom>
          <a:solidFill xmlns:a="http://schemas.openxmlformats.org/drawingml/2006/main">
            <a:srgbClr val="000000"/>
          </a:solidFill>
          <a:ln xmlns:a="http://schemas.openxmlformats.org/drawingml/2006/main" w="18999">
            <a:solidFill>
              <a:srgbClr val="34695B"/>
            </a:solidFill>
            <a:prstDash val="solid"/>
          </a:ln>
        </p:spPr>
      </p:sp>
      <p:sp>
        <p:nvSpPr>
          <p:cNvPr id="31" name="Route arrowhead">
            <a:extLst xmlns:a="http://schemas.openxmlformats.org/drawingml/2006/main">
              <a:ext uri="{FF2B5EF4-FFF2-40B4-BE49-F238E27FC236}">
                <a16:creationId xmlns:a16="http://schemas.microsoft.com/office/drawing/2014/main" id="{A7A4DE4D-C40B-4EAB-922C-86024584B042}"/>
              </a:ext>
            </a:extLst>
          </p:cNvPr>
          <p:cNvSpPr>
            <a:spLocks xmlns:a="http://schemas.openxmlformats.org/drawingml/2006/main" noGrp="1"/>
          </p:cNvSpPr>
          <p:nvPr/>
        </p:nvSpPr>
        <p:spPr>
          <a:xfrm xmlns:a="http://schemas.openxmlformats.org/drawingml/2006/main">
            <a:off x="11755292" y="7711604"/>
            <a:ext cx="113991" cy="113991"/>
          </a:xfrm>
          <a:custGeom xmlns:a="http://schemas.openxmlformats.org/drawingml/2006/main">
            <a:pathLst>
              <a:path w="113991" h="113991">
                <a:moveTo>
                  <a:pt x="113991" y="0"/>
                </a:moveTo>
                <a:lnTo>
                  <a:pt x="56996" y="113991"/>
                </a:lnTo>
                <a:lnTo>
                  <a:pt x="0" y="0"/>
                </a:lnTo>
              </a:path>
            </a:pathLst>
          </a:custGeom>
          <a:noFill xmlns:a="http://schemas.openxmlformats.org/drawingml/2006/main"/>
          <a:ln xmlns:a="http://schemas.openxmlformats.org/drawingml/2006/main" w="28498">
            <a:solidFill>
              <a:srgbClr val="34695B"/>
            </a:solidFill>
            <a:prstDash val="solid"/>
          </a:ln>
        </p:spPr>
      </p:sp>
      <p:sp>
        <p:nvSpPr>
          <p:cNvPr id="32" name="Diagram rect">
            <a:extLst xmlns:a="http://schemas.openxmlformats.org/drawingml/2006/main">
              <a:ext uri="{FF2B5EF4-FFF2-40B4-BE49-F238E27FC236}">
                <a16:creationId xmlns:a16="http://schemas.microsoft.com/office/drawing/2014/main" id="{238DCA57-06C8-4664-95B3-D38D94E421B1}"/>
              </a:ext>
            </a:extLst>
          </p:cNvPr>
          <p:cNvSpPr>
            <a:spLocks xmlns:a="http://schemas.openxmlformats.org/drawingml/2006/main" noGrp="1"/>
          </p:cNvSpPr>
          <p:nvPr/>
        </p:nvSpPr>
        <p:spPr>
          <a:xfrm xmlns:a="http://schemas.openxmlformats.org/drawingml/2006/main">
            <a:off x="8696531" y="7958585"/>
            <a:ext cx="6231513" cy="854933"/>
          </a:xfrm>
          <a:prstGeom xmlns:a="http://schemas.openxmlformats.org/drawingml/2006/main" prst="rect">
            <a:avLst/>
          </a:prstGeom>
          <a:noFill xmlns:a="http://schemas.openxmlformats.org/drawingml/2006/main"/>
          <a:ln xmlns:a="http://schemas.openxmlformats.org/drawingml/2006/main" w="9499">
            <a:solidFill>
              <a:srgbClr val="B9C5B8"/>
            </a:solidFill>
            <a:prstDash val="solid"/>
          </a:ln>
        </p:spPr>
      </p:sp>
      <p:sp>
        <p:nvSpPr>
          <p:cNvPr id="33" name="Motor drivers, encoders and pusher">
            <a:extLst xmlns:a="http://schemas.openxmlformats.org/drawingml/2006/main">
              <a:ext uri="{FF2B5EF4-FFF2-40B4-BE49-F238E27FC236}">
                <a16:creationId xmlns:a16="http://schemas.microsoft.com/office/drawing/2014/main" id="{0A662E09-7CDF-42FB-9A34-0DC87B79944B}"/>
              </a:ext>
            </a:extLst>
          </p:cNvPr>
          <p:cNvSpPr>
            <a:spLocks xmlns:a="http://schemas.openxmlformats.org/drawingml/2006/main" noGrp="1"/>
          </p:cNvSpPr>
          <p:nvPr/>
        </p:nvSpPr>
        <p:spPr>
          <a:xfrm xmlns:a="http://schemas.openxmlformats.org/drawingml/2006/main">
            <a:off x="9413252" y="8214318"/>
            <a:ext cx="4925314"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0">
                <a:solidFill>
                  <a:srgbClr val="28332F"/>
                </a:solidFill>
                <a:latin typeface="Arial"/>
                <a:ea typeface="Arial"/>
                <a:cs typeface="Arial"/>
              </a:defRPr>
            </a:pPr>
            <a:r>
              <a:rPr sz="2394" b="0">
                <a:solidFill>
                  <a:srgbClr val="28332F"/>
                </a:solidFill>
                <a:latin typeface="Arial"/>
                <a:ea typeface="Arial"/>
                <a:cs typeface="Arial"/>
              </a:rPr>
              <a:t>Motor drivers, encoders and pusher</a:t>
            </a:r>
          </a:p>
        </p:txBody>
      </p:sp>
      <p:sp>
        <p:nvSpPr>
          <p:cNvPr id="34" name="Diagram path">
            <a:extLst xmlns:a="http://schemas.openxmlformats.org/drawingml/2006/main">
              <a:ext uri="{FF2B5EF4-FFF2-40B4-BE49-F238E27FC236}">
                <a16:creationId xmlns:a16="http://schemas.microsoft.com/office/drawing/2014/main" id="{1CB896B1-C0F9-44C2-8CEB-DBDADFC4EB3C}"/>
              </a:ext>
            </a:extLst>
          </p:cNvPr>
          <p:cNvSpPr>
            <a:spLocks xmlns:a="http://schemas.openxmlformats.org/drawingml/2006/main" noGrp="1"/>
          </p:cNvSpPr>
          <p:nvPr/>
        </p:nvSpPr>
        <p:spPr>
          <a:xfrm xmlns:a="http://schemas.openxmlformats.org/drawingml/2006/main">
            <a:off x="14937543" y="6828173"/>
            <a:ext cx="1063917" cy="1557878"/>
          </a:xfrm>
          <a:custGeom xmlns:a="http://schemas.openxmlformats.org/drawingml/2006/main">
            <a:pathLst>
              <a:path w="1063917" h="1557878">
                <a:moveTo>
                  <a:pt x="0" y="1557878"/>
                </a:moveTo>
                <a:lnTo>
                  <a:pt x="28351" y="1557878"/>
                </a:lnTo>
                <a:lnTo>
                  <a:pt x="56701" y="1557878"/>
                </a:lnTo>
                <a:lnTo>
                  <a:pt x="85052" y="1557878"/>
                </a:lnTo>
                <a:lnTo>
                  <a:pt x="113402" y="1557878"/>
                </a:lnTo>
                <a:lnTo>
                  <a:pt x="141753" y="1557878"/>
                </a:lnTo>
                <a:lnTo>
                  <a:pt x="170103" y="1557878"/>
                </a:lnTo>
                <a:lnTo>
                  <a:pt x="198454" y="1557878"/>
                </a:lnTo>
                <a:lnTo>
                  <a:pt x="226804" y="1557878"/>
                </a:lnTo>
                <a:lnTo>
                  <a:pt x="255155" y="1557878"/>
                </a:lnTo>
                <a:lnTo>
                  <a:pt x="283505" y="1557878"/>
                </a:lnTo>
                <a:lnTo>
                  <a:pt x="311856" y="1557878"/>
                </a:lnTo>
                <a:lnTo>
                  <a:pt x="340206" y="1557878"/>
                </a:lnTo>
                <a:lnTo>
                  <a:pt x="368557" y="1557878"/>
                </a:lnTo>
                <a:lnTo>
                  <a:pt x="396907" y="1557878"/>
                </a:lnTo>
                <a:lnTo>
                  <a:pt x="425258" y="1557878"/>
                </a:lnTo>
                <a:lnTo>
                  <a:pt x="453608" y="1557878"/>
                </a:lnTo>
                <a:lnTo>
                  <a:pt x="481959" y="1557878"/>
                </a:lnTo>
                <a:lnTo>
                  <a:pt x="510309" y="1557878"/>
                </a:lnTo>
                <a:lnTo>
                  <a:pt x="538660" y="1557878"/>
                </a:lnTo>
                <a:lnTo>
                  <a:pt x="567010" y="1557878"/>
                </a:lnTo>
                <a:lnTo>
                  <a:pt x="595361" y="1557878"/>
                </a:lnTo>
                <a:lnTo>
                  <a:pt x="623711" y="1557878"/>
                </a:lnTo>
                <a:lnTo>
                  <a:pt x="652062" y="1557878"/>
                </a:lnTo>
                <a:lnTo>
                  <a:pt x="680412" y="1557878"/>
                </a:lnTo>
                <a:lnTo>
                  <a:pt x="708763" y="1557878"/>
                </a:lnTo>
                <a:lnTo>
                  <a:pt x="737113" y="1557878"/>
                </a:lnTo>
                <a:lnTo>
                  <a:pt x="765464" y="1557878"/>
                </a:lnTo>
                <a:lnTo>
                  <a:pt x="793814" y="1557878"/>
                </a:lnTo>
                <a:lnTo>
                  <a:pt x="822165" y="1557878"/>
                </a:lnTo>
                <a:lnTo>
                  <a:pt x="850515" y="1557878"/>
                </a:lnTo>
                <a:lnTo>
                  <a:pt x="878866" y="1557878"/>
                </a:lnTo>
                <a:lnTo>
                  <a:pt x="907216" y="1557878"/>
                </a:lnTo>
                <a:lnTo>
                  <a:pt x="935567" y="1557878"/>
                </a:lnTo>
                <a:lnTo>
                  <a:pt x="963917" y="1557878"/>
                </a:lnTo>
                <a:lnTo>
                  <a:pt x="992268" y="1557878"/>
                </a:lnTo>
                <a:lnTo>
                  <a:pt x="1020618" y="1557878"/>
                </a:lnTo>
                <a:lnTo>
                  <a:pt x="1048968" y="1557878"/>
                </a:lnTo>
                <a:lnTo>
                  <a:pt x="1063917" y="1544476"/>
                </a:lnTo>
                <a:lnTo>
                  <a:pt x="1063917" y="1516125"/>
                </a:lnTo>
                <a:lnTo>
                  <a:pt x="1063917" y="1487775"/>
                </a:lnTo>
                <a:lnTo>
                  <a:pt x="1063917" y="1459424"/>
                </a:lnTo>
                <a:lnTo>
                  <a:pt x="1063917" y="1431074"/>
                </a:lnTo>
                <a:lnTo>
                  <a:pt x="1063917" y="1402724"/>
                </a:lnTo>
                <a:lnTo>
                  <a:pt x="1063917" y="1374373"/>
                </a:lnTo>
                <a:lnTo>
                  <a:pt x="1063917" y="1346023"/>
                </a:lnTo>
                <a:lnTo>
                  <a:pt x="1063917" y="1317672"/>
                </a:lnTo>
                <a:lnTo>
                  <a:pt x="1063917" y="1289322"/>
                </a:lnTo>
                <a:lnTo>
                  <a:pt x="1063917" y="1260971"/>
                </a:lnTo>
                <a:lnTo>
                  <a:pt x="1063917" y="1232621"/>
                </a:lnTo>
                <a:lnTo>
                  <a:pt x="1063917" y="1204270"/>
                </a:lnTo>
                <a:lnTo>
                  <a:pt x="1063917" y="1175920"/>
                </a:lnTo>
                <a:lnTo>
                  <a:pt x="1063917" y="1147569"/>
                </a:lnTo>
                <a:lnTo>
                  <a:pt x="1063917" y="1119219"/>
                </a:lnTo>
                <a:lnTo>
                  <a:pt x="1063917" y="1090868"/>
                </a:lnTo>
                <a:lnTo>
                  <a:pt x="1063917" y="1062518"/>
                </a:lnTo>
                <a:lnTo>
                  <a:pt x="1063917" y="1034167"/>
                </a:lnTo>
                <a:lnTo>
                  <a:pt x="1063917" y="1005817"/>
                </a:lnTo>
                <a:lnTo>
                  <a:pt x="1063917" y="977466"/>
                </a:lnTo>
                <a:lnTo>
                  <a:pt x="1063917" y="949116"/>
                </a:lnTo>
                <a:lnTo>
                  <a:pt x="1063917" y="920765"/>
                </a:lnTo>
                <a:lnTo>
                  <a:pt x="1063917" y="892415"/>
                </a:lnTo>
                <a:lnTo>
                  <a:pt x="1063917" y="864064"/>
                </a:lnTo>
                <a:lnTo>
                  <a:pt x="1063917" y="835714"/>
                </a:lnTo>
                <a:lnTo>
                  <a:pt x="1063917" y="807363"/>
                </a:lnTo>
                <a:lnTo>
                  <a:pt x="1063917" y="779013"/>
                </a:lnTo>
                <a:lnTo>
                  <a:pt x="1063917" y="750662"/>
                </a:lnTo>
                <a:lnTo>
                  <a:pt x="1063917" y="722312"/>
                </a:lnTo>
                <a:lnTo>
                  <a:pt x="1063917" y="693961"/>
                </a:lnTo>
                <a:lnTo>
                  <a:pt x="1063917" y="665611"/>
                </a:lnTo>
                <a:lnTo>
                  <a:pt x="1063917" y="637260"/>
                </a:lnTo>
                <a:lnTo>
                  <a:pt x="1063917" y="608910"/>
                </a:lnTo>
                <a:lnTo>
                  <a:pt x="1063917" y="580559"/>
                </a:lnTo>
                <a:lnTo>
                  <a:pt x="1063917" y="552209"/>
                </a:lnTo>
                <a:lnTo>
                  <a:pt x="1063917" y="523858"/>
                </a:lnTo>
                <a:lnTo>
                  <a:pt x="1063917" y="495508"/>
                </a:lnTo>
                <a:lnTo>
                  <a:pt x="1063917" y="467157"/>
                </a:lnTo>
                <a:lnTo>
                  <a:pt x="1063917" y="438807"/>
                </a:lnTo>
                <a:lnTo>
                  <a:pt x="1063917" y="410456"/>
                </a:lnTo>
                <a:lnTo>
                  <a:pt x="1063917" y="382106"/>
                </a:lnTo>
                <a:lnTo>
                  <a:pt x="1063917" y="353755"/>
                </a:lnTo>
                <a:lnTo>
                  <a:pt x="1063917" y="325405"/>
                </a:lnTo>
                <a:lnTo>
                  <a:pt x="1063917" y="297054"/>
                </a:lnTo>
                <a:lnTo>
                  <a:pt x="1063917" y="268704"/>
                </a:lnTo>
                <a:lnTo>
                  <a:pt x="1063917" y="240353"/>
                </a:lnTo>
                <a:lnTo>
                  <a:pt x="1063917" y="212003"/>
                </a:lnTo>
                <a:lnTo>
                  <a:pt x="1063917" y="183652"/>
                </a:lnTo>
                <a:lnTo>
                  <a:pt x="1063917" y="155302"/>
                </a:lnTo>
                <a:lnTo>
                  <a:pt x="1063917" y="126951"/>
                </a:lnTo>
                <a:lnTo>
                  <a:pt x="1063917" y="98601"/>
                </a:lnTo>
                <a:lnTo>
                  <a:pt x="1063917" y="70250"/>
                </a:lnTo>
                <a:lnTo>
                  <a:pt x="1063917" y="41900"/>
                </a:lnTo>
                <a:lnTo>
                  <a:pt x="1063917" y="13549"/>
                </a:lnTo>
                <a:lnTo>
                  <a:pt x="1049116" y="0"/>
                </a:lnTo>
                <a:lnTo>
                  <a:pt x="1020765" y="0"/>
                </a:lnTo>
                <a:lnTo>
                  <a:pt x="992415" y="0"/>
                </a:lnTo>
                <a:lnTo>
                  <a:pt x="964064" y="0"/>
                </a:lnTo>
                <a:lnTo>
                  <a:pt x="935714" y="0"/>
                </a:lnTo>
                <a:lnTo>
                  <a:pt x="907363" y="0"/>
                </a:lnTo>
                <a:lnTo>
                  <a:pt x="879013" y="0"/>
                </a:lnTo>
                <a:lnTo>
                  <a:pt x="850662" y="0"/>
                </a:lnTo>
                <a:lnTo>
                  <a:pt x="822312" y="0"/>
                </a:lnTo>
                <a:lnTo>
                  <a:pt x="793961" y="0"/>
                </a:lnTo>
                <a:lnTo>
                  <a:pt x="765611" y="0"/>
                </a:lnTo>
                <a:lnTo>
                  <a:pt x="737260" y="0"/>
                </a:lnTo>
                <a:lnTo>
                  <a:pt x="708910" y="0"/>
                </a:lnTo>
                <a:lnTo>
                  <a:pt x="680559" y="0"/>
                </a:lnTo>
                <a:lnTo>
                  <a:pt x="652209" y="0"/>
                </a:lnTo>
                <a:lnTo>
                  <a:pt x="623858" y="0"/>
                </a:lnTo>
                <a:lnTo>
                  <a:pt x="595508" y="0"/>
                </a:lnTo>
                <a:lnTo>
                  <a:pt x="567157" y="0"/>
                </a:lnTo>
                <a:lnTo>
                  <a:pt x="538807" y="0"/>
                </a:lnTo>
                <a:lnTo>
                  <a:pt x="510456" y="0"/>
                </a:lnTo>
                <a:lnTo>
                  <a:pt x="482106" y="0"/>
                </a:lnTo>
                <a:lnTo>
                  <a:pt x="453755" y="0"/>
                </a:lnTo>
                <a:lnTo>
                  <a:pt x="425405" y="0"/>
                </a:lnTo>
                <a:lnTo>
                  <a:pt x="397054" y="0"/>
                </a:lnTo>
                <a:lnTo>
                  <a:pt x="368704" y="0"/>
                </a:lnTo>
                <a:lnTo>
                  <a:pt x="340353" y="0"/>
                </a:lnTo>
                <a:lnTo>
                  <a:pt x="312003" y="0"/>
                </a:lnTo>
                <a:lnTo>
                  <a:pt x="283652" y="0"/>
                </a:lnTo>
                <a:lnTo>
                  <a:pt x="255302" y="0"/>
                </a:lnTo>
                <a:lnTo>
                  <a:pt x="226951" y="0"/>
                </a:lnTo>
                <a:lnTo>
                  <a:pt x="198601" y="0"/>
                </a:lnTo>
                <a:lnTo>
                  <a:pt x="170250" y="0"/>
                </a:lnTo>
                <a:lnTo>
                  <a:pt x="141900" y="0"/>
                </a:lnTo>
                <a:lnTo>
                  <a:pt x="113549" y="0"/>
                </a:lnTo>
                <a:lnTo>
                  <a:pt x="85199" y="0"/>
                </a:lnTo>
                <a:lnTo>
                  <a:pt x="56848" y="0"/>
                </a:lnTo>
                <a:lnTo>
                  <a:pt x="28498" y="0"/>
                </a:lnTo>
              </a:path>
            </a:pathLst>
          </a:custGeom>
          <a:noFill xmlns:a="http://schemas.openxmlformats.org/drawingml/2006/main"/>
          <a:ln xmlns:a="http://schemas.openxmlformats.org/drawingml/2006/main" w="18999">
            <a:solidFill>
              <a:srgbClr val="9AAA9A"/>
            </a:solidFill>
            <a:prstDash val="solid"/>
          </a:ln>
        </p:spPr>
      </p:sp>
      <p:sp>
        <p:nvSpPr>
          <p:cNvPr id="35" name="Route arrowhead">
            <a:extLst xmlns:a="http://schemas.openxmlformats.org/drawingml/2006/main">
              <a:ext uri="{FF2B5EF4-FFF2-40B4-BE49-F238E27FC236}">
                <a16:creationId xmlns:a16="http://schemas.microsoft.com/office/drawing/2014/main" id="{D282C121-EF19-4981-B596-0D5086D9DFC2}"/>
              </a:ext>
            </a:extLst>
          </p:cNvPr>
          <p:cNvSpPr>
            <a:spLocks xmlns:a="http://schemas.openxmlformats.org/drawingml/2006/main" noGrp="1"/>
          </p:cNvSpPr>
          <p:nvPr/>
        </p:nvSpPr>
        <p:spPr>
          <a:xfrm xmlns:a="http://schemas.openxmlformats.org/drawingml/2006/main">
            <a:off x="14966040" y="6771178"/>
            <a:ext cx="113991" cy="113991"/>
          </a:xfrm>
          <a:custGeom xmlns:a="http://schemas.openxmlformats.org/drawingml/2006/main">
            <a:pathLst>
              <a:path w="113991" h="113991">
                <a:moveTo>
                  <a:pt x="113991" y="113991"/>
                </a:moveTo>
                <a:lnTo>
                  <a:pt x="0" y="56996"/>
                </a:lnTo>
                <a:lnTo>
                  <a:pt x="113991" y="0"/>
                </a:lnTo>
              </a:path>
            </a:pathLst>
          </a:custGeom>
          <a:noFill xmlns:a="http://schemas.openxmlformats.org/drawingml/2006/main"/>
          <a:ln xmlns:a="http://schemas.openxmlformats.org/drawingml/2006/main" w="28498">
            <a:solidFill>
              <a:srgbClr val="9AAA9A"/>
            </a:solidFill>
            <a:prstDash val="solid"/>
          </a:ln>
        </p:spPr>
      </p:sp>
      <p:sp>
        <p:nvSpPr>
          <p:cNvPr id="36" name="Wheel">
            <a:extLst xmlns:a="http://schemas.openxmlformats.org/drawingml/2006/main">
              <a:ext uri="{FF2B5EF4-FFF2-40B4-BE49-F238E27FC236}">
                <a16:creationId xmlns:a16="http://schemas.microsoft.com/office/drawing/2014/main" id="{93640219-C9A8-469C-A78A-20FC75AA96AE}"/>
              </a:ext>
            </a:extLst>
          </p:cNvPr>
          <p:cNvSpPr>
            <a:spLocks xmlns:a="http://schemas.openxmlformats.org/drawingml/2006/main" noGrp="1"/>
          </p:cNvSpPr>
          <p:nvPr/>
        </p:nvSpPr>
        <p:spPr>
          <a:xfrm xmlns:a="http://schemas.openxmlformats.org/drawingml/2006/main">
            <a:off x="15165524" y="7350066"/>
            <a:ext cx="760512" cy="3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54"/>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Wheel</a:t>
            </a:r>
          </a:p>
        </p:txBody>
      </p:sp>
      <p:sp>
        <p:nvSpPr>
          <p:cNvPr id="37" name="speed">
            <a:extLst xmlns:a="http://schemas.openxmlformats.org/drawingml/2006/main">
              <a:ext uri="{FF2B5EF4-FFF2-40B4-BE49-F238E27FC236}">
                <a16:creationId xmlns:a16="http://schemas.microsoft.com/office/drawing/2014/main" id="{A34391E3-AF1E-40BF-B7EB-C8DC52343CC7}"/>
              </a:ext>
            </a:extLst>
          </p:cNvPr>
          <p:cNvSpPr>
            <a:spLocks xmlns:a="http://schemas.openxmlformats.org/drawingml/2006/main" noGrp="1"/>
          </p:cNvSpPr>
          <p:nvPr/>
        </p:nvSpPr>
        <p:spPr>
          <a:xfrm xmlns:a="http://schemas.openxmlformats.org/drawingml/2006/main">
            <a:off x="15165524" y="7654042"/>
            <a:ext cx="735360" cy="3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54"/>
              </a:lnSpc>
              <a:spcBef>
                <a:spcPts val="0"/>
              </a:spcBef>
              <a:spcAft>
                <a:spcPts val="0"/>
              </a:spcAft>
              <a:buNone/>
              <a:defRPr sz="1795" b="0">
                <a:solidFill>
                  <a:srgbClr val="75827C"/>
                </a:solidFill>
                <a:latin typeface="Arial"/>
                <a:ea typeface="Arial"/>
                <a:cs typeface="Arial"/>
              </a:defRPr>
            </a:pPr>
            <a:r>
              <a:rPr sz="1795" b="0">
                <a:solidFill>
                  <a:srgbClr val="75827C"/>
                </a:solidFill>
                <a:latin typeface="Arial"/>
                <a:ea typeface="Arial"/>
                <a:cs typeface="Arial"/>
              </a:rPr>
              <a:t>speed</a:t>
            </a:r>
          </a:p>
        </p:txBody>
      </p:sp>
    </p:spTree>
    <p:extLst>
      <p:ext uri="{BB962C8B-B14F-4D97-AF65-F5344CB8AC3E}">
        <p14:creationId xmlns:p14="http://schemas.microsoft.com/office/powerpoint/2010/main" val="1351285439"/>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0" name="Section rule">
            <a:extLst xmlns:a="http://schemas.openxmlformats.org/drawingml/2006/main">
              <a:ext uri="{FF2B5EF4-FFF2-40B4-BE49-F238E27FC236}">
                <a16:creationId xmlns:a16="http://schemas.microsoft.com/office/drawing/2014/main" id="{84C0C2A7-62CF-43AC-843E-F774E1D48E7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lide title">
            <a:extLst xmlns:a="http://schemas.openxmlformats.org/drawingml/2006/main">
              <a:ext uri="{FF2B5EF4-FFF2-40B4-BE49-F238E27FC236}">
                <a16:creationId xmlns:a16="http://schemas.microsoft.com/office/drawing/2014/main" id="{37F8C495-8578-46AC-BD2E-CDC197C8FF77}"/>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Current progress: design outlined, hardware pending</a:t>
            </a:r>
          </a:p>
        </p:txBody>
      </p:sp>
      <p:sp>
        <p:nvSpPr>
          <p:cNvPr id="3" name="Work so far covers requirements, system roles and pushing strateg">
            <a:extLst xmlns:a="http://schemas.openxmlformats.org/drawingml/2006/main">
              <a:ext uri="{FF2B5EF4-FFF2-40B4-BE49-F238E27FC236}">
                <a16:creationId xmlns:a16="http://schemas.microsoft.com/office/drawing/2014/main" id="{F88E813C-3BB4-4317-98AF-AB87A83A0E0C}"/>
              </a:ext>
            </a:extLst>
          </p:cNvPr>
          <p:cNvSpPr>
            <a:spLocks xmlns:a="http://schemas.openxmlformats.org/drawingml/2006/main" noGrp="1"/>
          </p:cNvSpPr>
          <p:nvPr/>
        </p:nvSpPr>
        <p:spPr>
          <a:xfrm xmlns:a="http://schemas.openxmlformats.org/drawingml/2006/main">
            <a:off x="857250" y="2392561"/>
            <a:ext cx="16649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Work so far covers requirements, system roles and pushing strategy.</a:t>
            </a:r>
          </a:p>
        </p:txBody>
      </p:sp>
      <p:graphicFrame>
        <p:nvGraphicFramePr>
          <p:cNvPr id="15" name=""/>
          <p:cNvGraphicFramePr/>
          <p:nvPr/>
        </p:nvGraphicFramePr>
        <p:xfrm>
          <a:off xmlns:a="http://schemas.openxmlformats.org/drawingml/2006/main" x="857250" y="3135511"/>
          <a:ext xmlns:a="http://schemas.openxmlformats.org/drawingml/2006/main" cx="16573500" cy="6200031"/>
        </p:xfrm>
        <a:graphic xmlns:a="http://schemas.openxmlformats.org/drawingml/2006/main">
          <a:graphicData uri="http://schemas.openxmlformats.org/drawingml/2006/table">
            <a:tbl>
              <a:tblPr firstRow="0" firstCol="0" bandRow="0" bandCol="0"/>
              <a:tblGrid>
                <a:gridCol w="3646140"/>
                <a:gridCol w="6463605"/>
                <a:gridCol w="6463754"/>
              </a:tblGrid>
              <a:tr h="791021">
                <a:tc>
                  <a:txBody>
                    <a:bodyPr wrap="square" lIns="228600" tIns="0" rIns="228600" bIns="0">
                      <a:noAutofit/>
                    </a:bodyPr>
                    <a:lstStyle/>
                    <a:p>
                      <a:pPr algn="l">
                        <a:lnSpc>
                          <a:spcPts val="3341"/>
                        </a:lnSpc>
                        <a:buNone/>
                      </a:pPr>
                      <a:r>
                        <a:rPr sz="2025" b="0">
                          <a:solidFill>
                            <a:srgbClr val="718076"/>
                          </a:solidFill>
                          <a:latin typeface="Arial"/>
                          <a:ea typeface="Arial"/>
                          <a:cs typeface="Arial"/>
                        </a:rPr>
                        <a:t>Work area</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Current progress</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Next step</a:t>
                      </a:r>
                    </a:p>
                  </a:txBody>
                  <a:tcPr marL="228600" marR="228600" marT="0" marB="0" anchor="ctr">
                    <a:solidFill>
                      <a:srgbClr val="EEF1E9"/>
                    </a:solidFill>
                  </a:tcPr>
                </a:tc>
              </a:tr>
              <a:tr h="1266825">
                <a:tc>
                  <a:txBody>
                    <a:bodyPr wrap="square" lIns="228600" tIns="0" rIns="228600" bIns="0">
                      <a:noAutofit/>
                    </a:bodyPr>
                    <a:lstStyle/>
                    <a:p>
                      <a:pPr algn="l">
                        <a:lnSpc>
                          <a:spcPts val="3712"/>
                        </a:lnSpc>
                        <a:buNone/>
                      </a:pPr>
                      <a:r>
                        <a:rPr sz="2250" b="1">
                          <a:solidFill>
                            <a:srgbClr val="34695B"/>
                          </a:solidFill>
                          <a:latin typeface="Arial"/>
                          <a:ea typeface="Arial"/>
                          <a:cs typeface="Arial"/>
                        </a:rPr>
                        <a:t>Match requirements</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EDIT TEST: table cell</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Confirm pusher size limits and scoring details</a:t>
                      </a:r>
                    </a:p>
                  </a:txBody>
                  <a:tcPr marL="228600" marR="228600" marT="0" marB="0" anchor="ctr">
                    <a:solidFill>
                      <a:srgbClr val="000000">
                        <a:alpha val="0"/>
                      </a:srgbClr>
                    </a:solidFill>
                  </a:tcPr>
                </a:tc>
              </a:tr>
              <a:tr h="1435298">
                <a:tc>
                  <a:txBody>
                    <a:bodyPr wrap="square" lIns="228600" tIns="0" rIns="228600" bIns="0">
                      <a:noAutofit/>
                    </a:bodyPr>
                    <a:lstStyle/>
                    <a:p>
                      <a:pPr algn="l">
                        <a:lnSpc>
                          <a:spcPts val="3712"/>
                        </a:lnSpc>
                        <a:buNone/>
                      </a:pPr>
                      <a:r>
                        <a:rPr sz="2250" b="1">
                          <a:solidFill>
                            <a:srgbClr val="34695B"/>
                          </a:solidFill>
                          <a:latin typeface="Arial"/>
                          <a:ea typeface="Arial"/>
                          <a:cs typeface="Arial"/>
                        </a:rPr>
                        <a:t>System architecture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Vision, planning and control roles defined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Agree on coordinates, messages and fault handling</a:t>
                      </a:r>
                    </a:p>
                  </a:txBody>
                  <a:tcPr marL="228600" marR="228600" marT="0" marB="0" anchor="ctr">
                    <a:solidFill>
                      <a:srgbClr val="000000">
                        <a:alpha val="0"/>
                      </a:srgbClr>
                    </a:solidFill>
                  </a:tcPr>
                </a:tc>
              </a:tr>
              <a:tr h="1435298">
                <a:tc>
                  <a:txBody>
                    <a:bodyPr wrap="square" lIns="228600" tIns="0" rIns="228600" bIns="0">
                      <a:noAutofit/>
                    </a:bodyPr>
                    <a:lstStyle/>
                    <a:p>
                      <a:pPr algn="l">
                        <a:lnSpc>
                          <a:spcPts val="3712"/>
                        </a:lnSpc>
                        <a:buNone/>
                      </a:pPr>
                      <a:r>
                        <a:rPr sz="2250" b="1">
                          <a:solidFill>
                            <a:srgbClr val="34695B"/>
                          </a:solidFill>
                          <a:latin typeface="Arial"/>
                          <a:ea typeface="Arial"/>
                          <a:cs typeface="Arial"/>
                        </a:rPr>
                        <a:t>Pushing strategy</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Three match phases and one push cycle outlined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Check feasibility through scenarios and prototypes</a:t>
                      </a:r>
                    </a:p>
                  </a:txBody>
                  <a:tcPr marL="228600" marR="228600" marT="0" marB="0" anchor="ctr">
                    <a:solidFill>
                      <a:srgbClr val="000000">
                        <a:alpha val="0"/>
                      </a:srgbClr>
                    </a:solidFill>
                  </a:tcPr>
                </a:tc>
              </a:tr>
              <a:tr h="1266825">
                <a:tc>
                  <a:txBody>
                    <a:bodyPr wrap="square" lIns="228600" tIns="0" rIns="228600" bIns="0">
                      <a:noAutofit/>
                    </a:bodyPr>
                    <a:lstStyle/>
                    <a:p>
                      <a:pPr algn="l">
                        <a:lnSpc>
                          <a:spcPts val="3712"/>
                        </a:lnSpc>
                        <a:buNone/>
                      </a:pPr>
                      <a:r>
                        <a:rPr sz="2250" b="1">
                          <a:solidFill>
                            <a:srgbClr val="34695B"/>
                          </a:solidFill>
                          <a:latin typeface="Arial"/>
                          <a:ea typeface="Arial"/>
                          <a:cs typeface="Arial"/>
                        </a:rPr>
                        <a:t>Hardware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Candidates under review, no final selection</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Check dimensions, power, drivers and encoders</a:t>
                      </a:r>
                    </a:p>
                  </a:txBody>
                  <a:tcPr marL="228600" marR="228600" marT="0" marB="0" anchor="ctr">
                    <a:solidFill>
                      <a:srgbClr val="000000">
                        <a:alpha val="0"/>
                      </a:srgbClr>
                    </a:solidFill>
                  </a:tcPr>
                </a:tc>
              </a:tr>
            </a:tbl>
          </a:graphicData>
        </a:graphic>
      </p:graphicFrame>
      <p:sp>
        <p:nvSpPr>
          <p:cNvPr id="5" name="Table row divider">
            <a:extLst xmlns:a="http://schemas.openxmlformats.org/drawingml/2006/main">
              <a:ext uri="{FF2B5EF4-FFF2-40B4-BE49-F238E27FC236}">
                <a16:creationId xmlns:a16="http://schemas.microsoft.com/office/drawing/2014/main" id="{F26BCB6D-B3D5-4C2C-9ABE-E224C93D8D98}"/>
              </a:ext>
            </a:extLst>
          </p:cNvPr>
          <p:cNvSpPr>
            <a:spLocks xmlns:a="http://schemas.openxmlformats.org/drawingml/2006/main" noGrp="1"/>
          </p:cNvSpPr>
          <p:nvPr/>
        </p:nvSpPr>
        <p:spPr>
          <a:xfrm xmlns:a="http://schemas.openxmlformats.org/drawingml/2006/main">
            <a:off x="857250" y="3926532"/>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6" name="Table row divider">
            <a:extLst xmlns:a="http://schemas.openxmlformats.org/drawingml/2006/main">
              <a:ext uri="{FF2B5EF4-FFF2-40B4-BE49-F238E27FC236}">
                <a16:creationId xmlns:a16="http://schemas.microsoft.com/office/drawing/2014/main" id="{3DB85BD7-A085-463A-B336-A2083C7B3597}"/>
              </a:ext>
            </a:extLst>
          </p:cNvPr>
          <p:cNvSpPr>
            <a:spLocks xmlns:a="http://schemas.openxmlformats.org/drawingml/2006/main" noGrp="1"/>
          </p:cNvSpPr>
          <p:nvPr/>
        </p:nvSpPr>
        <p:spPr>
          <a:xfrm xmlns:a="http://schemas.openxmlformats.org/drawingml/2006/main">
            <a:off x="857250" y="5193357"/>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7" name="Table row divider">
            <a:extLst xmlns:a="http://schemas.openxmlformats.org/drawingml/2006/main">
              <a:ext uri="{FF2B5EF4-FFF2-40B4-BE49-F238E27FC236}">
                <a16:creationId xmlns:a16="http://schemas.microsoft.com/office/drawing/2014/main" id="{74FF56FE-E5B3-48D6-A8D5-166EB937855F}"/>
              </a:ext>
            </a:extLst>
          </p:cNvPr>
          <p:cNvSpPr>
            <a:spLocks xmlns:a="http://schemas.openxmlformats.org/drawingml/2006/main" noGrp="1"/>
          </p:cNvSpPr>
          <p:nvPr/>
        </p:nvSpPr>
        <p:spPr>
          <a:xfrm xmlns:a="http://schemas.openxmlformats.org/drawingml/2006/main">
            <a:off x="857250" y="6628656"/>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8" name="Table row divider">
            <a:extLst xmlns:a="http://schemas.openxmlformats.org/drawingml/2006/main">
              <a:ext uri="{FF2B5EF4-FFF2-40B4-BE49-F238E27FC236}">
                <a16:creationId xmlns:a16="http://schemas.microsoft.com/office/drawing/2014/main" id="{5E470B70-D877-4045-81B7-7DFAEAAFCA43}"/>
              </a:ext>
            </a:extLst>
          </p:cNvPr>
          <p:cNvSpPr>
            <a:spLocks xmlns:a="http://schemas.openxmlformats.org/drawingml/2006/main" noGrp="1"/>
          </p:cNvSpPr>
          <p:nvPr/>
        </p:nvSpPr>
        <p:spPr>
          <a:xfrm xmlns:a="http://schemas.openxmlformats.org/drawingml/2006/main">
            <a:off x="857250" y="8063954"/>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9" name="Table row divider">
            <a:extLst xmlns:a="http://schemas.openxmlformats.org/drawingml/2006/main">
              <a:ext uri="{FF2B5EF4-FFF2-40B4-BE49-F238E27FC236}">
                <a16:creationId xmlns:a16="http://schemas.microsoft.com/office/drawing/2014/main" id="{728F0E67-1826-4D92-AA72-0FF50A954D0C}"/>
              </a:ext>
            </a:extLst>
          </p:cNvPr>
          <p:cNvSpPr>
            <a:spLocks xmlns:a="http://schemas.openxmlformats.org/drawingml/2006/main" noGrp="1"/>
          </p:cNvSpPr>
          <p:nvPr/>
        </p:nvSpPr>
        <p:spPr>
          <a:xfrm xmlns:a="http://schemas.openxmlformats.org/drawingml/2006/main">
            <a:off x="857250" y="9330779"/>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924956911"/>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3" name="Section rule">
            <a:extLst xmlns:a="http://schemas.openxmlformats.org/drawingml/2006/main">
              <a:ext uri="{FF2B5EF4-FFF2-40B4-BE49-F238E27FC236}">
                <a16:creationId xmlns:a16="http://schemas.microsoft.com/office/drawing/2014/main" id="{BBF94D3F-796C-49A2-BCBE-224807003C3D}"/>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CE1145BB-5431-47BC-824A-829BF3B7ECE3}"/>
              </a:ext>
            </a:extLst>
          </p:cNvPr>
          <p:cNvSpPr>
            <a:spLocks xmlns:a="http://schemas.openxmlformats.org/drawingml/2006/main" noGrp="1"/>
          </p:cNvSpPr>
          <p:nvPr/>
        </p:nvSpPr>
        <p:spPr>
          <a:xfrm xmlns:a="http://schemas.openxmlformats.org/drawingml/2006/main">
            <a:off x="10239375" y="3345061"/>
            <a:ext cx="6905625" cy="9525"/>
          </a:xfrm>
          <a:custGeom xmlns:a="http://schemas.openxmlformats.org/drawingml/2006/main">
            <a:pathLst>
              <a:path w="6905625" h="9525">
                <a:moveTo>
                  <a:pt x="0" y="0"/>
                </a:moveTo>
                <a:lnTo>
                  <a:pt x="6905625" y="0"/>
                </a:lnTo>
              </a:path>
            </a:pathLst>
          </a:custGeom>
          <a:noFill xmlns:a="http://schemas.openxmlformats.org/drawingml/2006/main"/>
          <a:ln xmlns:a="http://schemas.openxmlformats.org/drawingml/2006/main" w="9525">
            <a:solidFill>
              <a:srgbClr val="9FAC9D"/>
            </a:solidFill>
            <a:prstDash val="solid"/>
          </a:ln>
        </p:spPr>
      </p:sp>
      <p:sp>
        <p:nvSpPr>
          <p:cNvPr id="3" name="Slide title">
            <a:extLst xmlns:a="http://schemas.openxmlformats.org/drawingml/2006/main">
              <a:ext uri="{FF2B5EF4-FFF2-40B4-BE49-F238E27FC236}">
                <a16:creationId xmlns:a16="http://schemas.microsoft.com/office/drawing/2014/main" id="{AC6D5A47-A60A-4298-B2B1-04A31F2BF900}"/>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Strategy framework: retained blocks per cycle</a:t>
            </a:r>
          </a:p>
        </p:txBody>
      </p:sp>
      <p:sp>
        <p:nvSpPr>
          <p:cNvPr id="4" name="Identify groups within the pusher width.Then compare expected ret">
            <a:extLst xmlns:a="http://schemas.openxmlformats.org/drawingml/2006/main">
              <a:ext uri="{FF2B5EF4-FFF2-40B4-BE49-F238E27FC236}">
                <a16:creationId xmlns:a16="http://schemas.microsoft.com/office/drawing/2014/main" id="{FE66FC9D-32FB-4138-814F-4D25E493C9C1}"/>
              </a:ext>
            </a:extLst>
          </p:cNvPr>
          <p:cNvSpPr>
            <a:spLocks xmlns:a="http://schemas.openxmlformats.org/drawingml/2006/main" noGrp="1"/>
          </p:cNvSpPr>
          <p:nvPr/>
        </p:nvSpPr>
        <p:spPr>
          <a:xfrm xmlns:a="http://schemas.openxmlformats.org/drawingml/2006/main">
            <a:off x="857250" y="2671167"/>
            <a:ext cx="83153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Identify groups within the pusher width.</a:t>
            </a:r>
          </a:p>
          <a:p xmlns:a="http://schemas.openxmlformats.org/drawingml/2006/main">
            <a:pPr algn="l">
              <a:lnSpc>
                <a:spcPts val="4200"/>
              </a:lnSpc>
              <a:spcBef>
                <a:spcPts val="0"/>
              </a:spcBef>
              <a:spcAft>
                <a:spcPts val="0"/>
              </a:spcAft>
              <a:buNone/>
              <a:defRPr sz="2625" b="0">
                <a:solidFill>
                  <a:srgbClr val="28332F"/>
                </a:solidFill>
                <a:latin typeface="Arial"/>
                <a:ea typeface="Arial"/>
                <a:cs typeface="Arial"/>
              </a:defRPr>
            </a:pPr>
            <a:r>
              <a:rPr sz="2625" b="0">
                <a:solidFill>
                  <a:srgbClr val="28332F"/>
                </a:solidFill>
                <a:latin typeface="Arial"/>
                <a:ea typeface="Arial"/>
                <a:cs typeface="Arial"/>
              </a:rPr>
              <a:t>Then compare </a:t>
            </a:r>
            <a:r>
              <a:rPr sz="2625" b="0">
                <a:solidFill>
                  <a:srgbClr val="34695B"/>
                </a:solidFill>
                <a:latin typeface="Arial"/>
                <a:ea typeface="Arial"/>
                <a:cs typeface="Arial"/>
              </a:rPr>
              <a:t>expected retention and full cycle time.</a:t>
            </a:r>
          </a:p>
        </p:txBody>
      </p:sp>
      <p:sp>
        <p:nvSpPr>
          <p:cNvPr id="5" name="Target comparison">
            <a:extLst xmlns:a="http://schemas.openxmlformats.org/drawingml/2006/main">
              <a:ext uri="{FF2B5EF4-FFF2-40B4-BE49-F238E27FC236}">
                <a16:creationId xmlns:a16="http://schemas.microsoft.com/office/drawing/2014/main" id="{1C4F7963-3D88-4D8E-8361-7978C16D0805}"/>
              </a:ext>
            </a:extLst>
          </p:cNvPr>
          <p:cNvSpPr>
            <a:spLocks xmlns:a="http://schemas.openxmlformats.org/drawingml/2006/main" noGrp="1"/>
          </p:cNvSpPr>
          <p:nvPr/>
        </p:nvSpPr>
        <p:spPr>
          <a:xfrm xmlns:a="http://schemas.openxmlformats.org/drawingml/2006/main">
            <a:off x="12712750" y="2344936"/>
            <a:ext cx="5270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50"/>
              </a:lnSpc>
              <a:spcBef>
                <a:spcPts val="0"/>
              </a:spcBef>
              <a:spcAft>
                <a:spcPts val="0"/>
              </a:spcAft>
              <a:buNone/>
              <a:defRPr sz="1875" b="0">
                <a:solidFill>
                  <a:srgbClr val="718076"/>
                </a:solidFill>
                <a:latin typeface="Arial"/>
                <a:ea typeface="Arial"/>
                <a:cs typeface="Arial"/>
              </a:defRPr>
            </a:pPr>
            <a:r>
              <a:rPr sz="1875" b="0">
                <a:solidFill>
                  <a:srgbClr val="718076"/>
                </a:solidFill>
                <a:latin typeface="Arial"/>
                <a:ea typeface="Arial"/>
                <a:cs typeface="Arial"/>
              </a:rPr>
              <a:t>Target comparison</a:t>
            </a:r>
          </a:p>
        </p:txBody>
      </p:sp>
      <p:sp>
        <p:nvSpPr>
          <p:cNvPr id="6" name="Expected blocks retained">
            <a:extLst xmlns:a="http://schemas.openxmlformats.org/drawingml/2006/main">
              <a:ext uri="{FF2B5EF4-FFF2-40B4-BE49-F238E27FC236}">
                <a16:creationId xmlns:a16="http://schemas.microsoft.com/office/drawing/2014/main" id="{2D62BF00-867F-40FC-87D8-3CDB3EFF9B5A}"/>
              </a:ext>
            </a:extLst>
          </p:cNvPr>
          <p:cNvSpPr>
            <a:spLocks xmlns:a="http://schemas.openxmlformats.org/drawingml/2006/main" noGrp="1"/>
          </p:cNvSpPr>
          <p:nvPr/>
        </p:nvSpPr>
        <p:spPr>
          <a:xfrm xmlns:a="http://schemas.openxmlformats.org/drawingml/2006/main">
            <a:off x="11670060" y="2764036"/>
            <a:ext cx="631314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20"/>
              </a:lnSpc>
              <a:spcBef>
                <a:spcPts val="0"/>
              </a:spcBef>
              <a:spcAft>
                <a:spcPts val="0"/>
              </a:spcAft>
              <a:buNone/>
              <a:defRPr sz="2850" b="0">
                <a:solidFill>
                  <a:srgbClr val="34695B"/>
                </a:solidFill>
                <a:latin typeface="Arial"/>
                <a:ea typeface="Arial"/>
                <a:cs typeface="Arial"/>
              </a:defRPr>
            </a:pPr>
            <a:r>
              <a:rPr sz="2850" b="0">
                <a:solidFill>
                  <a:srgbClr val="34695B"/>
                </a:solidFill>
                <a:latin typeface="Arial"/>
                <a:ea typeface="Arial"/>
                <a:cs typeface="Arial"/>
              </a:rPr>
              <a:t>Expected blocks retained</a:t>
            </a:r>
          </a:p>
        </p:txBody>
      </p:sp>
      <p:sp>
        <p:nvSpPr>
          <p:cNvPr id="7" name="Approach + align + push + release + return">
            <a:extLst xmlns:a="http://schemas.openxmlformats.org/drawingml/2006/main">
              <a:ext uri="{FF2B5EF4-FFF2-40B4-BE49-F238E27FC236}">
                <a16:creationId xmlns:a16="http://schemas.microsoft.com/office/drawing/2014/main" id="{AE71C69E-7E13-4740-BC2D-4B67115EB1F9}"/>
              </a:ext>
            </a:extLst>
          </p:cNvPr>
          <p:cNvSpPr>
            <a:spLocks xmlns:a="http://schemas.openxmlformats.org/drawingml/2006/main" noGrp="1"/>
          </p:cNvSpPr>
          <p:nvPr/>
        </p:nvSpPr>
        <p:spPr>
          <a:xfrm xmlns:a="http://schemas.openxmlformats.org/drawingml/2006/main">
            <a:off x="11337875" y="3545086"/>
            <a:ext cx="6645325"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12"/>
              </a:lnSpc>
              <a:spcBef>
                <a:spcPts val="0"/>
              </a:spcBef>
              <a:spcAft>
                <a:spcPts val="0"/>
              </a:spcAft>
              <a:buNone/>
              <a:defRPr sz="1950" b="0">
                <a:solidFill>
                  <a:srgbClr val="28332F"/>
                </a:solidFill>
                <a:latin typeface="Arial"/>
                <a:ea typeface="Arial"/>
                <a:cs typeface="Arial"/>
              </a:defRPr>
            </a:pPr>
            <a:r>
              <a:rPr sz="1950" b="0">
                <a:solidFill>
                  <a:srgbClr val="28332F"/>
                </a:solidFill>
                <a:latin typeface="Arial"/>
                <a:ea typeface="Arial"/>
                <a:cs typeface="Arial"/>
              </a:rPr>
              <a:t>Approach + align + push + release + return</a:t>
            </a:r>
          </a:p>
        </p:txBody>
      </p:sp>
      <p:graphicFrame>
        <p:nvGraphicFramePr>
          <p:cNvPr id="22" name=""/>
          <p:cNvGraphicFramePr/>
          <p:nvPr/>
        </p:nvGraphicFramePr>
        <p:xfrm>
          <a:off xmlns:a="http://schemas.openxmlformats.org/drawingml/2006/main" x="857250" y="4330898"/>
          <a:ext xmlns:a="http://schemas.openxmlformats.org/drawingml/2006/main" cx="16573500" cy="4624834"/>
        </p:xfrm>
        <a:graphic xmlns:a="http://schemas.openxmlformats.org/drawingml/2006/main">
          <a:graphicData uri="http://schemas.openxmlformats.org/drawingml/2006/table">
            <a:tbl>
              <a:tblPr firstRow="0" firstCol="0" bandRow="0" bandCol="0"/>
              <a:tblGrid>
                <a:gridCol w="2983111"/>
                <a:gridCol w="5952827"/>
                <a:gridCol w="7637562"/>
              </a:tblGrid>
              <a:tr h="791021">
                <a:tc>
                  <a:txBody>
                    <a:bodyPr wrap="square" lIns="228600" tIns="0" rIns="228600" bIns="0">
                      <a:noAutofit/>
                    </a:bodyPr>
                    <a:lstStyle/>
                    <a:p>
                      <a:pPr algn="l">
                        <a:lnSpc>
                          <a:spcPts val="3341"/>
                        </a:lnSpc>
                        <a:buNone/>
                      </a:pPr>
                      <a:r>
                        <a:rPr sz="2025" b="0">
                          <a:solidFill>
                            <a:srgbClr val="718076"/>
                          </a:solidFill>
                          <a:latin typeface="Arial"/>
                          <a:ea typeface="Arial"/>
                          <a:cs typeface="Arial"/>
                        </a:rPr>
                        <a:t>Phase</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Main action</a:t>
                      </a:r>
                    </a:p>
                  </a:txBody>
                  <a:tcPr marL="228600" marR="228600" marT="0" marB="0" anchor="ctr">
                    <a:solidFill>
                      <a:srgbClr val="EEF1E9"/>
                    </a:solidFill>
                  </a:tcPr>
                </a:tc>
                <a:tc>
                  <a:txBody>
                    <a:bodyPr wrap="square" lIns="228600" tIns="0" rIns="228600" bIns="0">
                      <a:noAutofit/>
                    </a:bodyPr>
                    <a:lstStyle/>
                    <a:p>
                      <a:pPr algn="l">
                        <a:lnSpc>
                          <a:spcPts val="3341"/>
                        </a:lnSpc>
                        <a:buNone/>
                      </a:pPr>
                      <a:r>
                        <a:rPr sz="2025" b="0">
                          <a:solidFill>
                            <a:srgbClr val="718076"/>
                          </a:solidFill>
                          <a:latin typeface="Arial"/>
                          <a:ea typeface="Arial"/>
                          <a:cs typeface="Arial"/>
                        </a:rPr>
                        <a:t>Decision focus</a:t>
                      </a:r>
                    </a:p>
                  </a:txBody>
                  <a:tcPr marL="228600" marR="228600" marT="0" marB="0" anchor="ctr">
                    <a:solidFill>
                      <a:srgbClr val="EEF1E9"/>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Opening</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Push the group directly ahead</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Use the starting pose for a quick first transfer</a:t>
                      </a:r>
                    </a:p>
                  </a:txBody>
                  <a:tcPr marL="228600" marR="228600" marT="0" marB="0" anchor="ctr">
                    <a:solidFill>
                      <a:srgbClr val="000000">
                        <a:alpha val="0"/>
                      </a:srgbClr>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Midgame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Collect, protect or recover blocks</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Balance likely gain against opponent interference</a:t>
                      </a:r>
                    </a:p>
                  </a:txBody>
                  <a:tcPr marL="228600" marR="228600" marT="0" marB="0" anchor="ctr">
                    <a:solidFill>
                      <a:srgbClr val="000000">
                        <a:alpha val="0"/>
                      </a:srgbClr>
                    </a:solidFill>
                  </a:tcPr>
                </a:tc>
              </a:tr>
              <a:tr h="1276350">
                <a:tc>
                  <a:txBody>
                    <a:bodyPr wrap="square" lIns="228600" tIns="0" rIns="228600" bIns="0">
                      <a:noAutofit/>
                    </a:bodyPr>
                    <a:lstStyle/>
                    <a:p>
                      <a:pPr algn="l">
                        <a:lnSpc>
                          <a:spcPts val="4579"/>
                        </a:lnSpc>
                        <a:buNone/>
                      </a:pPr>
                      <a:r>
                        <a:rPr sz="2775" b="1">
                          <a:solidFill>
                            <a:srgbClr val="34695B"/>
                          </a:solidFill>
                          <a:latin typeface="Arial"/>
                          <a:ea typeface="Arial"/>
                          <a:cs typeface="Arial"/>
                        </a:rPr>
                        <a:t>Endgame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28332F"/>
                          </a:solidFill>
                          <a:latin typeface="Arial"/>
                          <a:ea typeface="Arial"/>
                          <a:cs typeface="Arial"/>
                        </a:rPr>
                        <a:t>Choose pushes that can finish in time</a:t>
                      </a:r>
                    </a:p>
                  </a:txBody>
                  <a:tcPr marL="228600" marR="228600" marT="0" marB="0" anchor="ctr">
                    <a:solidFill>
                      <a:srgbClr val="000000">
                        <a:alpha val="0"/>
                      </a:srgbClr>
                    </a:solidFill>
                  </a:tcPr>
                </a:tc>
                <a:tc>
                  <a:txBody>
                    <a:bodyPr wrap="square" lIns="228600" tIns="0" rIns="228600" bIns="0">
                      <a:noAutofit/>
                    </a:bodyPr>
                    <a:lstStyle/>
                    <a:p>
                      <a:pPr algn="l">
                        <a:lnSpc>
                          <a:spcPts val="3589"/>
                        </a:lnSpc>
                        <a:buNone/>
                      </a:pPr>
                      <a:r>
                        <a:rPr sz="2175" b="0">
                          <a:solidFill>
                            <a:srgbClr val="718076"/>
                          </a:solidFill>
                          <a:latin typeface="Arial"/>
                          <a:ea typeface="Arial"/>
                          <a:cs typeface="Arial"/>
                        </a:rPr>
                        <a:t>Allow time for the full action and safe braking</a:t>
                      </a:r>
                    </a:p>
                  </a:txBody>
                  <a:tcPr marL="228600" marR="228600" marT="0" marB="0" anchor="ctr">
                    <a:solidFill>
                      <a:srgbClr val="000000">
                        <a:alpha val="0"/>
                      </a:srgbClr>
                    </a:solidFill>
                  </a:tcPr>
                </a:tc>
              </a:tr>
            </a:tbl>
          </a:graphicData>
        </a:graphic>
      </p:graphicFrame>
      <p:sp>
        <p:nvSpPr>
          <p:cNvPr id="9" name="Table row divider">
            <a:extLst xmlns:a="http://schemas.openxmlformats.org/drawingml/2006/main">
              <a:ext uri="{FF2B5EF4-FFF2-40B4-BE49-F238E27FC236}">
                <a16:creationId xmlns:a16="http://schemas.microsoft.com/office/drawing/2014/main" id="{E1FC856B-4859-4875-9A67-DB433A3CA9E0}"/>
              </a:ext>
            </a:extLst>
          </p:cNvPr>
          <p:cNvSpPr>
            <a:spLocks xmlns:a="http://schemas.openxmlformats.org/drawingml/2006/main" noGrp="1"/>
          </p:cNvSpPr>
          <p:nvPr/>
        </p:nvSpPr>
        <p:spPr>
          <a:xfrm xmlns:a="http://schemas.openxmlformats.org/drawingml/2006/main">
            <a:off x="857250" y="512192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0" name="Table row divider">
            <a:extLst xmlns:a="http://schemas.openxmlformats.org/drawingml/2006/main">
              <a:ext uri="{FF2B5EF4-FFF2-40B4-BE49-F238E27FC236}">
                <a16:creationId xmlns:a16="http://schemas.microsoft.com/office/drawing/2014/main" id="{45C2D550-B3F9-4F95-9DF1-5C8DBAC3B436}"/>
              </a:ext>
            </a:extLst>
          </p:cNvPr>
          <p:cNvSpPr>
            <a:spLocks xmlns:a="http://schemas.openxmlformats.org/drawingml/2006/main" noGrp="1"/>
          </p:cNvSpPr>
          <p:nvPr/>
        </p:nvSpPr>
        <p:spPr>
          <a:xfrm xmlns:a="http://schemas.openxmlformats.org/drawingml/2006/main">
            <a:off x="857250" y="639827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1" name="Table row divider">
            <a:extLst xmlns:a="http://schemas.openxmlformats.org/drawingml/2006/main">
              <a:ext uri="{FF2B5EF4-FFF2-40B4-BE49-F238E27FC236}">
                <a16:creationId xmlns:a16="http://schemas.microsoft.com/office/drawing/2014/main" id="{48EF9664-8710-4CD2-9DBB-E7D102BE99EB}"/>
              </a:ext>
            </a:extLst>
          </p:cNvPr>
          <p:cNvSpPr>
            <a:spLocks xmlns:a="http://schemas.openxmlformats.org/drawingml/2006/main" noGrp="1"/>
          </p:cNvSpPr>
          <p:nvPr/>
        </p:nvSpPr>
        <p:spPr>
          <a:xfrm xmlns:a="http://schemas.openxmlformats.org/drawingml/2006/main">
            <a:off x="857250" y="767462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2" name="Table row divider">
            <a:extLst xmlns:a="http://schemas.openxmlformats.org/drawingml/2006/main">
              <a:ext uri="{FF2B5EF4-FFF2-40B4-BE49-F238E27FC236}">
                <a16:creationId xmlns:a16="http://schemas.microsoft.com/office/drawing/2014/main" id="{132B84DF-499C-4F6F-B3D8-32355BE70656}"/>
              </a:ext>
            </a:extLst>
          </p:cNvPr>
          <p:cNvSpPr>
            <a:spLocks xmlns:a="http://schemas.openxmlformats.org/drawingml/2006/main" noGrp="1"/>
          </p:cNvSpPr>
          <p:nvPr/>
        </p:nvSpPr>
        <p:spPr>
          <a:xfrm xmlns:a="http://schemas.openxmlformats.org/drawingml/2006/main">
            <a:off x="857250" y="895097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2049472826"/>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4" name="Section rule">
            <a:extLst xmlns:a="http://schemas.openxmlformats.org/drawingml/2006/main">
              <a:ext uri="{FF2B5EF4-FFF2-40B4-BE49-F238E27FC236}">
                <a16:creationId xmlns:a16="http://schemas.microsoft.com/office/drawing/2014/main" id="{48B0DF10-815D-48AE-B83A-5592BCB78C24}"/>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F8253DBE-572C-49AA-9347-16CFC9E2866D}"/>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0B635520-271E-448B-9147-8643870C78BB}"/>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DE1500F8-D934-4FD7-8DFE-1F8092850FFE}"/>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5D0569DF-03F2-457E-AC18-A437FDF3C5C4}"/>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Opening: first transfer from the starting pose</a:t>
            </a:r>
          </a:p>
        </p:txBody>
      </p:sp>
      <p:sp>
        <p:nvSpPr>
          <p:cNvPr id="6" name="We already face the right direction.Complete a reliable first tra">
            <a:extLst xmlns:a="http://schemas.openxmlformats.org/drawingml/2006/main">
              <a:ext uri="{FF2B5EF4-FFF2-40B4-BE49-F238E27FC236}">
                <a16:creationId xmlns:a16="http://schemas.microsoft.com/office/drawing/2014/main" id="{1A647B53-E2D6-47D0-9AD2-F9F89F7B433F}"/>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We already face the right direction.</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Complete a reliable first transfer.</a:t>
            </a:r>
          </a:p>
        </p:txBody>
      </p:sp>
      <p:sp>
        <p:nvSpPr>
          <p:cNvPr id="7" name="Align and push">
            <a:extLst xmlns:a="http://schemas.openxmlformats.org/drawingml/2006/main">
              <a:ext uri="{FF2B5EF4-FFF2-40B4-BE49-F238E27FC236}">
                <a16:creationId xmlns:a16="http://schemas.microsoft.com/office/drawing/2014/main" id="{D0A04327-C253-4F52-A597-7EE905FC1FB1}"/>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Align and push</a:t>
            </a:r>
          </a:p>
        </p:txBody>
      </p:sp>
      <p:sp>
        <p:nvSpPr>
          <p:cNvPr id="8" name="Push the reachable group ahead. Adjust only when useful.">
            <a:extLst xmlns:a="http://schemas.openxmlformats.org/drawingml/2006/main">
              <a:ext uri="{FF2B5EF4-FFF2-40B4-BE49-F238E27FC236}">
                <a16:creationId xmlns:a16="http://schemas.microsoft.com/office/drawing/2014/main" id="{0D012B21-53D3-46D7-8608-6F41A3D3E78F}"/>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Push the reachable group ahead. Adjust only</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when useful.</a:t>
            </a:r>
          </a:p>
        </p:txBody>
      </p:sp>
      <p:sp>
        <p:nvSpPr>
          <p:cNvPr id="9" name="Back off to release">
            <a:extLst xmlns:a="http://schemas.openxmlformats.org/drawingml/2006/main">
              <a:ext uri="{FF2B5EF4-FFF2-40B4-BE49-F238E27FC236}">
                <a16:creationId xmlns:a16="http://schemas.microsoft.com/office/drawing/2014/main" id="{64AD2210-F36C-4DB7-9FF8-34505106652F}"/>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Back off to release</a:t>
            </a:r>
          </a:p>
        </p:txBody>
      </p:sp>
      <p:sp>
        <p:nvSpPr>
          <p:cNvPr id="10" name="Separate blocks from the pusher before returning.">
            <a:extLst xmlns:a="http://schemas.openxmlformats.org/drawingml/2006/main">
              <a:ext uri="{FF2B5EF4-FFF2-40B4-BE49-F238E27FC236}">
                <a16:creationId xmlns:a16="http://schemas.microsoft.com/office/drawing/2014/main" id="{9BCA92E6-F692-475D-A2C9-1E663BFF98BC}"/>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Separate blocks from the pusher before</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returning.</a:t>
            </a:r>
          </a:p>
        </p:txBody>
      </p:sp>
      <p:sp>
        <p:nvSpPr>
          <p:cNvPr id="11" name="Reposition">
            <a:extLst xmlns:a="http://schemas.openxmlformats.org/drawingml/2006/main">
              <a:ext uri="{FF2B5EF4-FFF2-40B4-BE49-F238E27FC236}">
                <a16:creationId xmlns:a16="http://schemas.microsoft.com/office/drawing/2014/main" id="{E1B46994-A6C7-411E-881C-F3ECB53DB37C}"/>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Reposition</a:t>
            </a:r>
          </a:p>
        </p:txBody>
      </p:sp>
      <p:sp>
        <p:nvSpPr>
          <p:cNvPr id="12" name="Move behind the next target and avoid stored blocks.">
            <a:extLst xmlns:a="http://schemas.openxmlformats.org/drawingml/2006/main">
              <a:ext uri="{FF2B5EF4-FFF2-40B4-BE49-F238E27FC236}">
                <a16:creationId xmlns:a16="http://schemas.microsoft.com/office/drawing/2014/main" id="{FC85FB40-F8C5-4C8A-A3A3-4BD90F5E9402}"/>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Move behind the next target and avoid stored</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blocks.</a:t>
            </a:r>
          </a:p>
        </p:txBody>
      </p:sp>
      <p:sp>
        <p:nvSpPr>
          <p:cNvPr id="13" name="Diagram rect">
            <a:extLst xmlns:a="http://schemas.openxmlformats.org/drawingml/2006/main">
              <a:ext uri="{FF2B5EF4-FFF2-40B4-BE49-F238E27FC236}">
                <a16:creationId xmlns:a16="http://schemas.microsoft.com/office/drawing/2014/main" id="{A55B782E-8BF9-47C0-80D3-E8DB45F6C07B}"/>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7CC35F6D-E28D-428E-B563-010D518FB16B}"/>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D230F61D-B08C-4880-A7DC-51BF6AC8FEB1}"/>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C6905CC4-3E92-486F-A2D2-3628C88E1DE5}"/>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CBAC7EC1-7394-4AF6-9151-D9F9EF517839}"/>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4EE75420-E995-48BC-BFEB-EE82C6959EF4}"/>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111DBD2E-FF88-4A1F-A11A-2A9A625E834F}"/>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809553D6-06E4-43E2-8B5D-59E54DBCB496}"/>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6EF9F190-5703-42B8-A388-2AE6962FC681}"/>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75100AF0-4F1D-4D92-9DAD-22C36285195C}"/>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4AD4EE51-C474-48B9-A5B3-F434D8C365A8}"/>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799056F4-3635-4BA0-8402-67E8A8B1EA58}"/>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0C48919F-0796-4573-B04B-9F69EF7FC3FE}"/>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A9037A8C-9FE3-47E8-952A-5F32120792DB}"/>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46F0E009-1D37-4275-950D-8C1CD5E5C159}"/>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0A00E0DB-CD2E-42A4-9F63-F6205BE15928}"/>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CD2E6D8D-AFB6-4424-88F8-F34772A2F3FB}"/>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58EDD789-59EE-487A-867D-322AFCA0FE70}"/>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FABC7C85-9A42-40BF-8D7F-8F66E4CA9EC3}"/>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39EBBC65-A474-4CB3-A6AC-752596525B8E}"/>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2BF76231-8DC8-4E54-96AF-A7DE281EDB2C}"/>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6E0D1FA6-1DC8-4891-B2F6-DD9089BCF040}"/>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0615F4EB-5149-4681-82D6-5C57DA7CF878}"/>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17068379-3C4D-4E2D-8D8B-2A27B87F3BFC}"/>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5FBFEE67-A4DC-4666-BC31-F0F2E5DCB3C1}"/>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BC589181-40C6-46D1-8F4D-B02A0A2D40CD}"/>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C142E515-49A9-4BF3-BEB9-0E990D1BFB48}"/>
              </a:ext>
            </a:extLst>
          </p:cNvPr>
          <p:cNvSpPr>
            <a:spLocks xmlns:a="http://schemas.openxmlformats.org/drawingml/2006/main" noGrp="1"/>
          </p:cNvSpPr>
          <p:nvPr/>
        </p:nvSpPr>
        <p:spPr>
          <a:xfrm xmlns:a="http://schemas.openxmlformats.org/drawingml/2006/main">
            <a:off x="9247488" y="5061311"/>
            <a:ext cx="2184829" cy="2108835"/>
          </a:xfrm>
          <a:prstGeom xmlns:a="http://schemas.openxmlformats.org/drawingml/2006/main" prst="rect">
            <a:avLst/>
          </a:prstGeom>
          <a:solidFill xmlns:a="http://schemas.openxmlformats.org/drawingml/2006/main">
            <a:srgbClr val="34695B">
              <a:alpha val="6500"/>
            </a:srgbClr>
          </a:solidFill>
          <a:ln xmlns:a="http://schemas.openxmlformats.org/drawingml/2006/main" w="9499">
            <a:noFill/>
            <a:prstDash val="solid"/>
          </a:ln>
        </p:spPr>
      </p:sp>
      <p:sp>
        <p:nvSpPr>
          <p:cNvPr id="40" name="Diagram rect">
            <a:extLst xmlns:a="http://schemas.openxmlformats.org/drawingml/2006/main">
              <a:ext uri="{FF2B5EF4-FFF2-40B4-BE49-F238E27FC236}">
                <a16:creationId xmlns:a16="http://schemas.microsoft.com/office/drawing/2014/main" id="{EE243423-368E-4B24-AA37-2B2368ACD31E}"/>
              </a:ext>
            </a:extLst>
          </p:cNvPr>
          <p:cNvSpPr>
            <a:spLocks xmlns:a="http://schemas.openxmlformats.org/drawingml/2006/main" noGrp="1"/>
          </p:cNvSpPr>
          <p:nvPr/>
        </p:nvSpPr>
        <p:spPr>
          <a:xfrm xmlns:a="http://schemas.openxmlformats.org/drawingml/2006/main">
            <a:off x="8820021"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1" name="Diagram rect">
            <a:extLst xmlns:a="http://schemas.openxmlformats.org/drawingml/2006/main">
              <a:ext uri="{FF2B5EF4-FFF2-40B4-BE49-F238E27FC236}">
                <a16:creationId xmlns:a16="http://schemas.microsoft.com/office/drawing/2014/main" id="{BF195702-A871-47FE-9BFE-DA6698B1CD1E}"/>
              </a:ext>
            </a:extLst>
          </p:cNvPr>
          <p:cNvSpPr>
            <a:spLocks xmlns:a="http://schemas.openxmlformats.org/drawingml/2006/main" noGrp="1"/>
          </p:cNvSpPr>
          <p:nvPr/>
        </p:nvSpPr>
        <p:spPr>
          <a:xfrm xmlns:a="http://schemas.openxmlformats.org/drawingml/2006/main">
            <a:off x="11707795"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2" name="Diagram rect">
            <a:extLst xmlns:a="http://schemas.openxmlformats.org/drawingml/2006/main">
              <a:ext uri="{FF2B5EF4-FFF2-40B4-BE49-F238E27FC236}">
                <a16:creationId xmlns:a16="http://schemas.microsoft.com/office/drawing/2014/main" id="{8F2671C5-B219-46B7-9F7D-A8EF53BEBC18}"/>
              </a:ext>
            </a:extLst>
          </p:cNvPr>
          <p:cNvSpPr>
            <a:spLocks xmlns:a="http://schemas.openxmlformats.org/drawingml/2006/main" noGrp="1"/>
          </p:cNvSpPr>
          <p:nvPr/>
        </p:nvSpPr>
        <p:spPr>
          <a:xfrm xmlns:a="http://schemas.openxmlformats.org/drawingml/2006/main">
            <a:off x="12429739" y="5336790"/>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F1ED57FE-5D98-4AC8-AC70-B7E9DB50ED0A}"/>
              </a:ext>
            </a:extLst>
          </p:cNvPr>
          <p:cNvSpPr>
            <a:spLocks xmlns:a="http://schemas.openxmlformats.org/drawingml/2006/main" noGrp="1"/>
          </p:cNvSpPr>
          <p:nvPr/>
        </p:nvSpPr>
        <p:spPr>
          <a:xfrm xmlns:a="http://schemas.openxmlformats.org/drawingml/2006/main">
            <a:off x="9541965" y="6799676"/>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9366BD7B-518A-4921-965B-5CF432FD277C}"/>
              </a:ext>
            </a:extLst>
          </p:cNvPr>
          <p:cNvSpPr>
            <a:spLocks xmlns:a="http://schemas.openxmlformats.org/drawingml/2006/main" noGrp="1"/>
          </p:cNvSpPr>
          <p:nvPr/>
        </p:nvSpPr>
        <p:spPr>
          <a:xfrm xmlns:a="http://schemas.openxmlformats.org/drawingml/2006/main">
            <a:off x="10263908" y="6875670"/>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26496098-866F-45A2-9BD1-303ED2F3A3D9}"/>
              </a:ext>
            </a:extLst>
          </p:cNvPr>
          <p:cNvSpPr>
            <a:spLocks xmlns:a="http://schemas.openxmlformats.org/drawingml/2006/main" noGrp="1"/>
          </p:cNvSpPr>
          <p:nvPr/>
        </p:nvSpPr>
        <p:spPr>
          <a:xfrm xmlns:a="http://schemas.openxmlformats.org/drawingml/2006/main">
            <a:off x="10985852" y="6799676"/>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A0CCAFA5-B2B7-45E4-A768-9C934DB2DFC1}"/>
              </a:ext>
            </a:extLst>
          </p:cNvPr>
          <p:cNvSpPr>
            <a:spLocks xmlns:a="http://schemas.openxmlformats.org/drawingml/2006/main" noGrp="1"/>
          </p:cNvSpPr>
          <p:nvPr/>
        </p:nvSpPr>
        <p:spPr>
          <a:xfrm xmlns:a="http://schemas.openxmlformats.org/drawingml/2006/main">
            <a:off x="9541965"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A578C658-A710-4779-8ECC-179A7AB680DC}"/>
              </a:ext>
            </a:extLst>
          </p:cNvPr>
          <p:cNvSpPr>
            <a:spLocks xmlns:a="http://schemas.openxmlformats.org/drawingml/2006/main" noGrp="1"/>
          </p:cNvSpPr>
          <p:nvPr/>
        </p:nvSpPr>
        <p:spPr>
          <a:xfrm xmlns:a="http://schemas.openxmlformats.org/drawingml/2006/main">
            <a:off x="10263908"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8" name="Diagram rect">
            <a:extLst xmlns:a="http://schemas.openxmlformats.org/drawingml/2006/main">
              <a:ext uri="{FF2B5EF4-FFF2-40B4-BE49-F238E27FC236}">
                <a16:creationId xmlns:a16="http://schemas.microsoft.com/office/drawing/2014/main" id="{DD58DDD6-2C91-4E96-A242-B27B34185957}"/>
              </a:ext>
            </a:extLst>
          </p:cNvPr>
          <p:cNvSpPr>
            <a:spLocks xmlns:a="http://schemas.openxmlformats.org/drawingml/2006/main" noGrp="1"/>
          </p:cNvSpPr>
          <p:nvPr/>
        </p:nvSpPr>
        <p:spPr>
          <a:xfrm xmlns:a="http://schemas.openxmlformats.org/drawingml/2006/main">
            <a:off x="10985852" y="5336790"/>
            <a:ext cx="132990" cy="132990"/>
          </a:xfrm>
          <a:prstGeom xmlns:a="http://schemas.openxmlformats.org/drawingml/2006/main" prst="rect">
            <a:avLst/>
          </a:prstGeom>
          <a:solidFill xmlns:a="http://schemas.openxmlformats.org/drawingml/2006/main">
            <a:srgbClr val="AFBAB0"/>
          </a:solidFill>
          <a:ln xmlns:a="http://schemas.openxmlformats.org/drawingml/2006/main" w="9499">
            <a:noFill/>
            <a:prstDash val="solid"/>
          </a:ln>
        </p:spPr>
      </p:sp>
      <p:sp>
        <p:nvSpPr>
          <p:cNvPr id="49" name="Diagram circle">
            <a:extLst xmlns:a="http://schemas.openxmlformats.org/drawingml/2006/main">
              <a:ext uri="{FF2B5EF4-FFF2-40B4-BE49-F238E27FC236}">
                <a16:creationId xmlns:a16="http://schemas.microsoft.com/office/drawing/2014/main" id="{BBF7CEDA-CB17-4F2C-B218-FAD5139A0A66}"/>
              </a:ext>
            </a:extLst>
          </p:cNvPr>
          <p:cNvSpPr>
            <a:spLocks xmlns:a="http://schemas.openxmlformats.org/drawingml/2006/main" noGrp="1"/>
          </p:cNvSpPr>
          <p:nvPr/>
        </p:nvSpPr>
        <p:spPr>
          <a:xfrm xmlns:a="http://schemas.openxmlformats.org/drawingml/2006/main">
            <a:off x="10121419" y="4149383"/>
            <a:ext cx="417968" cy="417968"/>
          </a:xfrm>
          <a:prstGeom xmlns:a="http://schemas.openxmlformats.org/drawingml/2006/main" prst="ellipse">
            <a:avLst/>
          </a:prstGeom>
          <a:solidFill xmlns:a="http://schemas.openxmlformats.org/drawingml/2006/main">
            <a:srgbClr val="F7F8F3"/>
          </a:solidFill>
          <a:ln xmlns:a="http://schemas.openxmlformats.org/drawingml/2006/main" w="18999">
            <a:solidFill>
              <a:srgbClr val="34695B"/>
            </a:solidFill>
            <a:prstDash val="solid"/>
          </a:ln>
        </p:spPr>
      </p:sp>
      <p:sp>
        <p:nvSpPr>
          <p:cNvPr id="50" name="Diagram path">
            <a:extLst xmlns:a="http://schemas.openxmlformats.org/drawingml/2006/main">
              <a:ext uri="{FF2B5EF4-FFF2-40B4-BE49-F238E27FC236}">
                <a16:creationId xmlns:a16="http://schemas.microsoft.com/office/drawing/2014/main" id="{2212F20E-3EA3-4057-AF11-E67005C1C1E7}"/>
              </a:ext>
            </a:extLst>
          </p:cNvPr>
          <p:cNvSpPr>
            <a:spLocks xmlns:a="http://schemas.openxmlformats.org/drawingml/2006/main" noGrp="1"/>
          </p:cNvSpPr>
          <p:nvPr/>
        </p:nvSpPr>
        <p:spPr>
          <a:xfrm xmlns:a="http://schemas.openxmlformats.org/drawingml/2006/main">
            <a:off x="10251983" y="4282372"/>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34695B"/>
          </a:solidFill>
          <a:ln xmlns:a="http://schemas.openxmlformats.org/drawingml/2006/main" w="9499">
            <a:noFill/>
            <a:prstDash val="solid"/>
          </a:ln>
        </p:spPr>
      </p:sp>
      <p:sp>
        <p:nvSpPr>
          <p:cNvPr id="51" name="Diagram circle">
            <a:extLst xmlns:a="http://schemas.openxmlformats.org/drawingml/2006/main">
              <a:ext uri="{FF2B5EF4-FFF2-40B4-BE49-F238E27FC236}">
                <a16:creationId xmlns:a16="http://schemas.microsoft.com/office/drawing/2014/main" id="{4B1483C1-A1D2-4C15-BF07-E4B3F445937D}"/>
              </a:ext>
            </a:extLst>
          </p:cNvPr>
          <p:cNvSpPr>
            <a:spLocks xmlns:a="http://schemas.openxmlformats.org/drawingml/2006/main" noGrp="1"/>
          </p:cNvSpPr>
          <p:nvPr/>
        </p:nvSpPr>
        <p:spPr>
          <a:xfrm xmlns:a="http://schemas.openxmlformats.org/drawingml/2006/main">
            <a:off x="10026428" y="4054390"/>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2" name="Diagram circle">
            <a:extLst xmlns:a="http://schemas.openxmlformats.org/drawingml/2006/main">
              <a:ext uri="{FF2B5EF4-FFF2-40B4-BE49-F238E27FC236}">
                <a16:creationId xmlns:a16="http://schemas.microsoft.com/office/drawing/2014/main" id="{E7A50C7B-3AFD-4EC2-BC1E-A9EAEEFD6706}"/>
              </a:ext>
            </a:extLst>
          </p:cNvPr>
          <p:cNvSpPr>
            <a:spLocks xmlns:a="http://schemas.openxmlformats.org/drawingml/2006/main" noGrp="1"/>
          </p:cNvSpPr>
          <p:nvPr/>
        </p:nvSpPr>
        <p:spPr>
          <a:xfrm xmlns:a="http://schemas.openxmlformats.org/drawingml/2006/main">
            <a:off x="10121419" y="6030235"/>
            <a:ext cx="417968" cy="417968"/>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D47D521A-6781-4669-AE15-539390823850}"/>
              </a:ext>
            </a:extLst>
          </p:cNvPr>
          <p:cNvSpPr>
            <a:spLocks xmlns:a="http://schemas.openxmlformats.org/drawingml/2006/main" noGrp="1"/>
          </p:cNvSpPr>
          <p:nvPr/>
        </p:nvSpPr>
        <p:spPr>
          <a:xfrm xmlns:a="http://schemas.openxmlformats.org/drawingml/2006/main">
            <a:off x="10251983" y="6163225"/>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FFFFFF"/>
          </a:solidFill>
          <a:ln xmlns:a="http://schemas.openxmlformats.org/drawingml/2006/main" w="9499">
            <a:noFill/>
            <a:prstDash val="solid"/>
          </a:ln>
        </p:spPr>
      </p:sp>
      <p:sp>
        <p:nvSpPr>
          <p:cNvPr id="54" name="Diagram circle">
            <a:extLst xmlns:a="http://schemas.openxmlformats.org/drawingml/2006/main">
              <a:ext uri="{FF2B5EF4-FFF2-40B4-BE49-F238E27FC236}">
                <a16:creationId xmlns:a16="http://schemas.microsoft.com/office/drawing/2014/main" id="{F7A3488E-4B37-4B5C-8A08-FDA1BF6D6B53}"/>
              </a:ext>
            </a:extLst>
          </p:cNvPr>
          <p:cNvSpPr>
            <a:spLocks xmlns:a="http://schemas.openxmlformats.org/drawingml/2006/main" noGrp="1"/>
          </p:cNvSpPr>
          <p:nvPr/>
        </p:nvSpPr>
        <p:spPr>
          <a:xfrm xmlns:a="http://schemas.openxmlformats.org/drawingml/2006/main">
            <a:off x="10026428" y="5935244"/>
            <a:ext cx="607951"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5" name="Diagram circle">
            <a:extLst xmlns:a="http://schemas.openxmlformats.org/drawingml/2006/main">
              <a:ext uri="{FF2B5EF4-FFF2-40B4-BE49-F238E27FC236}">
                <a16:creationId xmlns:a16="http://schemas.microsoft.com/office/drawing/2014/main" id="{EA1A13EE-B72D-49C3-BB91-717EB1F27511}"/>
              </a:ext>
            </a:extLst>
          </p:cNvPr>
          <p:cNvSpPr>
            <a:spLocks xmlns:a="http://schemas.openxmlformats.org/drawingml/2006/main" noGrp="1"/>
          </p:cNvSpPr>
          <p:nvPr/>
        </p:nvSpPr>
        <p:spPr>
          <a:xfrm xmlns:a="http://schemas.openxmlformats.org/drawingml/2006/main">
            <a:off x="11926278" y="4196879"/>
            <a:ext cx="417968" cy="417967"/>
          </a:xfrm>
          <a:prstGeom xmlns:a="http://schemas.openxmlformats.org/drawingml/2006/main" prst="ellipse">
            <a:avLst/>
          </a:prstGeom>
          <a:solidFill xmlns:a="http://schemas.openxmlformats.org/drawingml/2006/main">
            <a:srgbClr val="F7F8F3"/>
          </a:solidFill>
          <a:ln xmlns:a="http://schemas.openxmlformats.org/drawingml/2006/main" w="18999">
            <a:solidFill>
              <a:srgbClr val="34695B"/>
            </a:solidFill>
            <a:prstDash val="solid"/>
          </a:ln>
        </p:spPr>
      </p:sp>
      <p:sp>
        <p:nvSpPr>
          <p:cNvPr id="56" name="Diagram path">
            <a:extLst xmlns:a="http://schemas.openxmlformats.org/drawingml/2006/main">
              <a:ext uri="{FF2B5EF4-FFF2-40B4-BE49-F238E27FC236}">
                <a16:creationId xmlns:a16="http://schemas.microsoft.com/office/drawing/2014/main" id="{2AE4ACA8-AE1A-411B-A4EA-8C23EC4C7419}"/>
              </a:ext>
            </a:extLst>
          </p:cNvPr>
          <p:cNvSpPr>
            <a:spLocks xmlns:a="http://schemas.openxmlformats.org/drawingml/2006/main" noGrp="1"/>
          </p:cNvSpPr>
          <p:nvPr/>
        </p:nvSpPr>
        <p:spPr>
          <a:xfrm xmlns:a="http://schemas.openxmlformats.org/drawingml/2006/main">
            <a:off x="12056841" y="4329869"/>
            <a:ext cx="163914" cy="209446"/>
          </a:xfrm>
          <a:custGeom xmlns:a="http://schemas.openxmlformats.org/drawingml/2006/main">
            <a:pathLst>
              <a:path w="163914" h="209446">
                <a:moveTo>
                  <a:pt x="163914" y="0"/>
                </a:moveTo>
                <a:lnTo>
                  <a:pt x="153669" y="26181"/>
                </a:lnTo>
                <a:lnTo>
                  <a:pt x="143425" y="52361"/>
                </a:lnTo>
                <a:lnTo>
                  <a:pt x="133180" y="78542"/>
                </a:lnTo>
                <a:lnTo>
                  <a:pt x="122935" y="104723"/>
                </a:lnTo>
                <a:lnTo>
                  <a:pt x="112691" y="130903"/>
                </a:lnTo>
                <a:lnTo>
                  <a:pt x="102446" y="157084"/>
                </a:lnTo>
                <a:lnTo>
                  <a:pt x="92202" y="183265"/>
                </a:lnTo>
                <a:lnTo>
                  <a:pt x="81957" y="209446"/>
                </a:lnTo>
                <a:lnTo>
                  <a:pt x="71712" y="201340"/>
                </a:lnTo>
                <a:lnTo>
                  <a:pt x="61468" y="175159"/>
                </a:lnTo>
                <a:lnTo>
                  <a:pt x="51223" y="148978"/>
                </a:lnTo>
                <a:lnTo>
                  <a:pt x="40978" y="122798"/>
                </a:lnTo>
                <a:lnTo>
                  <a:pt x="30734" y="96617"/>
                </a:lnTo>
                <a:lnTo>
                  <a:pt x="20489" y="70436"/>
                </a:lnTo>
                <a:lnTo>
                  <a:pt x="10245" y="44255"/>
                </a:lnTo>
                <a:lnTo>
                  <a:pt x="0" y="18075"/>
                </a:lnTo>
                <a:lnTo>
                  <a:pt x="170" y="4828"/>
                </a:lnTo>
                <a:lnTo>
                  <a:pt x="23562" y="20423"/>
                </a:lnTo>
                <a:lnTo>
                  <a:pt x="46954" y="36018"/>
                </a:lnTo>
                <a:lnTo>
                  <a:pt x="70346" y="51612"/>
                </a:lnTo>
                <a:lnTo>
                  <a:pt x="93738" y="46784"/>
                </a:lnTo>
                <a:lnTo>
                  <a:pt x="117130" y="31189"/>
                </a:lnTo>
                <a:lnTo>
                  <a:pt x="140522" y="15595"/>
                </a:lnTo>
                <a:lnTo>
                  <a:pt x="163914" y="0"/>
                </a:lnTo>
                <a:close/>
              </a:path>
            </a:pathLst>
          </a:custGeom>
          <a:solidFill xmlns:a="http://schemas.openxmlformats.org/drawingml/2006/main">
            <a:srgbClr val="34695B"/>
          </a:solidFill>
          <a:ln xmlns:a="http://schemas.openxmlformats.org/drawingml/2006/main" w="9499">
            <a:noFill/>
            <a:prstDash val="solid"/>
          </a:ln>
        </p:spPr>
      </p:sp>
      <p:sp>
        <p:nvSpPr>
          <p:cNvPr id="57" name="Diagram circle">
            <a:extLst xmlns:a="http://schemas.openxmlformats.org/drawingml/2006/main">
              <a:ext uri="{FF2B5EF4-FFF2-40B4-BE49-F238E27FC236}">
                <a16:creationId xmlns:a16="http://schemas.microsoft.com/office/drawing/2014/main" id="{C78AE393-C2A8-4B89-8B4A-087E24DB649C}"/>
              </a:ext>
            </a:extLst>
          </p:cNvPr>
          <p:cNvSpPr>
            <a:spLocks xmlns:a="http://schemas.openxmlformats.org/drawingml/2006/main" noGrp="1"/>
          </p:cNvSpPr>
          <p:nvPr/>
        </p:nvSpPr>
        <p:spPr>
          <a:xfrm xmlns:a="http://schemas.openxmlformats.org/drawingml/2006/main">
            <a:off x="11831286" y="4101887"/>
            <a:ext cx="607952" cy="607952"/>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58" name="Diagram path">
            <a:extLst xmlns:a="http://schemas.openxmlformats.org/drawingml/2006/main">
              <a:ext uri="{FF2B5EF4-FFF2-40B4-BE49-F238E27FC236}">
                <a16:creationId xmlns:a16="http://schemas.microsoft.com/office/drawing/2014/main" id="{19D7C7C3-3405-4383-BF56-7AD596861155}"/>
              </a:ext>
            </a:extLst>
          </p:cNvPr>
          <p:cNvSpPr>
            <a:spLocks xmlns:a="http://schemas.openxmlformats.org/drawingml/2006/main" noGrp="1"/>
          </p:cNvSpPr>
          <p:nvPr/>
        </p:nvSpPr>
        <p:spPr>
          <a:xfrm xmlns:a="http://schemas.openxmlformats.org/drawingml/2006/main">
            <a:off x="10330403" y="4671842"/>
            <a:ext cx="9525" cy="1196906"/>
          </a:xfrm>
          <a:custGeom xmlns:a="http://schemas.openxmlformats.org/drawingml/2006/main">
            <a:pathLst>
              <a:path w="9525" h="1196906">
                <a:moveTo>
                  <a:pt x="0" y="0"/>
                </a:moveTo>
                <a:lnTo>
                  <a:pt x="0" y="28498"/>
                </a:lnTo>
                <a:lnTo>
                  <a:pt x="0" y="56996"/>
                </a:lnTo>
                <a:lnTo>
                  <a:pt x="0" y="85493"/>
                </a:lnTo>
                <a:lnTo>
                  <a:pt x="0" y="113991"/>
                </a:lnTo>
                <a:lnTo>
                  <a:pt x="0" y="142489"/>
                </a:lnTo>
                <a:lnTo>
                  <a:pt x="0" y="170987"/>
                </a:lnTo>
                <a:lnTo>
                  <a:pt x="0" y="199484"/>
                </a:lnTo>
                <a:lnTo>
                  <a:pt x="0" y="227982"/>
                </a:lnTo>
                <a:lnTo>
                  <a:pt x="0" y="256480"/>
                </a:lnTo>
                <a:lnTo>
                  <a:pt x="0" y="284978"/>
                </a:lnTo>
                <a:lnTo>
                  <a:pt x="0" y="313475"/>
                </a:lnTo>
                <a:lnTo>
                  <a:pt x="0" y="341973"/>
                </a:lnTo>
                <a:lnTo>
                  <a:pt x="0" y="370471"/>
                </a:lnTo>
                <a:lnTo>
                  <a:pt x="0" y="398969"/>
                </a:lnTo>
                <a:lnTo>
                  <a:pt x="0" y="427467"/>
                </a:lnTo>
                <a:lnTo>
                  <a:pt x="0" y="455964"/>
                </a:lnTo>
                <a:lnTo>
                  <a:pt x="0" y="484462"/>
                </a:lnTo>
                <a:lnTo>
                  <a:pt x="0" y="512960"/>
                </a:lnTo>
                <a:lnTo>
                  <a:pt x="0" y="541458"/>
                </a:lnTo>
                <a:lnTo>
                  <a:pt x="0" y="569955"/>
                </a:lnTo>
                <a:lnTo>
                  <a:pt x="0" y="598453"/>
                </a:lnTo>
                <a:lnTo>
                  <a:pt x="0" y="626951"/>
                </a:lnTo>
                <a:lnTo>
                  <a:pt x="0" y="655449"/>
                </a:lnTo>
                <a:lnTo>
                  <a:pt x="0" y="683946"/>
                </a:lnTo>
                <a:lnTo>
                  <a:pt x="0" y="712444"/>
                </a:lnTo>
                <a:lnTo>
                  <a:pt x="0" y="740942"/>
                </a:lnTo>
                <a:lnTo>
                  <a:pt x="0" y="769440"/>
                </a:lnTo>
                <a:lnTo>
                  <a:pt x="0" y="797938"/>
                </a:lnTo>
                <a:lnTo>
                  <a:pt x="0" y="826435"/>
                </a:lnTo>
                <a:lnTo>
                  <a:pt x="0" y="854933"/>
                </a:lnTo>
                <a:lnTo>
                  <a:pt x="0" y="883431"/>
                </a:lnTo>
                <a:lnTo>
                  <a:pt x="0" y="911929"/>
                </a:lnTo>
                <a:lnTo>
                  <a:pt x="0" y="940426"/>
                </a:lnTo>
                <a:lnTo>
                  <a:pt x="0" y="968924"/>
                </a:lnTo>
                <a:lnTo>
                  <a:pt x="0" y="997422"/>
                </a:lnTo>
                <a:lnTo>
                  <a:pt x="0" y="1025920"/>
                </a:lnTo>
                <a:lnTo>
                  <a:pt x="0" y="1054418"/>
                </a:lnTo>
                <a:lnTo>
                  <a:pt x="0" y="1082915"/>
                </a:lnTo>
                <a:lnTo>
                  <a:pt x="0" y="1111413"/>
                </a:lnTo>
                <a:lnTo>
                  <a:pt x="0" y="1139911"/>
                </a:lnTo>
                <a:lnTo>
                  <a:pt x="0" y="1168409"/>
                </a:lnTo>
                <a:lnTo>
                  <a:pt x="0" y="1196906"/>
                </a:lnTo>
              </a:path>
            </a:pathLst>
          </a:custGeom>
          <a:noFill xmlns:a="http://schemas.openxmlformats.org/drawingml/2006/main"/>
          <a:ln xmlns:a="http://schemas.openxmlformats.org/drawingml/2006/main" w="32297">
            <a:solidFill>
              <a:srgbClr val="34695B"/>
            </a:solidFill>
            <a:prstDash val="solid"/>
          </a:ln>
        </p:spPr>
      </p:sp>
      <p:sp>
        <p:nvSpPr>
          <p:cNvPr id="59" name="Route arrowhead">
            <a:extLst xmlns:a="http://schemas.openxmlformats.org/drawingml/2006/main">
              <a:ext uri="{FF2B5EF4-FFF2-40B4-BE49-F238E27FC236}">
                <a16:creationId xmlns:a16="http://schemas.microsoft.com/office/drawing/2014/main" id="{8504F2A4-9D5E-4010-9884-3DAC173EAA9F}"/>
              </a:ext>
            </a:extLst>
          </p:cNvPr>
          <p:cNvSpPr>
            <a:spLocks xmlns:a="http://schemas.openxmlformats.org/drawingml/2006/main" noGrp="1"/>
          </p:cNvSpPr>
          <p:nvPr/>
        </p:nvSpPr>
        <p:spPr>
          <a:xfrm xmlns:a="http://schemas.openxmlformats.org/drawingml/2006/main">
            <a:off x="10233511" y="5674963"/>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60" name="Diagram path">
            <a:extLst xmlns:a="http://schemas.openxmlformats.org/drawingml/2006/main">
              <a:ext uri="{FF2B5EF4-FFF2-40B4-BE49-F238E27FC236}">
                <a16:creationId xmlns:a16="http://schemas.microsoft.com/office/drawing/2014/main" id="{60857CA6-9E48-429B-A6B1-83290D3496D1}"/>
              </a:ext>
            </a:extLst>
          </p:cNvPr>
          <p:cNvSpPr>
            <a:spLocks xmlns:a="http://schemas.openxmlformats.org/drawingml/2006/main" noGrp="1"/>
          </p:cNvSpPr>
          <p:nvPr/>
        </p:nvSpPr>
        <p:spPr>
          <a:xfrm xmlns:a="http://schemas.openxmlformats.org/drawingml/2006/main">
            <a:off x="10805366" y="3883404"/>
            <a:ext cx="1329896" cy="2526802"/>
          </a:xfrm>
          <a:custGeom xmlns:a="http://schemas.openxmlformats.org/drawingml/2006/main">
            <a:pathLst>
              <a:path w="1329896" h="2526802">
                <a:moveTo>
                  <a:pt x="0" y="2526802"/>
                </a:moveTo>
                <a:lnTo>
                  <a:pt x="0" y="2498317"/>
                </a:lnTo>
                <a:lnTo>
                  <a:pt x="0" y="2469832"/>
                </a:lnTo>
                <a:lnTo>
                  <a:pt x="0" y="2441347"/>
                </a:lnTo>
                <a:lnTo>
                  <a:pt x="0" y="2412862"/>
                </a:lnTo>
                <a:lnTo>
                  <a:pt x="0" y="2384377"/>
                </a:lnTo>
                <a:lnTo>
                  <a:pt x="0" y="2355892"/>
                </a:lnTo>
                <a:lnTo>
                  <a:pt x="0" y="2327407"/>
                </a:lnTo>
                <a:lnTo>
                  <a:pt x="0" y="2298922"/>
                </a:lnTo>
                <a:lnTo>
                  <a:pt x="0" y="2270437"/>
                </a:lnTo>
                <a:lnTo>
                  <a:pt x="0" y="2241951"/>
                </a:lnTo>
                <a:lnTo>
                  <a:pt x="0" y="2213466"/>
                </a:lnTo>
                <a:lnTo>
                  <a:pt x="0" y="2184981"/>
                </a:lnTo>
                <a:lnTo>
                  <a:pt x="0" y="2156496"/>
                </a:lnTo>
                <a:lnTo>
                  <a:pt x="0" y="2128011"/>
                </a:lnTo>
                <a:lnTo>
                  <a:pt x="0" y="2099526"/>
                </a:lnTo>
                <a:lnTo>
                  <a:pt x="0" y="2071041"/>
                </a:lnTo>
                <a:lnTo>
                  <a:pt x="0" y="2042556"/>
                </a:lnTo>
                <a:lnTo>
                  <a:pt x="0" y="2014071"/>
                </a:lnTo>
                <a:lnTo>
                  <a:pt x="0" y="1985586"/>
                </a:lnTo>
                <a:lnTo>
                  <a:pt x="0" y="1957100"/>
                </a:lnTo>
                <a:lnTo>
                  <a:pt x="0" y="1928615"/>
                </a:lnTo>
                <a:lnTo>
                  <a:pt x="0" y="1900130"/>
                </a:lnTo>
                <a:lnTo>
                  <a:pt x="0" y="1871645"/>
                </a:lnTo>
                <a:lnTo>
                  <a:pt x="0" y="1843160"/>
                </a:lnTo>
                <a:lnTo>
                  <a:pt x="0" y="1814675"/>
                </a:lnTo>
                <a:lnTo>
                  <a:pt x="0" y="1786190"/>
                </a:lnTo>
                <a:lnTo>
                  <a:pt x="0" y="1757705"/>
                </a:lnTo>
                <a:lnTo>
                  <a:pt x="0" y="1729220"/>
                </a:lnTo>
                <a:lnTo>
                  <a:pt x="0" y="1700735"/>
                </a:lnTo>
                <a:lnTo>
                  <a:pt x="0" y="1672250"/>
                </a:lnTo>
                <a:lnTo>
                  <a:pt x="0" y="1643765"/>
                </a:lnTo>
                <a:lnTo>
                  <a:pt x="0" y="1615279"/>
                </a:lnTo>
                <a:lnTo>
                  <a:pt x="0" y="1586794"/>
                </a:lnTo>
                <a:lnTo>
                  <a:pt x="0" y="1558309"/>
                </a:lnTo>
                <a:lnTo>
                  <a:pt x="0" y="1529824"/>
                </a:lnTo>
                <a:lnTo>
                  <a:pt x="0" y="1501339"/>
                </a:lnTo>
                <a:lnTo>
                  <a:pt x="0" y="1472854"/>
                </a:lnTo>
                <a:lnTo>
                  <a:pt x="0" y="1444369"/>
                </a:lnTo>
                <a:lnTo>
                  <a:pt x="0" y="1415884"/>
                </a:lnTo>
                <a:lnTo>
                  <a:pt x="0" y="1387399"/>
                </a:lnTo>
                <a:lnTo>
                  <a:pt x="0" y="1358913"/>
                </a:lnTo>
                <a:lnTo>
                  <a:pt x="0" y="1330428"/>
                </a:lnTo>
                <a:lnTo>
                  <a:pt x="0" y="1301943"/>
                </a:lnTo>
                <a:lnTo>
                  <a:pt x="0" y="1273458"/>
                </a:lnTo>
                <a:lnTo>
                  <a:pt x="0" y="1244973"/>
                </a:lnTo>
                <a:lnTo>
                  <a:pt x="0" y="1216488"/>
                </a:lnTo>
                <a:lnTo>
                  <a:pt x="0" y="1188003"/>
                </a:lnTo>
                <a:lnTo>
                  <a:pt x="0" y="1159518"/>
                </a:lnTo>
                <a:lnTo>
                  <a:pt x="0" y="1131033"/>
                </a:lnTo>
                <a:lnTo>
                  <a:pt x="0" y="1102547"/>
                </a:lnTo>
                <a:lnTo>
                  <a:pt x="0" y="1074062"/>
                </a:lnTo>
                <a:lnTo>
                  <a:pt x="0" y="1045577"/>
                </a:lnTo>
                <a:lnTo>
                  <a:pt x="0" y="1017092"/>
                </a:lnTo>
                <a:lnTo>
                  <a:pt x="0" y="988607"/>
                </a:lnTo>
                <a:lnTo>
                  <a:pt x="0" y="960122"/>
                </a:lnTo>
                <a:lnTo>
                  <a:pt x="0" y="931637"/>
                </a:lnTo>
                <a:lnTo>
                  <a:pt x="0" y="903152"/>
                </a:lnTo>
                <a:lnTo>
                  <a:pt x="0" y="874667"/>
                </a:lnTo>
                <a:lnTo>
                  <a:pt x="0" y="846182"/>
                </a:lnTo>
                <a:lnTo>
                  <a:pt x="0" y="817697"/>
                </a:lnTo>
                <a:lnTo>
                  <a:pt x="0" y="789211"/>
                </a:lnTo>
                <a:lnTo>
                  <a:pt x="0" y="760726"/>
                </a:lnTo>
                <a:lnTo>
                  <a:pt x="0" y="732241"/>
                </a:lnTo>
                <a:lnTo>
                  <a:pt x="0" y="703756"/>
                </a:lnTo>
                <a:lnTo>
                  <a:pt x="0" y="675271"/>
                </a:lnTo>
                <a:lnTo>
                  <a:pt x="0" y="646786"/>
                </a:lnTo>
                <a:lnTo>
                  <a:pt x="0" y="618301"/>
                </a:lnTo>
                <a:lnTo>
                  <a:pt x="0" y="589816"/>
                </a:lnTo>
                <a:lnTo>
                  <a:pt x="0" y="561331"/>
                </a:lnTo>
                <a:lnTo>
                  <a:pt x="0" y="532846"/>
                </a:lnTo>
                <a:lnTo>
                  <a:pt x="0" y="504361"/>
                </a:lnTo>
                <a:lnTo>
                  <a:pt x="0" y="475875"/>
                </a:lnTo>
                <a:lnTo>
                  <a:pt x="0" y="447390"/>
                </a:lnTo>
                <a:lnTo>
                  <a:pt x="0" y="418905"/>
                </a:lnTo>
                <a:lnTo>
                  <a:pt x="0" y="390420"/>
                </a:lnTo>
                <a:lnTo>
                  <a:pt x="0" y="361935"/>
                </a:lnTo>
                <a:lnTo>
                  <a:pt x="0" y="333450"/>
                </a:lnTo>
                <a:lnTo>
                  <a:pt x="0" y="304965"/>
                </a:lnTo>
                <a:lnTo>
                  <a:pt x="0" y="276480"/>
                </a:lnTo>
                <a:lnTo>
                  <a:pt x="0" y="247995"/>
                </a:lnTo>
                <a:lnTo>
                  <a:pt x="368" y="219515"/>
                </a:lnTo>
                <a:lnTo>
                  <a:pt x="2616" y="191126"/>
                </a:lnTo>
                <a:lnTo>
                  <a:pt x="7260" y="163032"/>
                </a:lnTo>
                <a:lnTo>
                  <a:pt x="14760" y="135568"/>
                </a:lnTo>
                <a:lnTo>
                  <a:pt x="25574" y="109238"/>
                </a:lnTo>
                <a:lnTo>
                  <a:pt x="40045" y="84736"/>
                </a:lnTo>
                <a:lnTo>
                  <a:pt x="58229" y="62852"/>
                </a:lnTo>
                <a:lnTo>
                  <a:pt x="79767" y="44259"/>
                </a:lnTo>
                <a:lnTo>
                  <a:pt x="103969" y="29289"/>
                </a:lnTo>
                <a:lnTo>
                  <a:pt x="130046" y="17878"/>
                </a:lnTo>
                <a:lnTo>
                  <a:pt x="157312" y="9683"/>
                </a:lnTo>
                <a:lnTo>
                  <a:pt x="185266" y="4259"/>
                </a:lnTo>
                <a:lnTo>
                  <a:pt x="213576" y="1167"/>
                </a:lnTo>
                <a:lnTo>
                  <a:pt x="242033" y="27"/>
                </a:lnTo>
                <a:lnTo>
                  <a:pt x="270518" y="0"/>
                </a:lnTo>
                <a:lnTo>
                  <a:pt x="299003" y="0"/>
                </a:lnTo>
                <a:lnTo>
                  <a:pt x="327488" y="0"/>
                </a:lnTo>
                <a:lnTo>
                  <a:pt x="355973" y="0"/>
                </a:lnTo>
                <a:lnTo>
                  <a:pt x="384458" y="0"/>
                </a:lnTo>
                <a:lnTo>
                  <a:pt x="412944" y="0"/>
                </a:lnTo>
                <a:lnTo>
                  <a:pt x="441429" y="0"/>
                </a:lnTo>
                <a:lnTo>
                  <a:pt x="469914" y="0"/>
                </a:lnTo>
                <a:lnTo>
                  <a:pt x="498399" y="0"/>
                </a:lnTo>
                <a:lnTo>
                  <a:pt x="526884" y="0"/>
                </a:lnTo>
                <a:lnTo>
                  <a:pt x="555369" y="0"/>
                </a:lnTo>
                <a:lnTo>
                  <a:pt x="583854" y="0"/>
                </a:lnTo>
                <a:lnTo>
                  <a:pt x="612339" y="0"/>
                </a:lnTo>
                <a:lnTo>
                  <a:pt x="640824" y="0"/>
                </a:lnTo>
                <a:lnTo>
                  <a:pt x="669309" y="0"/>
                </a:lnTo>
                <a:lnTo>
                  <a:pt x="697794" y="0"/>
                </a:lnTo>
                <a:lnTo>
                  <a:pt x="726280" y="0"/>
                </a:lnTo>
                <a:lnTo>
                  <a:pt x="754765" y="0"/>
                </a:lnTo>
                <a:lnTo>
                  <a:pt x="783250" y="0"/>
                </a:lnTo>
                <a:lnTo>
                  <a:pt x="811735" y="0"/>
                </a:lnTo>
                <a:lnTo>
                  <a:pt x="840220" y="0"/>
                </a:lnTo>
                <a:lnTo>
                  <a:pt x="868705" y="0"/>
                </a:lnTo>
                <a:lnTo>
                  <a:pt x="897190" y="0"/>
                </a:lnTo>
                <a:lnTo>
                  <a:pt x="925675" y="0"/>
                </a:lnTo>
                <a:lnTo>
                  <a:pt x="954160" y="0"/>
                </a:lnTo>
                <a:lnTo>
                  <a:pt x="982645" y="0"/>
                </a:lnTo>
                <a:lnTo>
                  <a:pt x="1011130" y="0"/>
                </a:lnTo>
                <a:lnTo>
                  <a:pt x="1039616" y="0"/>
                </a:lnTo>
                <a:lnTo>
                  <a:pt x="1068101" y="0"/>
                </a:lnTo>
                <a:lnTo>
                  <a:pt x="1096586" y="0"/>
                </a:lnTo>
                <a:lnTo>
                  <a:pt x="1125057" y="697"/>
                </a:lnTo>
                <a:lnTo>
                  <a:pt x="1153374" y="3698"/>
                </a:lnTo>
                <a:lnTo>
                  <a:pt x="1181245" y="9507"/>
                </a:lnTo>
                <a:lnTo>
                  <a:pt x="1208212" y="18618"/>
                </a:lnTo>
                <a:lnTo>
                  <a:pt x="1233615" y="31445"/>
                </a:lnTo>
                <a:lnTo>
                  <a:pt x="1256658" y="48136"/>
                </a:lnTo>
                <a:lnTo>
                  <a:pt x="1276603" y="68426"/>
                </a:lnTo>
                <a:lnTo>
                  <a:pt x="1293023" y="91667"/>
                </a:lnTo>
                <a:lnTo>
                  <a:pt x="1305898" y="117052"/>
                </a:lnTo>
                <a:lnTo>
                  <a:pt x="1315520" y="143846"/>
                </a:lnTo>
                <a:lnTo>
                  <a:pt x="1322320" y="171497"/>
                </a:lnTo>
                <a:lnTo>
                  <a:pt x="1326733" y="199631"/>
                </a:lnTo>
                <a:lnTo>
                  <a:pt x="1329149" y="228008"/>
                </a:lnTo>
                <a:lnTo>
                  <a:pt x="1329896" y="256480"/>
                </a:lnTo>
              </a:path>
            </a:pathLst>
          </a:custGeom>
          <a:noFill xmlns:a="http://schemas.openxmlformats.org/drawingml/2006/main"/>
          <a:ln xmlns:a="http://schemas.openxmlformats.org/drawingml/2006/main" w="32297">
            <a:solidFill>
              <a:srgbClr val="34695B"/>
            </a:solidFill>
            <a:prstDash val="dash"/>
          </a:ln>
        </p:spPr>
      </p:sp>
      <p:sp>
        <p:nvSpPr>
          <p:cNvPr id="61" name="Route arrowhead">
            <a:extLst xmlns:a="http://schemas.openxmlformats.org/drawingml/2006/main">
              <a:ext uri="{FF2B5EF4-FFF2-40B4-BE49-F238E27FC236}">
                <a16:creationId xmlns:a16="http://schemas.microsoft.com/office/drawing/2014/main" id="{5DB54D0E-8054-4904-81BD-0D0AB2B53CFB}"/>
              </a:ext>
            </a:extLst>
          </p:cNvPr>
          <p:cNvSpPr>
            <a:spLocks xmlns:a="http://schemas.openxmlformats.org/drawingml/2006/main" noGrp="1"/>
          </p:cNvSpPr>
          <p:nvPr/>
        </p:nvSpPr>
        <p:spPr>
          <a:xfrm xmlns:a="http://schemas.openxmlformats.org/drawingml/2006/main">
            <a:off x="12036682" y="3945260"/>
            <a:ext cx="193777" cy="194623"/>
          </a:xfrm>
          <a:custGeom xmlns:a="http://schemas.openxmlformats.org/drawingml/2006/main">
            <a:pathLst>
              <a:path w="193777" h="194623">
                <a:moveTo>
                  <a:pt x="193777" y="0"/>
                </a:moveTo>
                <a:lnTo>
                  <a:pt x="98580" y="194623"/>
                </a:lnTo>
                <a:lnTo>
                  <a:pt x="0" y="1691"/>
                </a:lnTo>
              </a:path>
            </a:pathLst>
          </a:custGeom>
          <a:noFill xmlns:a="http://schemas.openxmlformats.org/drawingml/2006/main"/>
          <a:ln xmlns:a="http://schemas.openxmlformats.org/drawingml/2006/main" w="48446">
            <a:solidFill>
              <a:srgbClr val="34695B"/>
            </a:solidFill>
            <a:prstDash val="solid"/>
          </a:ln>
        </p:spPr>
      </p:sp>
      <p:sp>
        <p:nvSpPr>
          <p:cNvPr id="62" name="Starting pose">
            <a:extLst xmlns:a="http://schemas.openxmlformats.org/drawingml/2006/main">
              <a:ext uri="{FF2B5EF4-FFF2-40B4-BE49-F238E27FC236}">
                <a16:creationId xmlns:a16="http://schemas.microsoft.com/office/drawing/2014/main" id="{07911AFB-EC53-4F9D-90F8-B4CB713C083E}"/>
              </a:ext>
            </a:extLst>
          </p:cNvPr>
          <p:cNvSpPr>
            <a:spLocks xmlns:a="http://schemas.openxmlformats.org/drawingml/2006/main" noGrp="1"/>
          </p:cNvSpPr>
          <p:nvPr/>
        </p:nvSpPr>
        <p:spPr>
          <a:xfrm xmlns:a="http://schemas.openxmlformats.org/drawingml/2006/main">
            <a:off x="9114498" y="3645304"/>
            <a:ext cx="1625503"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Starting pose</a:t>
            </a:r>
          </a:p>
        </p:txBody>
      </p:sp>
      <p:sp>
        <p:nvSpPr>
          <p:cNvPr id="63" name="First transfer to our half">
            <a:extLst xmlns:a="http://schemas.openxmlformats.org/drawingml/2006/main">
              <a:ext uri="{FF2B5EF4-FFF2-40B4-BE49-F238E27FC236}">
                <a16:creationId xmlns:a16="http://schemas.microsoft.com/office/drawing/2014/main" id="{C777EAC9-B68D-4ACE-AF27-2CB1C18B934D}"/>
              </a:ext>
            </a:extLst>
          </p:cNvPr>
          <p:cNvSpPr>
            <a:spLocks xmlns:a="http://schemas.openxmlformats.org/drawingml/2006/main" noGrp="1"/>
          </p:cNvSpPr>
          <p:nvPr/>
        </p:nvSpPr>
        <p:spPr>
          <a:xfrm xmlns:a="http://schemas.openxmlformats.org/drawingml/2006/main">
            <a:off x="8896015" y="7359514"/>
            <a:ext cx="277930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34695B"/>
                </a:solidFill>
                <a:latin typeface="Arial"/>
                <a:ea typeface="Arial"/>
                <a:cs typeface="Arial"/>
              </a:defRPr>
            </a:pPr>
            <a:r>
              <a:rPr sz="2020" b="0">
                <a:solidFill>
                  <a:srgbClr val="34695B"/>
                </a:solidFill>
                <a:latin typeface="Arial"/>
                <a:ea typeface="Arial"/>
                <a:cs typeface="Arial"/>
              </a:rPr>
              <a:t>First transfer to our half</a:t>
            </a:r>
          </a:p>
        </p:txBody>
      </p:sp>
      <p:sp>
        <p:nvSpPr>
          <p:cNvPr id="64" name="Diagram path">
            <a:extLst xmlns:a="http://schemas.openxmlformats.org/drawingml/2006/main">
              <a:ext uri="{FF2B5EF4-FFF2-40B4-BE49-F238E27FC236}">
                <a16:creationId xmlns:a16="http://schemas.microsoft.com/office/drawing/2014/main" id="{068BB331-BBB5-4CF3-863A-EA17F119C594}"/>
              </a:ext>
            </a:extLst>
          </p:cNvPr>
          <p:cNvSpPr>
            <a:spLocks xmlns:a="http://schemas.openxmlformats.org/drawingml/2006/main" noGrp="1"/>
          </p:cNvSpPr>
          <p:nvPr/>
        </p:nvSpPr>
        <p:spPr>
          <a:xfrm xmlns:a="http://schemas.openxmlformats.org/drawingml/2006/main">
            <a:off x="11327825" y="4481857"/>
            <a:ext cx="2555300" cy="826435"/>
          </a:xfrm>
          <a:custGeom xmlns:a="http://schemas.openxmlformats.org/drawingml/2006/main">
            <a:pathLst>
              <a:path w="2555300" h="826435">
                <a:moveTo>
                  <a:pt x="0" y="826435"/>
                </a:moveTo>
                <a:lnTo>
                  <a:pt x="26315" y="816215"/>
                </a:lnTo>
                <a:lnTo>
                  <a:pt x="52631" y="805994"/>
                </a:lnTo>
                <a:lnTo>
                  <a:pt x="78947" y="795773"/>
                </a:lnTo>
                <a:lnTo>
                  <a:pt x="105262" y="785552"/>
                </a:lnTo>
                <a:lnTo>
                  <a:pt x="131578" y="775331"/>
                </a:lnTo>
                <a:lnTo>
                  <a:pt x="157894" y="765111"/>
                </a:lnTo>
                <a:lnTo>
                  <a:pt x="184209" y="754890"/>
                </a:lnTo>
                <a:lnTo>
                  <a:pt x="210525" y="744669"/>
                </a:lnTo>
                <a:lnTo>
                  <a:pt x="236841" y="734448"/>
                </a:lnTo>
                <a:lnTo>
                  <a:pt x="263156" y="724227"/>
                </a:lnTo>
                <a:lnTo>
                  <a:pt x="289472" y="714006"/>
                </a:lnTo>
                <a:lnTo>
                  <a:pt x="315788" y="703786"/>
                </a:lnTo>
                <a:lnTo>
                  <a:pt x="342103" y="693565"/>
                </a:lnTo>
                <a:lnTo>
                  <a:pt x="368419" y="683344"/>
                </a:lnTo>
                <a:lnTo>
                  <a:pt x="394735" y="673123"/>
                </a:lnTo>
                <a:lnTo>
                  <a:pt x="421050" y="662902"/>
                </a:lnTo>
                <a:lnTo>
                  <a:pt x="447365" y="652682"/>
                </a:lnTo>
                <a:lnTo>
                  <a:pt x="473682" y="642461"/>
                </a:lnTo>
                <a:lnTo>
                  <a:pt x="499997" y="632240"/>
                </a:lnTo>
                <a:lnTo>
                  <a:pt x="526313" y="622019"/>
                </a:lnTo>
                <a:lnTo>
                  <a:pt x="552628" y="611798"/>
                </a:lnTo>
                <a:lnTo>
                  <a:pt x="578944" y="601578"/>
                </a:lnTo>
                <a:lnTo>
                  <a:pt x="605260" y="591357"/>
                </a:lnTo>
                <a:lnTo>
                  <a:pt x="631575" y="581136"/>
                </a:lnTo>
                <a:lnTo>
                  <a:pt x="657891" y="570915"/>
                </a:lnTo>
                <a:lnTo>
                  <a:pt x="684206" y="560694"/>
                </a:lnTo>
                <a:lnTo>
                  <a:pt x="710522" y="550474"/>
                </a:lnTo>
                <a:lnTo>
                  <a:pt x="736838" y="540253"/>
                </a:lnTo>
                <a:lnTo>
                  <a:pt x="763153" y="530032"/>
                </a:lnTo>
                <a:lnTo>
                  <a:pt x="789469" y="519811"/>
                </a:lnTo>
                <a:lnTo>
                  <a:pt x="815785" y="509590"/>
                </a:lnTo>
                <a:lnTo>
                  <a:pt x="842100" y="499370"/>
                </a:lnTo>
                <a:lnTo>
                  <a:pt x="868416" y="489149"/>
                </a:lnTo>
                <a:lnTo>
                  <a:pt x="894732" y="478928"/>
                </a:lnTo>
                <a:lnTo>
                  <a:pt x="921047" y="468707"/>
                </a:lnTo>
                <a:lnTo>
                  <a:pt x="947363" y="458486"/>
                </a:lnTo>
                <a:lnTo>
                  <a:pt x="973678" y="448266"/>
                </a:lnTo>
                <a:lnTo>
                  <a:pt x="999994" y="438045"/>
                </a:lnTo>
                <a:lnTo>
                  <a:pt x="1026310" y="427824"/>
                </a:lnTo>
                <a:lnTo>
                  <a:pt x="1052625" y="417603"/>
                </a:lnTo>
                <a:lnTo>
                  <a:pt x="1078941" y="407382"/>
                </a:lnTo>
                <a:lnTo>
                  <a:pt x="1105257" y="397162"/>
                </a:lnTo>
                <a:lnTo>
                  <a:pt x="1131572" y="386941"/>
                </a:lnTo>
                <a:lnTo>
                  <a:pt x="1157888" y="376720"/>
                </a:lnTo>
                <a:lnTo>
                  <a:pt x="1184204" y="366499"/>
                </a:lnTo>
                <a:lnTo>
                  <a:pt x="1210519" y="356278"/>
                </a:lnTo>
                <a:lnTo>
                  <a:pt x="1236835" y="346058"/>
                </a:lnTo>
                <a:lnTo>
                  <a:pt x="1263151" y="335837"/>
                </a:lnTo>
                <a:lnTo>
                  <a:pt x="1289466" y="325616"/>
                </a:lnTo>
                <a:lnTo>
                  <a:pt x="1315782" y="315395"/>
                </a:lnTo>
                <a:lnTo>
                  <a:pt x="1342097" y="305174"/>
                </a:lnTo>
                <a:lnTo>
                  <a:pt x="1368413" y="294954"/>
                </a:lnTo>
                <a:lnTo>
                  <a:pt x="1394728" y="284733"/>
                </a:lnTo>
                <a:lnTo>
                  <a:pt x="1421044" y="274512"/>
                </a:lnTo>
                <a:lnTo>
                  <a:pt x="1447360" y="264291"/>
                </a:lnTo>
                <a:lnTo>
                  <a:pt x="1473675" y="254070"/>
                </a:lnTo>
                <a:lnTo>
                  <a:pt x="1499991" y="243850"/>
                </a:lnTo>
                <a:lnTo>
                  <a:pt x="1526307" y="233629"/>
                </a:lnTo>
                <a:lnTo>
                  <a:pt x="1552622" y="223408"/>
                </a:lnTo>
                <a:lnTo>
                  <a:pt x="1578938" y="213187"/>
                </a:lnTo>
                <a:lnTo>
                  <a:pt x="1605254" y="202966"/>
                </a:lnTo>
                <a:lnTo>
                  <a:pt x="1631569" y="192746"/>
                </a:lnTo>
                <a:lnTo>
                  <a:pt x="1657885" y="182525"/>
                </a:lnTo>
                <a:lnTo>
                  <a:pt x="1684201" y="172304"/>
                </a:lnTo>
                <a:lnTo>
                  <a:pt x="1710516" y="162083"/>
                </a:lnTo>
                <a:lnTo>
                  <a:pt x="1736832" y="151862"/>
                </a:lnTo>
                <a:lnTo>
                  <a:pt x="1763148" y="141641"/>
                </a:lnTo>
                <a:lnTo>
                  <a:pt x="1789463" y="131421"/>
                </a:lnTo>
                <a:lnTo>
                  <a:pt x="1815779" y="121200"/>
                </a:lnTo>
                <a:lnTo>
                  <a:pt x="1842095" y="110979"/>
                </a:lnTo>
                <a:lnTo>
                  <a:pt x="1868410" y="100758"/>
                </a:lnTo>
                <a:lnTo>
                  <a:pt x="1894725" y="90537"/>
                </a:lnTo>
                <a:lnTo>
                  <a:pt x="1921041" y="80317"/>
                </a:lnTo>
                <a:lnTo>
                  <a:pt x="1947357" y="70096"/>
                </a:lnTo>
                <a:lnTo>
                  <a:pt x="1973672" y="59875"/>
                </a:lnTo>
                <a:lnTo>
                  <a:pt x="1999988" y="49654"/>
                </a:lnTo>
                <a:lnTo>
                  <a:pt x="2026304" y="39433"/>
                </a:lnTo>
                <a:lnTo>
                  <a:pt x="2052619" y="29213"/>
                </a:lnTo>
                <a:lnTo>
                  <a:pt x="2078935" y="18992"/>
                </a:lnTo>
                <a:lnTo>
                  <a:pt x="2105251" y="8771"/>
                </a:lnTo>
                <a:lnTo>
                  <a:pt x="2131838" y="0"/>
                </a:lnTo>
                <a:lnTo>
                  <a:pt x="2160069" y="0"/>
                </a:lnTo>
                <a:lnTo>
                  <a:pt x="2188300" y="0"/>
                </a:lnTo>
                <a:lnTo>
                  <a:pt x="2216531" y="0"/>
                </a:lnTo>
                <a:lnTo>
                  <a:pt x="2244761" y="0"/>
                </a:lnTo>
                <a:lnTo>
                  <a:pt x="2272992" y="0"/>
                </a:lnTo>
                <a:lnTo>
                  <a:pt x="2301223" y="0"/>
                </a:lnTo>
                <a:lnTo>
                  <a:pt x="2329454" y="0"/>
                </a:lnTo>
                <a:lnTo>
                  <a:pt x="2357685" y="0"/>
                </a:lnTo>
                <a:lnTo>
                  <a:pt x="2385915" y="0"/>
                </a:lnTo>
                <a:lnTo>
                  <a:pt x="2414146" y="0"/>
                </a:lnTo>
                <a:lnTo>
                  <a:pt x="2442377" y="0"/>
                </a:lnTo>
                <a:lnTo>
                  <a:pt x="2470608" y="0"/>
                </a:lnTo>
                <a:lnTo>
                  <a:pt x="2498839" y="0"/>
                </a:lnTo>
                <a:lnTo>
                  <a:pt x="2527069" y="0"/>
                </a:lnTo>
                <a:lnTo>
                  <a:pt x="2555300" y="0"/>
                </a:lnTo>
              </a:path>
            </a:pathLst>
          </a:custGeom>
          <a:noFill xmlns:a="http://schemas.openxmlformats.org/drawingml/2006/main"/>
          <a:ln xmlns:a="http://schemas.openxmlformats.org/drawingml/2006/main" w="13299">
            <a:solidFill>
              <a:srgbClr val="34695B"/>
            </a:solidFill>
            <a:prstDash val="solid"/>
          </a:ln>
        </p:spPr>
      </p:sp>
      <p:sp>
        <p:nvSpPr>
          <p:cNvPr id="65" name="Diagram circle">
            <a:extLst xmlns:a="http://schemas.openxmlformats.org/drawingml/2006/main">
              <a:ext uri="{FF2B5EF4-FFF2-40B4-BE49-F238E27FC236}">
                <a16:creationId xmlns:a16="http://schemas.microsoft.com/office/drawing/2014/main" id="{E565C034-B033-4B78-B099-4A94FC68D22B}"/>
              </a:ext>
            </a:extLst>
          </p:cNvPr>
          <p:cNvSpPr>
            <a:spLocks xmlns:a="http://schemas.openxmlformats.org/drawingml/2006/main" noGrp="1"/>
          </p:cNvSpPr>
          <p:nvPr/>
        </p:nvSpPr>
        <p:spPr>
          <a:xfrm xmlns:a="http://schemas.openxmlformats.org/drawingml/2006/main">
            <a:off x="11289828" y="5270295"/>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6" name="Align and push">
            <a:extLst xmlns:a="http://schemas.openxmlformats.org/drawingml/2006/main">
              <a:ext uri="{FF2B5EF4-FFF2-40B4-BE49-F238E27FC236}">
                <a16:creationId xmlns:a16="http://schemas.microsoft.com/office/drawing/2014/main" id="{8995C040-50AD-4B4D-92FC-5C1D47F3E82D}"/>
              </a:ext>
            </a:extLst>
          </p:cNvPr>
          <p:cNvSpPr>
            <a:spLocks xmlns:a="http://schemas.openxmlformats.org/drawingml/2006/main" noGrp="1"/>
          </p:cNvSpPr>
          <p:nvPr/>
        </p:nvSpPr>
        <p:spPr>
          <a:xfrm xmlns:a="http://schemas.openxmlformats.org/drawingml/2006/main">
            <a:off x="13826104" y="4006147"/>
            <a:ext cx="2318891"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Align and push</a:t>
            </a:r>
          </a:p>
        </p:txBody>
      </p:sp>
      <p:sp>
        <p:nvSpPr>
          <p:cNvPr id="67" name="Use the group ahead">
            <a:extLst xmlns:a="http://schemas.openxmlformats.org/drawingml/2006/main">
              <a:ext uri="{FF2B5EF4-FFF2-40B4-BE49-F238E27FC236}">
                <a16:creationId xmlns:a16="http://schemas.microsoft.com/office/drawing/2014/main" id="{7ADD617B-52DA-4DC3-AA5C-FE3AECCF8081}"/>
              </a:ext>
            </a:extLst>
          </p:cNvPr>
          <p:cNvSpPr>
            <a:spLocks xmlns:a="http://schemas.openxmlformats.org/drawingml/2006/main" noGrp="1"/>
          </p:cNvSpPr>
          <p:nvPr/>
        </p:nvSpPr>
        <p:spPr>
          <a:xfrm xmlns:a="http://schemas.openxmlformats.org/drawingml/2006/main">
            <a:off x="13835629" y="4642726"/>
            <a:ext cx="2509390"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Use the group ahead</a:t>
            </a:r>
          </a:p>
        </p:txBody>
      </p:sp>
      <p:sp>
        <p:nvSpPr>
          <p:cNvPr id="68" name="Balance depth and time">
            <a:extLst xmlns:a="http://schemas.openxmlformats.org/drawingml/2006/main">
              <a:ext uri="{FF2B5EF4-FFF2-40B4-BE49-F238E27FC236}">
                <a16:creationId xmlns:a16="http://schemas.microsoft.com/office/drawing/2014/main" id="{98439743-1128-4769-8DAE-B63D32D8782F}"/>
              </a:ext>
            </a:extLst>
          </p:cNvPr>
          <p:cNvSpPr>
            <a:spLocks xmlns:a="http://schemas.openxmlformats.org/drawingml/2006/main" noGrp="1"/>
          </p:cNvSpPr>
          <p:nvPr/>
        </p:nvSpPr>
        <p:spPr>
          <a:xfrm xmlns:a="http://schemas.openxmlformats.org/drawingml/2006/main">
            <a:off x="13835629" y="5032196"/>
            <a:ext cx="280878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Balance depth and time</a:t>
            </a:r>
          </a:p>
        </p:txBody>
      </p:sp>
      <p:sp>
        <p:nvSpPr>
          <p:cNvPr id="69" name="Diagram path">
            <a:extLst xmlns:a="http://schemas.openxmlformats.org/drawingml/2006/main">
              <a:ext uri="{FF2B5EF4-FFF2-40B4-BE49-F238E27FC236}">
                <a16:creationId xmlns:a16="http://schemas.microsoft.com/office/drawing/2014/main" id="{EC874C54-D6CA-4734-BC38-96428A754FFB}"/>
              </a:ext>
            </a:extLst>
          </p:cNvPr>
          <p:cNvSpPr>
            <a:spLocks xmlns:a="http://schemas.openxmlformats.org/drawingml/2006/main" noGrp="1"/>
          </p:cNvSpPr>
          <p:nvPr/>
        </p:nvSpPr>
        <p:spPr>
          <a:xfrm xmlns:a="http://schemas.openxmlformats.org/drawingml/2006/main">
            <a:off x="10805366" y="6410206"/>
            <a:ext cx="3077759" cy="522459"/>
          </a:xfrm>
          <a:custGeom xmlns:a="http://schemas.openxmlformats.org/drawingml/2006/main">
            <a:pathLst>
              <a:path w="3077759" h="522459">
                <a:moveTo>
                  <a:pt x="0" y="0"/>
                </a:moveTo>
                <a:lnTo>
                  <a:pt x="27906" y="5501"/>
                </a:lnTo>
                <a:lnTo>
                  <a:pt x="55812" y="11002"/>
                </a:lnTo>
                <a:lnTo>
                  <a:pt x="83719" y="16504"/>
                </a:lnTo>
                <a:lnTo>
                  <a:pt x="111625" y="22005"/>
                </a:lnTo>
                <a:lnTo>
                  <a:pt x="139531" y="27506"/>
                </a:lnTo>
                <a:lnTo>
                  <a:pt x="167437" y="33007"/>
                </a:lnTo>
                <a:lnTo>
                  <a:pt x="195344" y="38509"/>
                </a:lnTo>
                <a:lnTo>
                  <a:pt x="223250" y="44010"/>
                </a:lnTo>
                <a:lnTo>
                  <a:pt x="251156" y="49511"/>
                </a:lnTo>
                <a:lnTo>
                  <a:pt x="279063" y="55012"/>
                </a:lnTo>
                <a:lnTo>
                  <a:pt x="306969" y="60514"/>
                </a:lnTo>
                <a:lnTo>
                  <a:pt x="334875" y="66015"/>
                </a:lnTo>
                <a:lnTo>
                  <a:pt x="362781" y="71516"/>
                </a:lnTo>
                <a:lnTo>
                  <a:pt x="390688" y="77017"/>
                </a:lnTo>
                <a:lnTo>
                  <a:pt x="418594" y="82518"/>
                </a:lnTo>
                <a:lnTo>
                  <a:pt x="446500" y="88020"/>
                </a:lnTo>
                <a:lnTo>
                  <a:pt x="474406" y="93521"/>
                </a:lnTo>
                <a:lnTo>
                  <a:pt x="502313" y="99022"/>
                </a:lnTo>
                <a:lnTo>
                  <a:pt x="530219" y="104523"/>
                </a:lnTo>
                <a:lnTo>
                  <a:pt x="558125" y="110025"/>
                </a:lnTo>
                <a:lnTo>
                  <a:pt x="586031" y="115526"/>
                </a:lnTo>
                <a:lnTo>
                  <a:pt x="613938" y="121027"/>
                </a:lnTo>
                <a:lnTo>
                  <a:pt x="641844" y="126528"/>
                </a:lnTo>
                <a:lnTo>
                  <a:pt x="669750" y="132029"/>
                </a:lnTo>
                <a:lnTo>
                  <a:pt x="697656" y="137531"/>
                </a:lnTo>
                <a:lnTo>
                  <a:pt x="725563" y="143032"/>
                </a:lnTo>
                <a:lnTo>
                  <a:pt x="753469" y="148533"/>
                </a:lnTo>
                <a:lnTo>
                  <a:pt x="781375" y="154034"/>
                </a:lnTo>
                <a:lnTo>
                  <a:pt x="809281" y="159536"/>
                </a:lnTo>
                <a:lnTo>
                  <a:pt x="837188" y="165037"/>
                </a:lnTo>
                <a:lnTo>
                  <a:pt x="865094" y="170538"/>
                </a:lnTo>
                <a:lnTo>
                  <a:pt x="893000" y="176039"/>
                </a:lnTo>
                <a:lnTo>
                  <a:pt x="920906" y="181541"/>
                </a:lnTo>
                <a:lnTo>
                  <a:pt x="948812" y="187042"/>
                </a:lnTo>
                <a:lnTo>
                  <a:pt x="976719" y="192543"/>
                </a:lnTo>
                <a:lnTo>
                  <a:pt x="1004625" y="198044"/>
                </a:lnTo>
                <a:lnTo>
                  <a:pt x="1032531" y="203546"/>
                </a:lnTo>
                <a:lnTo>
                  <a:pt x="1060437" y="209047"/>
                </a:lnTo>
                <a:lnTo>
                  <a:pt x="1088344" y="214548"/>
                </a:lnTo>
                <a:lnTo>
                  <a:pt x="1116250" y="220049"/>
                </a:lnTo>
                <a:lnTo>
                  <a:pt x="1144156" y="225551"/>
                </a:lnTo>
                <a:lnTo>
                  <a:pt x="1172062" y="231052"/>
                </a:lnTo>
                <a:lnTo>
                  <a:pt x="1199969" y="236553"/>
                </a:lnTo>
                <a:lnTo>
                  <a:pt x="1227875" y="242054"/>
                </a:lnTo>
                <a:lnTo>
                  <a:pt x="1255782" y="247556"/>
                </a:lnTo>
                <a:lnTo>
                  <a:pt x="1283688" y="253057"/>
                </a:lnTo>
                <a:lnTo>
                  <a:pt x="1311594" y="258558"/>
                </a:lnTo>
                <a:lnTo>
                  <a:pt x="1339500" y="264059"/>
                </a:lnTo>
                <a:lnTo>
                  <a:pt x="1367407" y="269561"/>
                </a:lnTo>
                <a:lnTo>
                  <a:pt x="1395313" y="275062"/>
                </a:lnTo>
                <a:lnTo>
                  <a:pt x="1423219" y="280563"/>
                </a:lnTo>
                <a:lnTo>
                  <a:pt x="1451125" y="286064"/>
                </a:lnTo>
                <a:lnTo>
                  <a:pt x="1479031" y="291565"/>
                </a:lnTo>
                <a:lnTo>
                  <a:pt x="1506938" y="297067"/>
                </a:lnTo>
                <a:lnTo>
                  <a:pt x="1534844" y="302568"/>
                </a:lnTo>
                <a:lnTo>
                  <a:pt x="1562750" y="308069"/>
                </a:lnTo>
                <a:lnTo>
                  <a:pt x="1590656" y="313570"/>
                </a:lnTo>
                <a:lnTo>
                  <a:pt x="1618563" y="319072"/>
                </a:lnTo>
                <a:lnTo>
                  <a:pt x="1646469" y="324573"/>
                </a:lnTo>
                <a:lnTo>
                  <a:pt x="1674375" y="330074"/>
                </a:lnTo>
                <a:lnTo>
                  <a:pt x="1702281" y="335575"/>
                </a:lnTo>
                <a:lnTo>
                  <a:pt x="1730188" y="341076"/>
                </a:lnTo>
                <a:lnTo>
                  <a:pt x="1758094" y="346578"/>
                </a:lnTo>
                <a:lnTo>
                  <a:pt x="1786000" y="352079"/>
                </a:lnTo>
                <a:lnTo>
                  <a:pt x="1813906" y="357580"/>
                </a:lnTo>
                <a:lnTo>
                  <a:pt x="1841813" y="363081"/>
                </a:lnTo>
                <a:lnTo>
                  <a:pt x="1869719" y="368583"/>
                </a:lnTo>
                <a:lnTo>
                  <a:pt x="1897625" y="374084"/>
                </a:lnTo>
                <a:lnTo>
                  <a:pt x="1925531" y="379585"/>
                </a:lnTo>
                <a:lnTo>
                  <a:pt x="1953438" y="385086"/>
                </a:lnTo>
                <a:lnTo>
                  <a:pt x="1981344" y="390588"/>
                </a:lnTo>
                <a:lnTo>
                  <a:pt x="2009250" y="396089"/>
                </a:lnTo>
                <a:lnTo>
                  <a:pt x="2037156" y="401590"/>
                </a:lnTo>
                <a:lnTo>
                  <a:pt x="2065063" y="407091"/>
                </a:lnTo>
                <a:lnTo>
                  <a:pt x="2092969" y="412592"/>
                </a:lnTo>
                <a:lnTo>
                  <a:pt x="2120875" y="418094"/>
                </a:lnTo>
                <a:lnTo>
                  <a:pt x="2148781" y="423595"/>
                </a:lnTo>
                <a:lnTo>
                  <a:pt x="2176688" y="429096"/>
                </a:lnTo>
                <a:lnTo>
                  <a:pt x="2204594" y="434597"/>
                </a:lnTo>
                <a:lnTo>
                  <a:pt x="2232500" y="440099"/>
                </a:lnTo>
                <a:lnTo>
                  <a:pt x="2260406" y="445600"/>
                </a:lnTo>
                <a:lnTo>
                  <a:pt x="2288313" y="451101"/>
                </a:lnTo>
                <a:lnTo>
                  <a:pt x="2316219" y="456602"/>
                </a:lnTo>
                <a:lnTo>
                  <a:pt x="2344125" y="462103"/>
                </a:lnTo>
                <a:lnTo>
                  <a:pt x="2372031" y="467605"/>
                </a:lnTo>
                <a:lnTo>
                  <a:pt x="2399938" y="473106"/>
                </a:lnTo>
                <a:lnTo>
                  <a:pt x="2427844" y="478607"/>
                </a:lnTo>
                <a:lnTo>
                  <a:pt x="2455750" y="484108"/>
                </a:lnTo>
                <a:lnTo>
                  <a:pt x="2483656" y="489610"/>
                </a:lnTo>
                <a:lnTo>
                  <a:pt x="2511563" y="495111"/>
                </a:lnTo>
                <a:lnTo>
                  <a:pt x="2539469" y="500612"/>
                </a:lnTo>
                <a:lnTo>
                  <a:pt x="2567375" y="506113"/>
                </a:lnTo>
                <a:lnTo>
                  <a:pt x="2595282" y="511615"/>
                </a:lnTo>
                <a:lnTo>
                  <a:pt x="2623188" y="517116"/>
                </a:lnTo>
                <a:lnTo>
                  <a:pt x="2651109" y="522459"/>
                </a:lnTo>
                <a:lnTo>
                  <a:pt x="2679553" y="522459"/>
                </a:lnTo>
                <a:lnTo>
                  <a:pt x="2707996" y="522459"/>
                </a:lnTo>
                <a:lnTo>
                  <a:pt x="2736439" y="522459"/>
                </a:lnTo>
                <a:lnTo>
                  <a:pt x="2764883" y="522459"/>
                </a:lnTo>
                <a:lnTo>
                  <a:pt x="2793326" y="522459"/>
                </a:lnTo>
                <a:lnTo>
                  <a:pt x="2821769" y="522459"/>
                </a:lnTo>
                <a:lnTo>
                  <a:pt x="2850213" y="522459"/>
                </a:lnTo>
                <a:lnTo>
                  <a:pt x="2878656" y="522459"/>
                </a:lnTo>
                <a:lnTo>
                  <a:pt x="2907100" y="522459"/>
                </a:lnTo>
                <a:lnTo>
                  <a:pt x="2935543" y="522459"/>
                </a:lnTo>
                <a:lnTo>
                  <a:pt x="2963986" y="522459"/>
                </a:lnTo>
                <a:lnTo>
                  <a:pt x="2992429" y="522459"/>
                </a:lnTo>
                <a:lnTo>
                  <a:pt x="3020873" y="522459"/>
                </a:lnTo>
                <a:lnTo>
                  <a:pt x="3049316" y="522459"/>
                </a:lnTo>
                <a:lnTo>
                  <a:pt x="3077759" y="522459"/>
                </a:lnTo>
              </a:path>
            </a:pathLst>
          </a:custGeom>
          <a:noFill xmlns:a="http://schemas.openxmlformats.org/drawingml/2006/main"/>
          <a:ln xmlns:a="http://schemas.openxmlformats.org/drawingml/2006/main" w="13299">
            <a:solidFill>
              <a:srgbClr val="34695B"/>
            </a:solidFill>
            <a:prstDash val="solid"/>
          </a:ln>
        </p:spPr>
      </p:sp>
      <p:sp>
        <p:nvSpPr>
          <p:cNvPr id="70" name="Diagram circle">
            <a:extLst xmlns:a="http://schemas.openxmlformats.org/drawingml/2006/main">
              <a:ext uri="{FF2B5EF4-FFF2-40B4-BE49-F238E27FC236}">
                <a16:creationId xmlns:a16="http://schemas.microsoft.com/office/drawing/2014/main" id="{10E46AB3-E6ED-4E8D-994B-B4CC9F84410B}"/>
              </a:ext>
            </a:extLst>
          </p:cNvPr>
          <p:cNvSpPr>
            <a:spLocks xmlns:a="http://schemas.openxmlformats.org/drawingml/2006/main" noGrp="1"/>
          </p:cNvSpPr>
          <p:nvPr/>
        </p:nvSpPr>
        <p:spPr>
          <a:xfrm xmlns:a="http://schemas.openxmlformats.org/drawingml/2006/main">
            <a:off x="10767368" y="6372209"/>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71" name="Release and return">
            <a:extLst xmlns:a="http://schemas.openxmlformats.org/drawingml/2006/main">
              <a:ext uri="{FF2B5EF4-FFF2-40B4-BE49-F238E27FC236}">
                <a16:creationId xmlns:a16="http://schemas.microsoft.com/office/drawing/2014/main" id="{79EB6FEC-ED11-4E4E-9A5B-9110C96BC951}"/>
              </a:ext>
            </a:extLst>
          </p:cNvPr>
          <p:cNvSpPr>
            <a:spLocks xmlns:a="http://schemas.openxmlformats.org/drawingml/2006/main" noGrp="1"/>
          </p:cNvSpPr>
          <p:nvPr/>
        </p:nvSpPr>
        <p:spPr>
          <a:xfrm xmlns:a="http://schemas.openxmlformats.org/drawingml/2006/main">
            <a:off x="13835629" y="6456956"/>
            <a:ext cx="2850952"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Release and return</a:t>
            </a:r>
          </a:p>
        </p:txBody>
      </p:sp>
      <p:sp>
        <p:nvSpPr>
          <p:cNvPr id="72" name="Back off and check release">
            <a:extLst xmlns:a="http://schemas.openxmlformats.org/drawingml/2006/main">
              <a:ext uri="{FF2B5EF4-FFF2-40B4-BE49-F238E27FC236}">
                <a16:creationId xmlns:a16="http://schemas.microsoft.com/office/drawing/2014/main" id="{F1C88E6C-8B5A-4FB0-AF42-EEDCC1AD3848}"/>
              </a:ext>
            </a:extLst>
          </p:cNvPr>
          <p:cNvSpPr>
            <a:spLocks xmlns:a="http://schemas.openxmlformats.org/drawingml/2006/main" noGrp="1"/>
          </p:cNvSpPr>
          <p:nvPr/>
        </p:nvSpPr>
        <p:spPr>
          <a:xfrm xmlns:a="http://schemas.openxmlformats.org/drawingml/2006/main">
            <a:off x="13835629" y="7093534"/>
            <a:ext cx="3125689" cy="3517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74"/>
              </a:lnSpc>
              <a:spcBef>
                <a:spcPts val="0"/>
              </a:spcBef>
              <a:spcAft>
                <a:spcPts val="0"/>
              </a:spcAft>
              <a:buNone/>
              <a:defRPr sz="1978" b="0">
                <a:solidFill>
                  <a:srgbClr val="75827C"/>
                </a:solidFill>
                <a:latin typeface="Arial"/>
                <a:ea typeface="Arial"/>
                <a:cs typeface="Arial"/>
              </a:defRPr>
            </a:pPr>
            <a:r>
              <a:rPr sz="1978" b="0">
                <a:solidFill>
                  <a:srgbClr val="75827C"/>
                </a:solidFill>
                <a:latin typeface="Arial"/>
                <a:ea typeface="Arial"/>
                <a:cs typeface="Arial"/>
              </a:rPr>
              <a:t>Back off and check release</a:t>
            </a:r>
          </a:p>
        </p:txBody>
      </p:sp>
      <p:sp>
        <p:nvSpPr>
          <p:cNvPr id="73" name="Move behind the next group">
            <a:extLst xmlns:a="http://schemas.openxmlformats.org/drawingml/2006/main">
              <a:ext uri="{FF2B5EF4-FFF2-40B4-BE49-F238E27FC236}">
                <a16:creationId xmlns:a16="http://schemas.microsoft.com/office/drawing/2014/main" id="{0649C626-72A2-4C4F-8B86-115AC05764F5}"/>
              </a:ext>
            </a:extLst>
          </p:cNvPr>
          <p:cNvSpPr>
            <a:spLocks xmlns:a="http://schemas.openxmlformats.org/drawingml/2006/main" noGrp="1"/>
          </p:cNvSpPr>
          <p:nvPr/>
        </p:nvSpPr>
        <p:spPr>
          <a:xfrm xmlns:a="http://schemas.openxmlformats.org/drawingml/2006/main">
            <a:off x="13835629" y="7492529"/>
            <a:ext cx="3125539" cy="340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96"/>
              </a:lnSpc>
              <a:spcBef>
                <a:spcPts val="0"/>
              </a:spcBef>
              <a:spcAft>
                <a:spcPts val="0"/>
              </a:spcAft>
              <a:buNone/>
              <a:defRPr sz="1913" b="0">
                <a:solidFill>
                  <a:srgbClr val="75827C"/>
                </a:solidFill>
                <a:latin typeface="Arial"/>
                <a:ea typeface="Arial"/>
                <a:cs typeface="Arial"/>
              </a:defRPr>
            </a:pPr>
            <a:r>
              <a:rPr sz="1913" b="0">
                <a:solidFill>
                  <a:srgbClr val="75827C"/>
                </a:solidFill>
                <a:latin typeface="Arial"/>
                <a:ea typeface="Arial"/>
                <a:cs typeface="Arial"/>
              </a:rPr>
              <a:t>Move behind the next group</a:t>
            </a:r>
          </a:p>
        </p:txBody>
      </p:sp>
    </p:spTree>
    <p:extLst>
      <p:ext uri="{BB962C8B-B14F-4D97-AF65-F5344CB8AC3E}">
        <p14:creationId xmlns:p14="http://schemas.microsoft.com/office/powerpoint/2010/main" val="21621977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72" name="Section rule">
            <a:extLst xmlns:a="http://schemas.openxmlformats.org/drawingml/2006/main">
              <a:ext uri="{FF2B5EF4-FFF2-40B4-BE49-F238E27FC236}">
                <a16:creationId xmlns:a16="http://schemas.microsoft.com/office/drawing/2014/main" id="{B576B974-5DF3-4943-88F1-0FB8B3450FB2}"/>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90D0D124-CDDA-45C2-9BA9-F5B2A28D7483}"/>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C7AF445A-A323-43A7-9DF4-F5AEC8CF65E0}"/>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947BA114-00E6-4F98-9953-4749ACADD1A9}"/>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280E3E80-19BE-47A5-90DB-9D7046166A46}"/>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Midgame: choosing the more valuable target</a:t>
            </a:r>
          </a:p>
        </p:txBody>
      </p:sp>
      <p:sp>
        <p:nvSpPr>
          <p:cNvPr id="6" name="When both robots contest a group,compare the likely gain first.">
            <a:extLst xmlns:a="http://schemas.openxmlformats.org/drawingml/2006/main">
              <a:ext uri="{FF2B5EF4-FFF2-40B4-BE49-F238E27FC236}">
                <a16:creationId xmlns:a16="http://schemas.microsoft.com/office/drawing/2014/main" id="{CAC4D504-5F19-4775-83FC-379459DADD47}"/>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When both robots contest a group,</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compare the likely gain first.</a:t>
            </a:r>
          </a:p>
        </p:txBody>
      </p:sp>
      <p:sp>
        <p:nvSpPr>
          <p:cNvPr id="7" name="Check feasibility">
            <a:extLst xmlns:a="http://schemas.openxmlformats.org/drawingml/2006/main">
              <a:ext uri="{FF2B5EF4-FFF2-40B4-BE49-F238E27FC236}">
                <a16:creationId xmlns:a16="http://schemas.microsoft.com/office/drawing/2014/main" id="{917869EB-CF0E-4F3B-A15E-0320B8F8AB03}"/>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Check feasibility</a:t>
            </a:r>
          </a:p>
        </p:txBody>
      </p:sp>
      <p:sp>
        <p:nvSpPr>
          <p:cNvPr id="8" name="The pusher must cover the group, with room to approach.">
            <a:extLst xmlns:a="http://schemas.openxmlformats.org/drawingml/2006/main">
              <a:ext uri="{FF2B5EF4-FFF2-40B4-BE49-F238E27FC236}">
                <a16:creationId xmlns:a16="http://schemas.microsoft.com/office/drawing/2014/main" id="{101DADA5-A137-476B-AF3A-AA18CCA641DF}"/>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The pusher must cover the group, with room to</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approach.</a:t>
            </a:r>
          </a:p>
        </p:txBody>
      </p:sp>
      <p:sp>
        <p:nvSpPr>
          <p:cNvPr id="9" name="Compare full cycles">
            <a:extLst xmlns:a="http://schemas.openxmlformats.org/drawingml/2006/main">
              <a:ext uri="{FF2B5EF4-FFF2-40B4-BE49-F238E27FC236}">
                <a16:creationId xmlns:a16="http://schemas.microsoft.com/office/drawing/2014/main" id="{FA802B24-E035-4595-A4A8-6EF4EA8F2269}"/>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Compare full cycles</a:t>
            </a:r>
          </a:p>
        </p:txBody>
      </p:sp>
      <p:sp>
        <p:nvSpPr>
          <p:cNvPr id="10" name="Include approach, push, release and return time.">
            <a:extLst xmlns:a="http://schemas.openxmlformats.org/drawingml/2006/main">
              <a:ext uri="{FF2B5EF4-FFF2-40B4-BE49-F238E27FC236}">
                <a16:creationId xmlns:a16="http://schemas.microsoft.com/office/drawing/2014/main" id="{BC75AEA4-752F-444C-BD60-78822865A944}"/>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push, release and return</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time.</a:t>
            </a:r>
          </a:p>
        </p:txBody>
      </p:sp>
      <p:sp>
        <p:nvSpPr>
          <p:cNvPr id="11" name="Switch if arrival times are close">
            <a:extLst xmlns:a="http://schemas.openxmlformats.org/drawingml/2006/main">
              <a:ext uri="{FF2B5EF4-FFF2-40B4-BE49-F238E27FC236}">
                <a16:creationId xmlns:a16="http://schemas.microsoft.com/office/drawing/2014/main" id="{FB4E04A3-B9FF-4082-89E5-293D71987FC5}"/>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Switch if arrival times are close</a:t>
            </a:r>
          </a:p>
        </p:txBody>
      </p:sp>
      <p:sp>
        <p:nvSpPr>
          <p:cNvPr id="12" name="Avoid wasting time in a head-on pushing contest.">
            <a:extLst xmlns:a="http://schemas.openxmlformats.org/drawingml/2006/main">
              <a:ext uri="{FF2B5EF4-FFF2-40B4-BE49-F238E27FC236}">
                <a16:creationId xmlns:a16="http://schemas.microsoft.com/office/drawing/2014/main" id="{5E46C5FA-9F6A-430E-B8CD-B96D522DDB1C}"/>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Avoid wasting time in a head-on pushing</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contest.</a:t>
            </a:r>
          </a:p>
        </p:txBody>
      </p:sp>
      <p:sp>
        <p:nvSpPr>
          <p:cNvPr id="13" name="Diagram rect">
            <a:extLst xmlns:a="http://schemas.openxmlformats.org/drawingml/2006/main">
              <a:ext uri="{FF2B5EF4-FFF2-40B4-BE49-F238E27FC236}">
                <a16:creationId xmlns:a16="http://schemas.microsoft.com/office/drawing/2014/main" id="{B24EF3B7-2A9D-4BEC-8935-47AF6D70034B}"/>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4BD0B816-CC22-41EF-BD69-C91774386732}"/>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785D4667-778A-4F38-8E9B-6AA9D9A193CD}"/>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E8EDAFAA-72C2-4DB1-9046-E14F8D30E7B6}"/>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DBD44ABF-7A7D-4138-833A-F9FE886CF348}"/>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63B41B3C-E5E5-4F19-92FB-C40289BD0972}"/>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19D85C36-48B4-4279-B123-B16A0935F46A}"/>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95FAE5B3-25D2-4C4D-9761-E237F439C928}"/>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74DD4321-9BA8-42C4-9EBA-544CDC30ED56}"/>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D58A30EB-C8AB-4813-82EC-A0AE1EC5EAB9}"/>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AD8BF0AC-0597-43E2-AC02-86189BC564C8}"/>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8A882DD0-18D6-4F1E-B4FE-DBF2EBB2DC7F}"/>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17414915-96A6-4428-A9ED-F245923FD34F}"/>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4206CBD4-59DF-49ED-AF68-771D0A3FD432}"/>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5B607E1C-2CC0-4567-94AF-0D31BF96EF98}"/>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5189F9E0-9F3B-4B00-AC4B-505D85140743}"/>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52A44A0D-AC43-4A4C-842A-6A39E1F9AC9E}"/>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5596E92D-84B8-48F0-9AD8-CD0B2D9B4D86}"/>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4E4D0730-A3C0-4126-BF3C-3E768DCFFCA3}"/>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3B002D68-E186-4F44-9715-F3A9EE35AD49}"/>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6885600E-F4D5-4075-AB41-80D5FDABE7AB}"/>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33DB3CA1-33EB-4645-A3CB-47A5AC0D7658}"/>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34808F49-A19D-459E-9626-115AFD80ABD6}"/>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6CE21518-B62A-410E-B392-FDF0CEB8D251}"/>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42BA28A1-A9CF-474B-A392-B265CDE183B5}"/>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2572FB1F-40C4-4286-A748-A39C32C4887C}"/>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6111D77A-2CF9-48A3-A105-9DB27C01F70F}"/>
              </a:ext>
            </a:extLst>
          </p:cNvPr>
          <p:cNvSpPr>
            <a:spLocks xmlns:a="http://schemas.openxmlformats.org/drawingml/2006/main" noGrp="1"/>
          </p:cNvSpPr>
          <p:nvPr/>
        </p:nvSpPr>
        <p:spPr>
          <a:xfrm xmlns:a="http://schemas.openxmlformats.org/drawingml/2006/main">
            <a:off x="9190493" y="4738337"/>
            <a:ext cx="940426" cy="2032841"/>
          </a:xfrm>
          <a:prstGeom xmlns:a="http://schemas.openxmlformats.org/drawingml/2006/main" prst="rect">
            <a:avLst/>
          </a:prstGeom>
          <a:solidFill xmlns:a="http://schemas.openxmlformats.org/drawingml/2006/main">
            <a:srgbClr val="34695B">
              <a:alpha val="9000"/>
            </a:srgbClr>
          </a:solidFill>
          <a:ln xmlns:a="http://schemas.openxmlformats.org/drawingml/2006/main" w="9499">
            <a:noFill/>
            <a:prstDash val="solid"/>
          </a:ln>
        </p:spPr>
      </p:sp>
      <p:sp>
        <p:nvSpPr>
          <p:cNvPr id="40" name="Diagram path">
            <a:extLst xmlns:a="http://schemas.openxmlformats.org/drawingml/2006/main">
              <a:ext uri="{FF2B5EF4-FFF2-40B4-BE49-F238E27FC236}">
                <a16:creationId xmlns:a16="http://schemas.microsoft.com/office/drawing/2014/main" id="{26E746D6-BC1D-4D09-8ED9-527D5F03AC5B}"/>
              </a:ext>
            </a:extLst>
          </p:cNvPr>
          <p:cNvSpPr>
            <a:spLocks xmlns:a="http://schemas.openxmlformats.org/drawingml/2006/main" noGrp="1"/>
          </p:cNvSpPr>
          <p:nvPr/>
        </p:nvSpPr>
        <p:spPr>
          <a:xfrm xmlns:a="http://schemas.openxmlformats.org/drawingml/2006/main">
            <a:off x="9190492" y="4738337"/>
            <a:ext cx="9525" cy="2032841"/>
          </a:xfrm>
          <a:custGeom xmlns:a="http://schemas.openxmlformats.org/drawingml/2006/main">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xmlns:a="http://schemas.openxmlformats.org/drawingml/2006/main">
            <a:srgbClr val="000000"/>
          </a:solidFill>
          <a:ln xmlns:a="http://schemas.openxmlformats.org/drawingml/2006/main" w="14249">
            <a:solidFill>
              <a:srgbClr val="34695B"/>
            </a:solidFill>
            <a:prstDash val="dash"/>
          </a:ln>
        </p:spPr>
      </p:sp>
      <p:sp>
        <p:nvSpPr>
          <p:cNvPr id="41" name="Diagram path">
            <a:extLst xmlns:a="http://schemas.openxmlformats.org/drawingml/2006/main">
              <a:ext uri="{FF2B5EF4-FFF2-40B4-BE49-F238E27FC236}">
                <a16:creationId xmlns:a16="http://schemas.microsoft.com/office/drawing/2014/main" id="{092AB954-0E6A-484D-938D-B519BA253D77}"/>
              </a:ext>
            </a:extLst>
          </p:cNvPr>
          <p:cNvSpPr>
            <a:spLocks xmlns:a="http://schemas.openxmlformats.org/drawingml/2006/main" noGrp="1"/>
          </p:cNvSpPr>
          <p:nvPr/>
        </p:nvSpPr>
        <p:spPr>
          <a:xfrm xmlns:a="http://schemas.openxmlformats.org/drawingml/2006/main">
            <a:off x="10130919" y="4738337"/>
            <a:ext cx="9525" cy="2032841"/>
          </a:xfrm>
          <a:custGeom xmlns:a="http://schemas.openxmlformats.org/drawingml/2006/main">
            <a:pathLst>
              <a:path w="9525" h="2032841">
                <a:moveTo>
                  <a:pt x="0" y="0"/>
                </a:moveTo>
                <a:lnTo>
                  <a:pt x="0" y="28234"/>
                </a:lnTo>
                <a:lnTo>
                  <a:pt x="0" y="56468"/>
                </a:lnTo>
                <a:lnTo>
                  <a:pt x="0" y="84702"/>
                </a:lnTo>
                <a:lnTo>
                  <a:pt x="0" y="112936"/>
                </a:lnTo>
                <a:lnTo>
                  <a:pt x="0" y="141170"/>
                </a:lnTo>
                <a:lnTo>
                  <a:pt x="0" y="169403"/>
                </a:lnTo>
                <a:lnTo>
                  <a:pt x="0" y="197637"/>
                </a:lnTo>
                <a:lnTo>
                  <a:pt x="0" y="225871"/>
                </a:lnTo>
                <a:lnTo>
                  <a:pt x="0" y="254105"/>
                </a:lnTo>
                <a:lnTo>
                  <a:pt x="0" y="282339"/>
                </a:lnTo>
                <a:lnTo>
                  <a:pt x="0" y="310573"/>
                </a:lnTo>
                <a:lnTo>
                  <a:pt x="0" y="338807"/>
                </a:lnTo>
                <a:lnTo>
                  <a:pt x="0" y="367041"/>
                </a:lnTo>
                <a:lnTo>
                  <a:pt x="0" y="395275"/>
                </a:lnTo>
                <a:lnTo>
                  <a:pt x="0" y="423508"/>
                </a:lnTo>
                <a:lnTo>
                  <a:pt x="0" y="451742"/>
                </a:lnTo>
                <a:lnTo>
                  <a:pt x="0" y="479976"/>
                </a:lnTo>
                <a:lnTo>
                  <a:pt x="0" y="508210"/>
                </a:lnTo>
                <a:lnTo>
                  <a:pt x="0" y="536444"/>
                </a:lnTo>
                <a:lnTo>
                  <a:pt x="0" y="564678"/>
                </a:lnTo>
                <a:lnTo>
                  <a:pt x="0" y="592912"/>
                </a:lnTo>
                <a:lnTo>
                  <a:pt x="0" y="621146"/>
                </a:lnTo>
                <a:lnTo>
                  <a:pt x="0" y="649380"/>
                </a:lnTo>
                <a:lnTo>
                  <a:pt x="0" y="677614"/>
                </a:lnTo>
                <a:lnTo>
                  <a:pt x="0" y="705847"/>
                </a:lnTo>
                <a:lnTo>
                  <a:pt x="0" y="734081"/>
                </a:lnTo>
                <a:lnTo>
                  <a:pt x="0" y="762315"/>
                </a:lnTo>
                <a:lnTo>
                  <a:pt x="0" y="790549"/>
                </a:lnTo>
                <a:lnTo>
                  <a:pt x="0" y="818783"/>
                </a:lnTo>
                <a:lnTo>
                  <a:pt x="0" y="847017"/>
                </a:lnTo>
                <a:lnTo>
                  <a:pt x="0" y="875251"/>
                </a:lnTo>
                <a:lnTo>
                  <a:pt x="0" y="903485"/>
                </a:lnTo>
                <a:lnTo>
                  <a:pt x="0" y="931719"/>
                </a:lnTo>
                <a:lnTo>
                  <a:pt x="0" y="959953"/>
                </a:lnTo>
                <a:lnTo>
                  <a:pt x="0" y="988187"/>
                </a:lnTo>
                <a:lnTo>
                  <a:pt x="0" y="1016420"/>
                </a:lnTo>
                <a:lnTo>
                  <a:pt x="0" y="1044654"/>
                </a:lnTo>
                <a:lnTo>
                  <a:pt x="0" y="1072888"/>
                </a:lnTo>
                <a:lnTo>
                  <a:pt x="0" y="1101122"/>
                </a:lnTo>
                <a:lnTo>
                  <a:pt x="0" y="1129356"/>
                </a:lnTo>
                <a:lnTo>
                  <a:pt x="0" y="1157590"/>
                </a:lnTo>
                <a:lnTo>
                  <a:pt x="0" y="1185824"/>
                </a:lnTo>
                <a:lnTo>
                  <a:pt x="0" y="1214058"/>
                </a:lnTo>
                <a:lnTo>
                  <a:pt x="0" y="1242292"/>
                </a:lnTo>
                <a:lnTo>
                  <a:pt x="0" y="1270526"/>
                </a:lnTo>
                <a:lnTo>
                  <a:pt x="0" y="1298760"/>
                </a:lnTo>
                <a:lnTo>
                  <a:pt x="0" y="1326994"/>
                </a:lnTo>
                <a:lnTo>
                  <a:pt x="0" y="1355227"/>
                </a:lnTo>
                <a:lnTo>
                  <a:pt x="0" y="1383461"/>
                </a:lnTo>
                <a:lnTo>
                  <a:pt x="0" y="1411695"/>
                </a:lnTo>
                <a:lnTo>
                  <a:pt x="0" y="1439929"/>
                </a:lnTo>
                <a:lnTo>
                  <a:pt x="0" y="1468163"/>
                </a:lnTo>
                <a:lnTo>
                  <a:pt x="0" y="1496397"/>
                </a:lnTo>
                <a:lnTo>
                  <a:pt x="0" y="1524631"/>
                </a:lnTo>
                <a:lnTo>
                  <a:pt x="0" y="1552865"/>
                </a:lnTo>
                <a:lnTo>
                  <a:pt x="0" y="1581099"/>
                </a:lnTo>
                <a:lnTo>
                  <a:pt x="0" y="1609333"/>
                </a:lnTo>
                <a:lnTo>
                  <a:pt x="0" y="1637566"/>
                </a:lnTo>
                <a:lnTo>
                  <a:pt x="0" y="1665800"/>
                </a:lnTo>
                <a:lnTo>
                  <a:pt x="0" y="1694034"/>
                </a:lnTo>
                <a:lnTo>
                  <a:pt x="0" y="1722268"/>
                </a:lnTo>
                <a:lnTo>
                  <a:pt x="0" y="1750502"/>
                </a:lnTo>
                <a:lnTo>
                  <a:pt x="0" y="1778736"/>
                </a:lnTo>
                <a:lnTo>
                  <a:pt x="0" y="1806970"/>
                </a:lnTo>
                <a:lnTo>
                  <a:pt x="0" y="1835204"/>
                </a:lnTo>
                <a:lnTo>
                  <a:pt x="0" y="1863438"/>
                </a:lnTo>
                <a:lnTo>
                  <a:pt x="0" y="1891671"/>
                </a:lnTo>
                <a:lnTo>
                  <a:pt x="0" y="1919905"/>
                </a:lnTo>
                <a:lnTo>
                  <a:pt x="0" y="1948139"/>
                </a:lnTo>
                <a:lnTo>
                  <a:pt x="0" y="1976373"/>
                </a:lnTo>
                <a:lnTo>
                  <a:pt x="0" y="2004607"/>
                </a:lnTo>
                <a:lnTo>
                  <a:pt x="0" y="2032841"/>
                </a:lnTo>
              </a:path>
            </a:pathLst>
          </a:custGeom>
          <a:solidFill xmlns:a="http://schemas.openxmlformats.org/drawingml/2006/main">
            <a:srgbClr val="000000"/>
          </a:solidFill>
          <a:ln xmlns:a="http://schemas.openxmlformats.org/drawingml/2006/main" w="14249">
            <a:solidFill>
              <a:srgbClr val="34695B"/>
            </a:solidFill>
            <a:prstDash val="dash"/>
          </a:ln>
        </p:spPr>
      </p:sp>
      <p:sp>
        <p:nvSpPr>
          <p:cNvPr id="42" name="Diagram rect">
            <a:extLst xmlns:a="http://schemas.openxmlformats.org/drawingml/2006/main">
              <a:ext uri="{FF2B5EF4-FFF2-40B4-BE49-F238E27FC236}">
                <a16:creationId xmlns:a16="http://schemas.microsoft.com/office/drawing/2014/main" id="{16027167-A7D3-4097-957D-1E5B859C5DE9}"/>
              </a:ext>
            </a:extLst>
          </p:cNvPr>
          <p:cNvSpPr>
            <a:spLocks xmlns:a="http://schemas.openxmlformats.org/drawingml/2006/main" noGrp="1"/>
          </p:cNvSpPr>
          <p:nvPr/>
        </p:nvSpPr>
        <p:spPr>
          <a:xfrm xmlns:a="http://schemas.openxmlformats.org/drawingml/2006/main">
            <a:off x="9370978"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4FC6102D-9ABC-48EA-BFA8-4F6D9C9007EA}"/>
              </a:ext>
            </a:extLst>
          </p:cNvPr>
          <p:cNvSpPr>
            <a:spLocks xmlns:a="http://schemas.openxmlformats.org/drawingml/2006/main" noGrp="1"/>
          </p:cNvSpPr>
          <p:nvPr/>
        </p:nvSpPr>
        <p:spPr>
          <a:xfrm xmlns:a="http://schemas.openxmlformats.org/drawingml/2006/main">
            <a:off x="9579962" y="5355788"/>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rect">
            <a:extLst xmlns:a="http://schemas.openxmlformats.org/drawingml/2006/main">
              <a:ext uri="{FF2B5EF4-FFF2-40B4-BE49-F238E27FC236}">
                <a16:creationId xmlns:a16="http://schemas.microsoft.com/office/drawing/2014/main" id="{E1743896-D5F5-4E71-A0C4-FD8CE4FCDB98}"/>
              </a:ext>
            </a:extLst>
          </p:cNvPr>
          <p:cNvSpPr>
            <a:spLocks xmlns:a="http://schemas.openxmlformats.org/drawingml/2006/main" noGrp="1"/>
          </p:cNvSpPr>
          <p:nvPr/>
        </p:nvSpPr>
        <p:spPr>
          <a:xfrm xmlns:a="http://schemas.openxmlformats.org/drawingml/2006/main">
            <a:off x="9798445"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5" name="Diagram rect">
            <a:extLst xmlns:a="http://schemas.openxmlformats.org/drawingml/2006/main">
              <a:ext uri="{FF2B5EF4-FFF2-40B4-BE49-F238E27FC236}">
                <a16:creationId xmlns:a16="http://schemas.microsoft.com/office/drawing/2014/main" id="{4E66B062-F1F3-42A6-99E8-134DD24532D3}"/>
              </a:ext>
            </a:extLst>
          </p:cNvPr>
          <p:cNvSpPr>
            <a:spLocks xmlns:a="http://schemas.openxmlformats.org/drawingml/2006/main" noGrp="1"/>
          </p:cNvSpPr>
          <p:nvPr/>
        </p:nvSpPr>
        <p:spPr>
          <a:xfrm xmlns:a="http://schemas.openxmlformats.org/drawingml/2006/main">
            <a:off x="11080845" y="5289293"/>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6" name="Diagram rect">
            <a:extLst xmlns:a="http://schemas.openxmlformats.org/drawingml/2006/main">
              <a:ext uri="{FF2B5EF4-FFF2-40B4-BE49-F238E27FC236}">
                <a16:creationId xmlns:a16="http://schemas.microsoft.com/office/drawing/2014/main" id="{CA9614F3-C28C-47B6-B75D-AA9057DD5209}"/>
              </a:ext>
            </a:extLst>
          </p:cNvPr>
          <p:cNvSpPr>
            <a:spLocks xmlns:a="http://schemas.openxmlformats.org/drawingml/2006/main" noGrp="1"/>
          </p:cNvSpPr>
          <p:nvPr/>
        </p:nvSpPr>
        <p:spPr>
          <a:xfrm xmlns:a="http://schemas.openxmlformats.org/drawingml/2006/main">
            <a:off x="11289828" y="5355788"/>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7" name="Diagram rect">
            <a:extLst xmlns:a="http://schemas.openxmlformats.org/drawingml/2006/main">
              <a:ext uri="{FF2B5EF4-FFF2-40B4-BE49-F238E27FC236}">
                <a16:creationId xmlns:a16="http://schemas.microsoft.com/office/drawing/2014/main" id="{1E8FA3C5-7417-4E0F-B69B-AF7C9A254089}"/>
              </a:ext>
            </a:extLst>
          </p:cNvPr>
          <p:cNvSpPr>
            <a:spLocks xmlns:a="http://schemas.openxmlformats.org/drawingml/2006/main" noGrp="1"/>
          </p:cNvSpPr>
          <p:nvPr/>
        </p:nvSpPr>
        <p:spPr>
          <a:xfrm xmlns:a="http://schemas.openxmlformats.org/drawingml/2006/main">
            <a:off x="11508311" y="5289293"/>
            <a:ext cx="132990" cy="132990"/>
          </a:xfrm>
          <a:prstGeom xmlns:a="http://schemas.openxmlformats.org/drawingml/2006/main" prst="rect">
            <a:avLst/>
          </a:prstGeom>
          <a:solidFill xmlns:a="http://schemas.openxmlformats.org/drawingml/2006/main">
            <a:srgbClr val="657D95"/>
          </a:solidFill>
          <a:ln xmlns:a="http://schemas.openxmlformats.org/drawingml/2006/main" w="9499">
            <a:noFill/>
            <a:prstDash val="solid"/>
          </a:ln>
        </p:spPr>
      </p:sp>
      <p:sp>
        <p:nvSpPr>
          <p:cNvPr id="48" name="Diagram ellipse">
            <a:extLst xmlns:a="http://schemas.openxmlformats.org/drawingml/2006/main">
              <a:ext uri="{FF2B5EF4-FFF2-40B4-BE49-F238E27FC236}">
                <a16:creationId xmlns:a16="http://schemas.microsoft.com/office/drawing/2014/main" id="{43209BB7-B53D-4B7C-8CD0-78EF60362A9B}"/>
              </a:ext>
            </a:extLst>
          </p:cNvPr>
          <p:cNvSpPr>
            <a:spLocks xmlns:a="http://schemas.openxmlformats.org/drawingml/2006/main" noGrp="1"/>
          </p:cNvSpPr>
          <p:nvPr/>
        </p:nvSpPr>
        <p:spPr>
          <a:xfrm xmlns:a="http://schemas.openxmlformats.org/drawingml/2006/main">
            <a:off x="10748371" y="4861827"/>
            <a:ext cx="1253901" cy="987923"/>
          </a:xfrm>
          <a:prstGeom xmlns:a="http://schemas.openxmlformats.org/drawingml/2006/main" prst="ellipse">
            <a:avLst/>
          </a:prstGeom>
          <a:noFill xmlns:a="http://schemas.openxmlformats.org/drawingml/2006/main"/>
          <a:ln xmlns:a="http://schemas.openxmlformats.org/drawingml/2006/main" w="13299">
            <a:solidFill>
              <a:srgbClr val="657D95"/>
            </a:solidFill>
            <a:prstDash val="dash"/>
          </a:ln>
        </p:spPr>
      </p:sp>
      <p:sp>
        <p:nvSpPr>
          <p:cNvPr id="49" name="Diagram path">
            <a:extLst xmlns:a="http://schemas.openxmlformats.org/drawingml/2006/main">
              <a:ext uri="{FF2B5EF4-FFF2-40B4-BE49-F238E27FC236}">
                <a16:creationId xmlns:a16="http://schemas.microsoft.com/office/drawing/2014/main" id="{8DC75AD5-334E-4478-B880-E00AC0B82FA6}"/>
              </a:ext>
            </a:extLst>
          </p:cNvPr>
          <p:cNvSpPr>
            <a:spLocks xmlns:a="http://schemas.openxmlformats.org/drawingml/2006/main" noGrp="1"/>
          </p:cNvSpPr>
          <p:nvPr/>
        </p:nvSpPr>
        <p:spPr>
          <a:xfrm xmlns:a="http://schemas.openxmlformats.org/drawingml/2006/main">
            <a:off x="10672376" y="5859249"/>
            <a:ext cx="684957" cy="854933"/>
          </a:xfrm>
          <a:custGeom xmlns:a="http://schemas.openxmlformats.org/drawingml/2006/main">
            <a:pathLst>
              <a:path w="684957" h="854933">
                <a:moveTo>
                  <a:pt x="0" y="854933"/>
                </a:moveTo>
                <a:lnTo>
                  <a:pt x="25556" y="842486"/>
                </a:lnTo>
                <a:lnTo>
                  <a:pt x="50972" y="829759"/>
                </a:lnTo>
                <a:lnTo>
                  <a:pt x="76240" y="816738"/>
                </a:lnTo>
                <a:lnTo>
                  <a:pt x="101342" y="803399"/>
                </a:lnTo>
                <a:lnTo>
                  <a:pt x="126277" y="789751"/>
                </a:lnTo>
                <a:lnTo>
                  <a:pt x="151023" y="775766"/>
                </a:lnTo>
                <a:lnTo>
                  <a:pt x="175573" y="761436"/>
                </a:lnTo>
                <a:lnTo>
                  <a:pt x="199910" y="746749"/>
                </a:lnTo>
                <a:lnTo>
                  <a:pt x="224018" y="731689"/>
                </a:lnTo>
                <a:lnTo>
                  <a:pt x="247882" y="716245"/>
                </a:lnTo>
                <a:lnTo>
                  <a:pt x="271483" y="700403"/>
                </a:lnTo>
                <a:lnTo>
                  <a:pt x="294799" y="684143"/>
                </a:lnTo>
                <a:lnTo>
                  <a:pt x="317810" y="667456"/>
                </a:lnTo>
                <a:lnTo>
                  <a:pt x="340490" y="650320"/>
                </a:lnTo>
                <a:lnTo>
                  <a:pt x="362814" y="632724"/>
                </a:lnTo>
                <a:lnTo>
                  <a:pt x="384753" y="614650"/>
                </a:lnTo>
                <a:lnTo>
                  <a:pt x="406276" y="596083"/>
                </a:lnTo>
                <a:lnTo>
                  <a:pt x="427347" y="577005"/>
                </a:lnTo>
                <a:lnTo>
                  <a:pt x="447932" y="557403"/>
                </a:lnTo>
                <a:lnTo>
                  <a:pt x="467991" y="537263"/>
                </a:lnTo>
                <a:lnTo>
                  <a:pt x="487482" y="516573"/>
                </a:lnTo>
                <a:lnTo>
                  <a:pt x="506355" y="495319"/>
                </a:lnTo>
                <a:lnTo>
                  <a:pt x="524569" y="473497"/>
                </a:lnTo>
                <a:lnTo>
                  <a:pt x="542065" y="451095"/>
                </a:lnTo>
                <a:lnTo>
                  <a:pt x="558796" y="428116"/>
                </a:lnTo>
                <a:lnTo>
                  <a:pt x="574704" y="404561"/>
                </a:lnTo>
                <a:lnTo>
                  <a:pt x="589735" y="380436"/>
                </a:lnTo>
                <a:lnTo>
                  <a:pt x="603830" y="355754"/>
                </a:lnTo>
                <a:lnTo>
                  <a:pt x="616937" y="330532"/>
                </a:lnTo>
                <a:lnTo>
                  <a:pt x="629002" y="304797"/>
                </a:lnTo>
                <a:lnTo>
                  <a:pt x="639976" y="278577"/>
                </a:lnTo>
                <a:lnTo>
                  <a:pt x="649811" y="251910"/>
                </a:lnTo>
                <a:lnTo>
                  <a:pt x="658476" y="224839"/>
                </a:lnTo>
                <a:lnTo>
                  <a:pt x="665939" y="197413"/>
                </a:lnTo>
                <a:lnTo>
                  <a:pt x="672176" y="169683"/>
                </a:lnTo>
                <a:lnTo>
                  <a:pt x="677180" y="141704"/>
                </a:lnTo>
                <a:lnTo>
                  <a:pt x="680949" y="113531"/>
                </a:lnTo>
                <a:lnTo>
                  <a:pt x="683486" y="85221"/>
                </a:lnTo>
                <a:lnTo>
                  <a:pt x="684814" y="56829"/>
                </a:lnTo>
                <a:lnTo>
                  <a:pt x="684957" y="28406"/>
                </a:lnTo>
                <a:lnTo>
                  <a:pt x="683946" y="0"/>
                </a:lnTo>
              </a:path>
            </a:pathLst>
          </a:custGeom>
          <a:noFill xmlns:a="http://schemas.openxmlformats.org/drawingml/2006/main"/>
          <a:ln xmlns:a="http://schemas.openxmlformats.org/drawingml/2006/main" w="23748">
            <a:solidFill>
              <a:srgbClr val="657D95">
                <a:alpha val="65000"/>
              </a:srgbClr>
            </a:solidFill>
            <a:prstDash val="dash"/>
          </a:ln>
        </p:spPr>
      </p:sp>
      <p:sp>
        <p:nvSpPr>
          <p:cNvPr id="50" name="Diagram path">
            <a:extLst xmlns:a="http://schemas.openxmlformats.org/drawingml/2006/main">
              <a:ext uri="{FF2B5EF4-FFF2-40B4-BE49-F238E27FC236}">
                <a16:creationId xmlns:a16="http://schemas.microsoft.com/office/drawing/2014/main" id="{5118F794-2D01-46DC-AF58-EDFD565D9664}"/>
              </a:ext>
            </a:extLst>
          </p:cNvPr>
          <p:cNvSpPr>
            <a:spLocks xmlns:a="http://schemas.openxmlformats.org/drawingml/2006/main" noGrp="1"/>
          </p:cNvSpPr>
          <p:nvPr/>
        </p:nvSpPr>
        <p:spPr>
          <a:xfrm xmlns:a="http://schemas.openxmlformats.org/drawingml/2006/main">
            <a:off x="11470314" y="4377365"/>
            <a:ext cx="721944" cy="446465"/>
          </a:xfrm>
          <a:custGeom xmlns:a="http://schemas.openxmlformats.org/drawingml/2006/main">
            <a:pathLst>
              <a:path w="721944" h="446465">
                <a:moveTo>
                  <a:pt x="721944" y="0"/>
                </a:moveTo>
                <a:lnTo>
                  <a:pt x="695847" y="9437"/>
                </a:lnTo>
                <a:lnTo>
                  <a:pt x="669826" y="19084"/>
                </a:lnTo>
                <a:lnTo>
                  <a:pt x="643887" y="28946"/>
                </a:lnTo>
                <a:lnTo>
                  <a:pt x="618035" y="39033"/>
                </a:lnTo>
                <a:lnTo>
                  <a:pt x="592276" y="49358"/>
                </a:lnTo>
                <a:lnTo>
                  <a:pt x="566616" y="59926"/>
                </a:lnTo>
                <a:lnTo>
                  <a:pt x="541062" y="70746"/>
                </a:lnTo>
                <a:lnTo>
                  <a:pt x="515623" y="81835"/>
                </a:lnTo>
                <a:lnTo>
                  <a:pt x="490304" y="93197"/>
                </a:lnTo>
                <a:lnTo>
                  <a:pt x="465118" y="104848"/>
                </a:lnTo>
                <a:lnTo>
                  <a:pt x="440074" y="116801"/>
                </a:lnTo>
                <a:lnTo>
                  <a:pt x="415181" y="129066"/>
                </a:lnTo>
                <a:lnTo>
                  <a:pt x="390452" y="141660"/>
                </a:lnTo>
                <a:lnTo>
                  <a:pt x="365903" y="154600"/>
                </a:lnTo>
                <a:lnTo>
                  <a:pt x="341547" y="167899"/>
                </a:lnTo>
                <a:lnTo>
                  <a:pt x="317400" y="181575"/>
                </a:lnTo>
                <a:lnTo>
                  <a:pt x="293481" y="195646"/>
                </a:lnTo>
                <a:lnTo>
                  <a:pt x="269811" y="210131"/>
                </a:lnTo>
                <a:lnTo>
                  <a:pt x="246415" y="225054"/>
                </a:lnTo>
                <a:lnTo>
                  <a:pt x="223315" y="240432"/>
                </a:lnTo>
                <a:lnTo>
                  <a:pt x="200539" y="256285"/>
                </a:lnTo>
                <a:lnTo>
                  <a:pt x="178124" y="272646"/>
                </a:lnTo>
                <a:lnTo>
                  <a:pt x="156101" y="289529"/>
                </a:lnTo>
                <a:lnTo>
                  <a:pt x="134512" y="306964"/>
                </a:lnTo>
                <a:lnTo>
                  <a:pt x="113403" y="324976"/>
                </a:lnTo>
                <a:lnTo>
                  <a:pt x="92821" y="343590"/>
                </a:lnTo>
                <a:lnTo>
                  <a:pt x="72823" y="362829"/>
                </a:lnTo>
                <a:lnTo>
                  <a:pt x="53471" y="382716"/>
                </a:lnTo>
                <a:lnTo>
                  <a:pt x="34832" y="403273"/>
                </a:lnTo>
                <a:lnTo>
                  <a:pt x="16985" y="424522"/>
                </a:lnTo>
                <a:lnTo>
                  <a:pt x="0" y="446465"/>
                </a:lnTo>
              </a:path>
            </a:pathLst>
          </a:custGeom>
          <a:noFill xmlns:a="http://schemas.openxmlformats.org/drawingml/2006/main"/>
          <a:ln xmlns:a="http://schemas.openxmlformats.org/drawingml/2006/main" w="23748">
            <a:solidFill>
              <a:srgbClr val="657D95"/>
            </a:solidFill>
            <a:prstDash val="dash"/>
          </a:ln>
        </p:spPr>
      </p:sp>
      <p:sp>
        <p:nvSpPr>
          <p:cNvPr id="51" name="Diagram path">
            <a:extLst xmlns:a="http://schemas.openxmlformats.org/drawingml/2006/main">
              <a:ext uri="{FF2B5EF4-FFF2-40B4-BE49-F238E27FC236}">
                <a16:creationId xmlns:a16="http://schemas.microsoft.com/office/drawing/2014/main" id="{6464B70A-B3BF-4A99-8B57-4B052F6C7FFD}"/>
              </a:ext>
            </a:extLst>
          </p:cNvPr>
          <p:cNvSpPr>
            <a:spLocks xmlns:a="http://schemas.openxmlformats.org/drawingml/2006/main" noGrp="1"/>
          </p:cNvSpPr>
          <p:nvPr/>
        </p:nvSpPr>
        <p:spPr>
          <a:xfrm xmlns:a="http://schemas.openxmlformats.org/drawingml/2006/main">
            <a:off x="8905515" y="4386864"/>
            <a:ext cx="1472385" cy="2441309"/>
          </a:xfrm>
          <a:custGeom xmlns:a="http://schemas.openxmlformats.org/drawingml/2006/main">
            <a:pathLst>
              <a:path w="1472385" h="2441309">
                <a:moveTo>
                  <a:pt x="1472385" y="2441309"/>
                </a:moveTo>
                <a:lnTo>
                  <a:pt x="1443986" y="2441309"/>
                </a:lnTo>
                <a:lnTo>
                  <a:pt x="1415587" y="2441309"/>
                </a:lnTo>
                <a:lnTo>
                  <a:pt x="1387188" y="2441309"/>
                </a:lnTo>
                <a:lnTo>
                  <a:pt x="1358789" y="2441309"/>
                </a:lnTo>
                <a:lnTo>
                  <a:pt x="1330391" y="2441309"/>
                </a:lnTo>
                <a:lnTo>
                  <a:pt x="1301992" y="2441309"/>
                </a:lnTo>
                <a:lnTo>
                  <a:pt x="1273593" y="2441309"/>
                </a:lnTo>
                <a:lnTo>
                  <a:pt x="1245194" y="2441309"/>
                </a:lnTo>
                <a:lnTo>
                  <a:pt x="1216795" y="2441309"/>
                </a:lnTo>
                <a:lnTo>
                  <a:pt x="1188397" y="2441309"/>
                </a:lnTo>
                <a:lnTo>
                  <a:pt x="1159998" y="2441309"/>
                </a:lnTo>
                <a:lnTo>
                  <a:pt x="1131599" y="2441309"/>
                </a:lnTo>
                <a:lnTo>
                  <a:pt x="1103200" y="2441309"/>
                </a:lnTo>
                <a:lnTo>
                  <a:pt x="1074801" y="2441309"/>
                </a:lnTo>
                <a:lnTo>
                  <a:pt x="1046402" y="2441309"/>
                </a:lnTo>
                <a:lnTo>
                  <a:pt x="1018004" y="2441309"/>
                </a:lnTo>
                <a:lnTo>
                  <a:pt x="989605" y="2441309"/>
                </a:lnTo>
                <a:lnTo>
                  <a:pt x="961206" y="2441309"/>
                </a:lnTo>
                <a:lnTo>
                  <a:pt x="932807" y="2441309"/>
                </a:lnTo>
                <a:lnTo>
                  <a:pt x="904408" y="2441309"/>
                </a:lnTo>
                <a:lnTo>
                  <a:pt x="876009" y="2441309"/>
                </a:lnTo>
                <a:lnTo>
                  <a:pt x="847611" y="2441309"/>
                </a:lnTo>
                <a:lnTo>
                  <a:pt x="819212" y="2441309"/>
                </a:lnTo>
                <a:lnTo>
                  <a:pt x="790813" y="2441309"/>
                </a:lnTo>
                <a:lnTo>
                  <a:pt x="762414" y="2441309"/>
                </a:lnTo>
                <a:lnTo>
                  <a:pt x="734015" y="2441309"/>
                </a:lnTo>
                <a:lnTo>
                  <a:pt x="705617" y="2441309"/>
                </a:lnTo>
                <a:lnTo>
                  <a:pt x="677218" y="2441309"/>
                </a:lnTo>
                <a:lnTo>
                  <a:pt x="648819" y="2441309"/>
                </a:lnTo>
                <a:lnTo>
                  <a:pt x="620420" y="2441309"/>
                </a:lnTo>
                <a:lnTo>
                  <a:pt x="592021" y="2441309"/>
                </a:lnTo>
                <a:lnTo>
                  <a:pt x="563622" y="2441309"/>
                </a:lnTo>
                <a:lnTo>
                  <a:pt x="535223" y="2441309"/>
                </a:lnTo>
                <a:lnTo>
                  <a:pt x="506825" y="2441309"/>
                </a:lnTo>
                <a:lnTo>
                  <a:pt x="478426" y="2441309"/>
                </a:lnTo>
                <a:lnTo>
                  <a:pt x="450027" y="2441309"/>
                </a:lnTo>
                <a:lnTo>
                  <a:pt x="421628" y="2441309"/>
                </a:lnTo>
                <a:lnTo>
                  <a:pt x="393229" y="2441309"/>
                </a:lnTo>
                <a:lnTo>
                  <a:pt x="364831" y="2441309"/>
                </a:lnTo>
                <a:lnTo>
                  <a:pt x="336432" y="2441309"/>
                </a:lnTo>
                <a:lnTo>
                  <a:pt x="308033" y="2441309"/>
                </a:lnTo>
                <a:lnTo>
                  <a:pt x="279634" y="2441309"/>
                </a:lnTo>
                <a:lnTo>
                  <a:pt x="251235" y="2441309"/>
                </a:lnTo>
                <a:lnTo>
                  <a:pt x="222836" y="2441309"/>
                </a:lnTo>
                <a:lnTo>
                  <a:pt x="194438" y="2441309"/>
                </a:lnTo>
                <a:lnTo>
                  <a:pt x="166039" y="2441309"/>
                </a:lnTo>
                <a:lnTo>
                  <a:pt x="137640" y="2441309"/>
                </a:lnTo>
                <a:lnTo>
                  <a:pt x="109241" y="2441309"/>
                </a:lnTo>
                <a:lnTo>
                  <a:pt x="80842" y="2441309"/>
                </a:lnTo>
                <a:lnTo>
                  <a:pt x="52443" y="2441309"/>
                </a:lnTo>
                <a:lnTo>
                  <a:pt x="24045" y="2441309"/>
                </a:lnTo>
                <a:lnTo>
                  <a:pt x="0" y="2436955"/>
                </a:lnTo>
                <a:lnTo>
                  <a:pt x="0" y="2408556"/>
                </a:lnTo>
                <a:lnTo>
                  <a:pt x="0" y="2380157"/>
                </a:lnTo>
                <a:lnTo>
                  <a:pt x="0" y="2351758"/>
                </a:lnTo>
                <a:lnTo>
                  <a:pt x="0" y="2323360"/>
                </a:lnTo>
                <a:lnTo>
                  <a:pt x="0" y="2294961"/>
                </a:lnTo>
                <a:lnTo>
                  <a:pt x="0" y="2266562"/>
                </a:lnTo>
                <a:lnTo>
                  <a:pt x="0" y="2238163"/>
                </a:lnTo>
                <a:lnTo>
                  <a:pt x="0" y="2209764"/>
                </a:lnTo>
                <a:lnTo>
                  <a:pt x="0" y="2181365"/>
                </a:lnTo>
                <a:lnTo>
                  <a:pt x="0" y="2152967"/>
                </a:lnTo>
                <a:lnTo>
                  <a:pt x="0" y="2124568"/>
                </a:lnTo>
                <a:lnTo>
                  <a:pt x="0" y="2096169"/>
                </a:lnTo>
                <a:lnTo>
                  <a:pt x="0" y="2067770"/>
                </a:lnTo>
                <a:lnTo>
                  <a:pt x="0" y="2039371"/>
                </a:lnTo>
                <a:lnTo>
                  <a:pt x="0" y="2010972"/>
                </a:lnTo>
                <a:lnTo>
                  <a:pt x="0" y="1982574"/>
                </a:lnTo>
                <a:lnTo>
                  <a:pt x="0" y="1954175"/>
                </a:lnTo>
                <a:lnTo>
                  <a:pt x="0" y="1925776"/>
                </a:lnTo>
                <a:lnTo>
                  <a:pt x="0" y="1897377"/>
                </a:lnTo>
                <a:lnTo>
                  <a:pt x="0" y="1868978"/>
                </a:lnTo>
                <a:lnTo>
                  <a:pt x="0" y="1840580"/>
                </a:lnTo>
                <a:lnTo>
                  <a:pt x="0" y="1812181"/>
                </a:lnTo>
                <a:lnTo>
                  <a:pt x="0" y="1783782"/>
                </a:lnTo>
                <a:lnTo>
                  <a:pt x="0" y="1755383"/>
                </a:lnTo>
                <a:lnTo>
                  <a:pt x="0" y="1726984"/>
                </a:lnTo>
                <a:lnTo>
                  <a:pt x="0" y="1698585"/>
                </a:lnTo>
                <a:lnTo>
                  <a:pt x="0" y="1670187"/>
                </a:lnTo>
                <a:lnTo>
                  <a:pt x="0" y="1641788"/>
                </a:lnTo>
                <a:lnTo>
                  <a:pt x="0" y="1613389"/>
                </a:lnTo>
                <a:lnTo>
                  <a:pt x="0" y="1584990"/>
                </a:lnTo>
                <a:lnTo>
                  <a:pt x="0" y="1556591"/>
                </a:lnTo>
                <a:lnTo>
                  <a:pt x="0" y="1528192"/>
                </a:lnTo>
                <a:lnTo>
                  <a:pt x="0" y="1499794"/>
                </a:lnTo>
                <a:lnTo>
                  <a:pt x="0" y="1471395"/>
                </a:lnTo>
                <a:lnTo>
                  <a:pt x="0" y="1442996"/>
                </a:lnTo>
                <a:lnTo>
                  <a:pt x="0" y="1414597"/>
                </a:lnTo>
                <a:lnTo>
                  <a:pt x="0" y="1386198"/>
                </a:lnTo>
                <a:lnTo>
                  <a:pt x="0" y="1357799"/>
                </a:lnTo>
                <a:lnTo>
                  <a:pt x="0" y="1329401"/>
                </a:lnTo>
                <a:lnTo>
                  <a:pt x="0" y="1301002"/>
                </a:lnTo>
                <a:lnTo>
                  <a:pt x="0" y="1272603"/>
                </a:lnTo>
                <a:lnTo>
                  <a:pt x="0" y="1244204"/>
                </a:lnTo>
                <a:lnTo>
                  <a:pt x="0" y="1215805"/>
                </a:lnTo>
                <a:lnTo>
                  <a:pt x="0" y="1187407"/>
                </a:lnTo>
                <a:lnTo>
                  <a:pt x="0" y="1159008"/>
                </a:lnTo>
                <a:lnTo>
                  <a:pt x="0" y="1130609"/>
                </a:lnTo>
                <a:lnTo>
                  <a:pt x="0" y="1102210"/>
                </a:lnTo>
                <a:lnTo>
                  <a:pt x="0" y="1073811"/>
                </a:lnTo>
                <a:lnTo>
                  <a:pt x="0" y="1045412"/>
                </a:lnTo>
                <a:lnTo>
                  <a:pt x="0" y="1017014"/>
                </a:lnTo>
                <a:lnTo>
                  <a:pt x="0" y="988615"/>
                </a:lnTo>
                <a:lnTo>
                  <a:pt x="0" y="960216"/>
                </a:lnTo>
                <a:lnTo>
                  <a:pt x="0" y="931817"/>
                </a:lnTo>
                <a:lnTo>
                  <a:pt x="0" y="903418"/>
                </a:lnTo>
                <a:lnTo>
                  <a:pt x="0" y="875019"/>
                </a:lnTo>
                <a:lnTo>
                  <a:pt x="0" y="846621"/>
                </a:lnTo>
                <a:lnTo>
                  <a:pt x="0" y="818222"/>
                </a:lnTo>
                <a:lnTo>
                  <a:pt x="0" y="789823"/>
                </a:lnTo>
                <a:lnTo>
                  <a:pt x="0" y="761424"/>
                </a:lnTo>
                <a:lnTo>
                  <a:pt x="0" y="733025"/>
                </a:lnTo>
                <a:lnTo>
                  <a:pt x="0" y="704626"/>
                </a:lnTo>
                <a:lnTo>
                  <a:pt x="0" y="676228"/>
                </a:lnTo>
                <a:lnTo>
                  <a:pt x="0" y="647829"/>
                </a:lnTo>
                <a:lnTo>
                  <a:pt x="0" y="619430"/>
                </a:lnTo>
                <a:lnTo>
                  <a:pt x="0" y="591031"/>
                </a:lnTo>
                <a:lnTo>
                  <a:pt x="0" y="562632"/>
                </a:lnTo>
                <a:lnTo>
                  <a:pt x="0" y="534233"/>
                </a:lnTo>
                <a:lnTo>
                  <a:pt x="0" y="505835"/>
                </a:lnTo>
                <a:lnTo>
                  <a:pt x="0" y="477436"/>
                </a:lnTo>
                <a:lnTo>
                  <a:pt x="0" y="449037"/>
                </a:lnTo>
                <a:lnTo>
                  <a:pt x="0" y="420638"/>
                </a:lnTo>
                <a:lnTo>
                  <a:pt x="0" y="392239"/>
                </a:lnTo>
                <a:lnTo>
                  <a:pt x="0" y="363841"/>
                </a:lnTo>
                <a:lnTo>
                  <a:pt x="0" y="335442"/>
                </a:lnTo>
                <a:lnTo>
                  <a:pt x="0" y="307043"/>
                </a:lnTo>
                <a:lnTo>
                  <a:pt x="0" y="278644"/>
                </a:lnTo>
                <a:lnTo>
                  <a:pt x="0" y="250245"/>
                </a:lnTo>
                <a:lnTo>
                  <a:pt x="0" y="221846"/>
                </a:lnTo>
                <a:lnTo>
                  <a:pt x="0" y="193448"/>
                </a:lnTo>
                <a:lnTo>
                  <a:pt x="0" y="165049"/>
                </a:lnTo>
                <a:lnTo>
                  <a:pt x="1156" y="136686"/>
                </a:lnTo>
                <a:lnTo>
                  <a:pt x="5820" y="108698"/>
                </a:lnTo>
                <a:lnTo>
                  <a:pt x="14974" y="81858"/>
                </a:lnTo>
                <a:lnTo>
                  <a:pt x="29388" y="57457"/>
                </a:lnTo>
                <a:lnTo>
                  <a:pt x="49020" y="37029"/>
                </a:lnTo>
                <a:lnTo>
                  <a:pt x="72751" y="21528"/>
                </a:lnTo>
                <a:lnTo>
                  <a:pt x="99030" y="10856"/>
                </a:lnTo>
                <a:lnTo>
                  <a:pt x="126631" y="4259"/>
                </a:lnTo>
                <a:lnTo>
                  <a:pt x="154816" y="881"/>
                </a:lnTo>
                <a:lnTo>
                  <a:pt x="183194" y="0"/>
                </a:lnTo>
                <a:lnTo>
                  <a:pt x="211593" y="0"/>
                </a:lnTo>
                <a:lnTo>
                  <a:pt x="239992" y="0"/>
                </a:lnTo>
                <a:lnTo>
                  <a:pt x="268391" y="0"/>
                </a:lnTo>
                <a:lnTo>
                  <a:pt x="296790" y="0"/>
                </a:lnTo>
                <a:lnTo>
                  <a:pt x="325188" y="0"/>
                </a:lnTo>
                <a:lnTo>
                  <a:pt x="353587" y="0"/>
                </a:lnTo>
                <a:lnTo>
                  <a:pt x="381986" y="0"/>
                </a:lnTo>
                <a:lnTo>
                  <a:pt x="410385" y="0"/>
                </a:lnTo>
                <a:lnTo>
                  <a:pt x="438784" y="0"/>
                </a:lnTo>
                <a:lnTo>
                  <a:pt x="467183" y="0"/>
                </a:lnTo>
                <a:lnTo>
                  <a:pt x="495581" y="0"/>
                </a:lnTo>
                <a:lnTo>
                  <a:pt x="523980" y="0"/>
                </a:lnTo>
                <a:lnTo>
                  <a:pt x="552379" y="0"/>
                </a:lnTo>
                <a:lnTo>
                  <a:pt x="580778" y="3"/>
                </a:lnTo>
                <a:lnTo>
                  <a:pt x="609120" y="1570"/>
                </a:lnTo>
                <a:lnTo>
                  <a:pt x="637056" y="6551"/>
                </a:lnTo>
                <a:lnTo>
                  <a:pt x="663865" y="15806"/>
                </a:lnTo>
                <a:lnTo>
                  <a:pt x="688385" y="30029"/>
                </a:lnTo>
                <a:lnTo>
                  <a:pt x="709227" y="49232"/>
                </a:lnTo>
                <a:lnTo>
                  <a:pt x="725446" y="72482"/>
                </a:lnTo>
                <a:lnTo>
                  <a:pt x="736999" y="98386"/>
                </a:lnTo>
                <a:lnTo>
                  <a:pt x="744499" y="125755"/>
                </a:lnTo>
                <a:lnTo>
                  <a:pt x="748724" y="153825"/>
                </a:lnTo>
                <a:lnTo>
                  <a:pt x="750365" y="182168"/>
                </a:lnTo>
                <a:lnTo>
                  <a:pt x="750441" y="210567"/>
                </a:lnTo>
                <a:lnTo>
                  <a:pt x="750441" y="238966"/>
                </a:lnTo>
                <a:lnTo>
                  <a:pt x="750441" y="267364"/>
                </a:lnTo>
                <a:lnTo>
                  <a:pt x="750441" y="295763"/>
                </a:lnTo>
                <a:lnTo>
                  <a:pt x="750441" y="324162"/>
                </a:lnTo>
                <a:lnTo>
                  <a:pt x="750441" y="352561"/>
                </a:lnTo>
                <a:lnTo>
                  <a:pt x="750441" y="380960"/>
                </a:lnTo>
                <a:lnTo>
                  <a:pt x="750441" y="409359"/>
                </a:lnTo>
                <a:lnTo>
                  <a:pt x="750441" y="437757"/>
                </a:lnTo>
                <a:lnTo>
                  <a:pt x="750441" y="466156"/>
                </a:lnTo>
                <a:lnTo>
                  <a:pt x="750441" y="494555"/>
                </a:lnTo>
                <a:lnTo>
                  <a:pt x="750441" y="522954"/>
                </a:lnTo>
                <a:lnTo>
                  <a:pt x="750441" y="551353"/>
                </a:lnTo>
                <a:lnTo>
                  <a:pt x="750441" y="579752"/>
                </a:lnTo>
                <a:lnTo>
                  <a:pt x="750441" y="608150"/>
                </a:lnTo>
                <a:lnTo>
                  <a:pt x="750441" y="636549"/>
                </a:lnTo>
                <a:lnTo>
                  <a:pt x="750441" y="664948"/>
                </a:lnTo>
              </a:path>
            </a:pathLst>
          </a:custGeom>
          <a:noFill xmlns:a="http://schemas.openxmlformats.org/drawingml/2006/main"/>
          <a:ln xmlns:a="http://schemas.openxmlformats.org/drawingml/2006/main" w="360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CBBF68A3-50B0-427D-BCBA-B7A3D36406A9}"/>
              </a:ext>
            </a:extLst>
          </p:cNvPr>
          <p:cNvSpPr>
            <a:spLocks xmlns:a="http://schemas.openxmlformats.org/drawingml/2006/main" noGrp="1"/>
          </p:cNvSpPr>
          <p:nvPr/>
        </p:nvSpPr>
        <p:spPr>
          <a:xfrm xmlns:a="http://schemas.openxmlformats.org/drawingml/2006/main">
            <a:off x="9547664" y="4835229"/>
            <a:ext cx="216583" cy="216583"/>
          </a:xfrm>
          <a:custGeom xmlns:a="http://schemas.openxmlformats.org/drawingml/2006/main">
            <a:pathLst>
              <a:path w="216583" h="216583">
                <a:moveTo>
                  <a:pt x="216583" y="0"/>
                </a:moveTo>
                <a:lnTo>
                  <a:pt x="108292" y="216583"/>
                </a:lnTo>
                <a:lnTo>
                  <a:pt x="0" y="0"/>
                </a:lnTo>
              </a:path>
            </a:pathLst>
          </a:custGeom>
          <a:noFill xmlns:a="http://schemas.openxmlformats.org/drawingml/2006/main"/>
          <a:ln xmlns:a="http://schemas.openxmlformats.org/drawingml/2006/main" w="541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BCA416D2-85B6-42F1-9FA2-4DE47E387484}"/>
              </a:ext>
            </a:extLst>
          </p:cNvPr>
          <p:cNvSpPr>
            <a:spLocks xmlns:a="http://schemas.openxmlformats.org/drawingml/2006/main" noGrp="1"/>
          </p:cNvSpPr>
          <p:nvPr/>
        </p:nvSpPr>
        <p:spPr>
          <a:xfrm xmlns:a="http://schemas.openxmlformats.org/drawingml/2006/main">
            <a:off x="9665455" y="5659765"/>
            <a:ext cx="9525" cy="731443"/>
          </a:xfrm>
          <a:custGeom xmlns:a="http://schemas.openxmlformats.org/drawingml/2006/main">
            <a:pathLst>
              <a:path w="9525" h="731443">
                <a:moveTo>
                  <a:pt x="0" y="0"/>
                </a:moveTo>
                <a:lnTo>
                  <a:pt x="0" y="28133"/>
                </a:lnTo>
                <a:lnTo>
                  <a:pt x="0" y="56265"/>
                </a:lnTo>
                <a:lnTo>
                  <a:pt x="0" y="84397"/>
                </a:lnTo>
                <a:lnTo>
                  <a:pt x="0" y="112530"/>
                </a:lnTo>
                <a:lnTo>
                  <a:pt x="0" y="140662"/>
                </a:lnTo>
                <a:lnTo>
                  <a:pt x="0" y="168794"/>
                </a:lnTo>
                <a:lnTo>
                  <a:pt x="0" y="196927"/>
                </a:lnTo>
                <a:lnTo>
                  <a:pt x="0" y="225059"/>
                </a:lnTo>
                <a:lnTo>
                  <a:pt x="0" y="253192"/>
                </a:lnTo>
                <a:lnTo>
                  <a:pt x="0" y="281324"/>
                </a:lnTo>
                <a:lnTo>
                  <a:pt x="0" y="309457"/>
                </a:lnTo>
                <a:lnTo>
                  <a:pt x="0" y="337589"/>
                </a:lnTo>
                <a:lnTo>
                  <a:pt x="0" y="365721"/>
                </a:lnTo>
                <a:lnTo>
                  <a:pt x="0" y="393854"/>
                </a:lnTo>
                <a:lnTo>
                  <a:pt x="0" y="421986"/>
                </a:lnTo>
                <a:lnTo>
                  <a:pt x="0" y="450119"/>
                </a:lnTo>
                <a:lnTo>
                  <a:pt x="0" y="478251"/>
                </a:lnTo>
                <a:lnTo>
                  <a:pt x="0" y="506383"/>
                </a:lnTo>
                <a:lnTo>
                  <a:pt x="0" y="534516"/>
                </a:lnTo>
                <a:lnTo>
                  <a:pt x="0" y="562648"/>
                </a:lnTo>
                <a:lnTo>
                  <a:pt x="0" y="590781"/>
                </a:lnTo>
                <a:lnTo>
                  <a:pt x="0" y="618913"/>
                </a:lnTo>
                <a:lnTo>
                  <a:pt x="0" y="647046"/>
                </a:lnTo>
                <a:lnTo>
                  <a:pt x="0" y="675178"/>
                </a:lnTo>
                <a:lnTo>
                  <a:pt x="0" y="703310"/>
                </a:lnTo>
                <a:lnTo>
                  <a:pt x="0" y="731443"/>
                </a:lnTo>
              </a:path>
            </a:pathLst>
          </a:custGeom>
          <a:noFill xmlns:a="http://schemas.openxmlformats.org/drawingml/2006/main"/>
          <a:ln xmlns:a="http://schemas.openxmlformats.org/drawingml/2006/main" w="36097">
            <a:solidFill>
              <a:srgbClr val="34695B"/>
            </a:solidFill>
            <a:prstDash val="solid"/>
          </a:ln>
        </p:spPr>
      </p:sp>
      <p:sp>
        <p:nvSpPr>
          <p:cNvPr id="54" name="Route arrowhead">
            <a:extLst xmlns:a="http://schemas.openxmlformats.org/drawingml/2006/main">
              <a:ext uri="{FF2B5EF4-FFF2-40B4-BE49-F238E27FC236}">
                <a16:creationId xmlns:a16="http://schemas.microsoft.com/office/drawing/2014/main" id="{A68F0D76-434C-4E8F-A419-F598EBC5F82F}"/>
              </a:ext>
            </a:extLst>
          </p:cNvPr>
          <p:cNvSpPr>
            <a:spLocks xmlns:a="http://schemas.openxmlformats.org/drawingml/2006/main" noGrp="1"/>
          </p:cNvSpPr>
          <p:nvPr/>
        </p:nvSpPr>
        <p:spPr>
          <a:xfrm xmlns:a="http://schemas.openxmlformats.org/drawingml/2006/main">
            <a:off x="9557164" y="6174624"/>
            <a:ext cx="216583" cy="216583"/>
          </a:xfrm>
          <a:custGeom xmlns:a="http://schemas.openxmlformats.org/drawingml/2006/main">
            <a:pathLst>
              <a:path w="216583" h="216583">
                <a:moveTo>
                  <a:pt x="216583" y="0"/>
                </a:moveTo>
                <a:lnTo>
                  <a:pt x="108292" y="216583"/>
                </a:lnTo>
                <a:lnTo>
                  <a:pt x="0" y="0"/>
                </a:lnTo>
              </a:path>
            </a:pathLst>
          </a:custGeom>
          <a:noFill xmlns:a="http://schemas.openxmlformats.org/drawingml/2006/main"/>
          <a:ln xmlns:a="http://schemas.openxmlformats.org/drawingml/2006/main" w="54146">
            <a:solidFill>
              <a:srgbClr val="34695B"/>
            </a:solidFill>
            <a:prstDash val="solid"/>
          </a:ln>
        </p:spPr>
      </p:sp>
      <p:sp>
        <p:nvSpPr>
          <p:cNvPr id="55" name="Diagram circle">
            <a:extLst xmlns:a="http://schemas.openxmlformats.org/drawingml/2006/main">
              <a:ext uri="{FF2B5EF4-FFF2-40B4-BE49-F238E27FC236}">
                <a16:creationId xmlns:a16="http://schemas.microsoft.com/office/drawing/2014/main" id="{62FCE608-5600-45A3-8AEA-9BDECC3EF03C}"/>
              </a:ext>
            </a:extLst>
          </p:cNvPr>
          <p:cNvSpPr>
            <a:spLocks xmlns:a="http://schemas.openxmlformats.org/drawingml/2006/main" noGrp="1"/>
          </p:cNvSpPr>
          <p:nvPr/>
        </p:nvSpPr>
        <p:spPr>
          <a:xfrm xmlns:a="http://schemas.openxmlformats.org/drawingml/2006/main">
            <a:off x="10358900" y="6619190"/>
            <a:ext cx="417968" cy="417967"/>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56" name="Diagram path">
            <a:extLst xmlns:a="http://schemas.openxmlformats.org/drawingml/2006/main">
              <a:ext uri="{FF2B5EF4-FFF2-40B4-BE49-F238E27FC236}">
                <a16:creationId xmlns:a16="http://schemas.microsoft.com/office/drawing/2014/main" id="{FA7C1730-2FDE-4DAA-9755-BB59713F7246}"/>
              </a:ext>
            </a:extLst>
          </p:cNvPr>
          <p:cNvSpPr>
            <a:spLocks xmlns:a="http://schemas.openxmlformats.org/drawingml/2006/main" noGrp="1"/>
          </p:cNvSpPr>
          <p:nvPr/>
        </p:nvSpPr>
        <p:spPr>
          <a:xfrm xmlns:a="http://schemas.openxmlformats.org/drawingml/2006/main">
            <a:off x="10482391" y="6694722"/>
            <a:ext cx="163914" cy="209445"/>
          </a:xfrm>
          <a:custGeom xmlns:a="http://schemas.openxmlformats.org/drawingml/2006/main">
            <a:pathLst>
              <a:path w="163914" h="209445">
                <a:moveTo>
                  <a:pt x="0" y="209445"/>
                </a:moveTo>
                <a:lnTo>
                  <a:pt x="10245" y="183265"/>
                </a:lnTo>
                <a:lnTo>
                  <a:pt x="20489" y="157084"/>
                </a:lnTo>
                <a:lnTo>
                  <a:pt x="30734" y="130904"/>
                </a:lnTo>
                <a:lnTo>
                  <a:pt x="40979" y="104723"/>
                </a:lnTo>
                <a:lnTo>
                  <a:pt x="51223" y="78542"/>
                </a:lnTo>
                <a:lnTo>
                  <a:pt x="61468" y="52361"/>
                </a:lnTo>
                <a:lnTo>
                  <a:pt x="71712" y="26181"/>
                </a:lnTo>
                <a:lnTo>
                  <a:pt x="81957" y="0"/>
                </a:lnTo>
                <a:lnTo>
                  <a:pt x="92201"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2"/>
                </a:lnTo>
                <a:lnTo>
                  <a:pt x="116960" y="173428"/>
                </a:lnTo>
                <a:lnTo>
                  <a:pt x="93568" y="157833"/>
                </a:lnTo>
                <a:lnTo>
                  <a:pt x="70176" y="162661"/>
                </a:lnTo>
                <a:lnTo>
                  <a:pt x="46784" y="178256"/>
                </a:lnTo>
                <a:lnTo>
                  <a:pt x="23392" y="193851"/>
                </a:lnTo>
                <a:lnTo>
                  <a:pt x="0" y="209445"/>
                </a:lnTo>
                <a:close/>
              </a:path>
            </a:pathLst>
          </a:custGeom>
          <a:solidFill xmlns:a="http://schemas.openxmlformats.org/drawingml/2006/main">
            <a:srgbClr val="FFFFFF"/>
          </a:solidFill>
          <a:ln xmlns:a="http://schemas.openxmlformats.org/drawingml/2006/main" w="9499">
            <a:noFill/>
            <a:prstDash val="solid"/>
          </a:ln>
        </p:spPr>
      </p:sp>
      <p:sp>
        <p:nvSpPr>
          <p:cNvPr id="57" name="Diagram circle">
            <a:extLst xmlns:a="http://schemas.openxmlformats.org/drawingml/2006/main">
              <a:ext uri="{FF2B5EF4-FFF2-40B4-BE49-F238E27FC236}">
                <a16:creationId xmlns:a16="http://schemas.microsoft.com/office/drawing/2014/main" id="{8FE4338A-87CE-4B28-B062-0E7DA3D77207}"/>
              </a:ext>
            </a:extLst>
          </p:cNvPr>
          <p:cNvSpPr>
            <a:spLocks xmlns:a="http://schemas.openxmlformats.org/drawingml/2006/main" noGrp="1"/>
          </p:cNvSpPr>
          <p:nvPr/>
        </p:nvSpPr>
        <p:spPr>
          <a:xfrm xmlns:a="http://schemas.openxmlformats.org/drawingml/2006/main">
            <a:off x="10254409" y="6514698"/>
            <a:ext cx="626951" cy="626951"/>
          </a:xfrm>
          <a:prstGeom xmlns:a="http://schemas.openxmlformats.org/drawingml/2006/main" prst="ellipse">
            <a:avLst/>
          </a:prstGeom>
          <a:noFill xmlns:a="http://schemas.openxmlformats.org/drawingml/2006/main"/>
          <a:ln xmlns:a="http://schemas.openxmlformats.org/drawingml/2006/main" w="14249">
            <a:solidFill>
              <a:srgbClr val="34695B">
                <a:alpha val="30000"/>
              </a:srgbClr>
            </a:solidFill>
            <a:prstDash val="solid"/>
          </a:ln>
        </p:spPr>
      </p:sp>
      <p:sp>
        <p:nvSpPr>
          <p:cNvPr id="58" name="Diagram circle">
            <a:extLst xmlns:a="http://schemas.openxmlformats.org/drawingml/2006/main">
              <a:ext uri="{FF2B5EF4-FFF2-40B4-BE49-F238E27FC236}">
                <a16:creationId xmlns:a16="http://schemas.microsoft.com/office/drawing/2014/main" id="{C34D1589-D551-4B44-A1ED-E06A939D6BDA}"/>
              </a:ext>
            </a:extLst>
          </p:cNvPr>
          <p:cNvSpPr>
            <a:spLocks xmlns:a="http://schemas.openxmlformats.org/drawingml/2006/main" noGrp="1"/>
          </p:cNvSpPr>
          <p:nvPr/>
        </p:nvSpPr>
        <p:spPr>
          <a:xfrm xmlns:a="http://schemas.openxmlformats.org/drawingml/2006/main">
            <a:off x="12059269" y="4149383"/>
            <a:ext cx="379970" cy="379970"/>
          </a:xfrm>
          <a:prstGeom xmlns:a="http://schemas.openxmlformats.org/drawingml/2006/main" prst="ellipse">
            <a:avLst/>
          </a:prstGeom>
          <a:solidFill xmlns:a="http://schemas.openxmlformats.org/drawingml/2006/main">
            <a:srgbClr val="657D95"/>
          </a:solidFill>
          <a:ln xmlns:a="http://schemas.openxmlformats.org/drawingml/2006/main" w="9499">
            <a:noFill/>
            <a:prstDash val="solid"/>
          </a:ln>
        </p:spPr>
      </p:sp>
      <p:sp>
        <p:nvSpPr>
          <p:cNvPr id="59" name="Diagram path">
            <a:extLst xmlns:a="http://schemas.openxmlformats.org/drawingml/2006/main">
              <a:ext uri="{FF2B5EF4-FFF2-40B4-BE49-F238E27FC236}">
                <a16:creationId xmlns:a16="http://schemas.microsoft.com/office/drawing/2014/main" id="{50C5A27B-04D0-49E1-AF3A-E27B7719AD3A}"/>
              </a:ext>
            </a:extLst>
          </p:cNvPr>
          <p:cNvSpPr>
            <a:spLocks xmlns:a="http://schemas.openxmlformats.org/drawingml/2006/main" noGrp="1"/>
          </p:cNvSpPr>
          <p:nvPr/>
        </p:nvSpPr>
        <p:spPr>
          <a:xfrm xmlns:a="http://schemas.openxmlformats.org/drawingml/2006/main">
            <a:off x="12163760" y="4228501"/>
            <a:ext cx="198294" cy="186309"/>
          </a:xfrm>
          <a:custGeom xmlns:a="http://schemas.openxmlformats.org/drawingml/2006/main">
            <a:pathLst>
              <a:path w="198294" h="186309">
                <a:moveTo>
                  <a:pt x="0" y="82369"/>
                </a:moveTo>
                <a:lnTo>
                  <a:pt x="25320" y="71518"/>
                </a:lnTo>
                <a:lnTo>
                  <a:pt x="50639" y="60666"/>
                </a:lnTo>
                <a:lnTo>
                  <a:pt x="75959" y="49815"/>
                </a:lnTo>
                <a:lnTo>
                  <a:pt x="101279" y="38964"/>
                </a:lnTo>
                <a:lnTo>
                  <a:pt x="126598" y="28113"/>
                </a:lnTo>
                <a:lnTo>
                  <a:pt x="151918" y="17261"/>
                </a:lnTo>
                <a:lnTo>
                  <a:pt x="177238" y="6410"/>
                </a:lnTo>
                <a:lnTo>
                  <a:pt x="198294" y="0"/>
                </a:lnTo>
                <a:lnTo>
                  <a:pt x="188488" y="25742"/>
                </a:lnTo>
                <a:lnTo>
                  <a:pt x="178681" y="51485"/>
                </a:lnTo>
                <a:lnTo>
                  <a:pt x="168874" y="77227"/>
                </a:lnTo>
                <a:lnTo>
                  <a:pt x="159068" y="102969"/>
                </a:lnTo>
                <a:lnTo>
                  <a:pt x="149261" y="128712"/>
                </a:lnTo>
                <a:lnTo>
                  <a:pt x="139455" y="154454"/>
                </a:lnTo>
                <a:lnTo>
                  <a:pt x="129648" y="180196"/>
                </a:lnTo>
                <a:lnTo>
                  <a:pt x="121480" y="186309"/>
                </a:lnTo>
                <a:lnTo>
                  <a:pt x="116078" y="159297"/>
                </a:lnTo>
                <a:lnTo>
                  <a:pt x="110675" y="132285"/>
                </a:lnTo>
                <a:lnTo>
                  <a:pt x="105273" y="105273"/>
                </a:lnTo>
                <a:lnTo>
                  <a:pt x="81308" y="97152"/>
                </a:lnTo>
                <a:lnTo>
                  <a:pt x="54205" y="92225"/>
                </a:lnTo>
                <a:lnTo>
                  <a:pt x="27103" y="87297"/>
                </a:lnTo>
                <a:lnTo>
                  <a:pt x="0" y="82369"/>
                </a:lnTo>
                <a:close/>
              </a:path>
            </a:pathLst>
          </a:custGeom>
          <a:solidFill xmlns:a="http://schemas.openxmlformats.org/drawingml/2006/main">
            <a:srgbClr val="FFFFFF"/>
          </a:solidFill>
          <a:ln xmlns:a="http://schemas.openxmlformats.org/drawingml/2006/main" w="9499">
            <a:noFill/>
            <a:prstDash val="solid"/>
          </a:ln>
        </p:spPr>
      </p:sp>
      <p:sp>
        <p:nvSpPr>
          <p:cNvPr id="60" name="Our robot">
            <a:extLst xmlns:a="http://schemas.openxmlformats.org/drawingml/2006/main">
              <a:ext uri="{FF2B5EF4-FFF2-40B4-BE49-F238E27FC236}">
                <a16:creationId xmlns:a16="http://schemas.microsoft.com/office/drawing/2014/main" id="{CA0D70E5-ECA4-4CF0-82B0-B3ABD287D561}"/>
              </a:ext>
            </a:extLst>
          </p:cNvPr>
          <p:cNvSpPr>
            <a:spLocks xmlns:a="http://schemas.openxmlformats.org/drawingml/2006/main" noGrp="1"/>
          </p:cNvSpPr>
          <p:nvPr/>
        </p:nvSpPr>
        <p:spPr>
          <a:xfrm xmlns:a="http://schemas.openxmlformats.org/drawingml/2006/main">
            <a:off x="10862361" y="6799057"/>
            <a:ext cx="1202379"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303A39"/>
                </a:solidFill>
                <a:latin typeface="Arial"/>
                <a:ea typeface="Arial"/>
                <a:cs typeface="Arial"/>
              </a:defRPr>
            </a:pPr>
            <a:r>
              <a:rPr sz="2020" b="0">
                <a:solidFill>
                  <a:srgbClr val="303A39"/>
                </a:solidFill>
                <a:latin typeface="Arial"/>
                <a:ea typeface="Arial"/>
                <a:cs typeface="Arial"/>
              </a:rPr>
              <a:t>Our robot</a:t>
            </a:r>
          </a:p>
        </p:txBody>
      </p:sp>
      <p:sp>
        <p:nvSpPr>
          <p:cNvPr id="61" name="Opponent">
            <a:extLst xmlns:a="http://schemas.openxmlformats.org/drawingml/2006/main">
              <a:ext uri="{FF2B5EF4-FFF2-40B4-BE49-F238E27FC236}">
                <a16:creationId xmlns:a16="http://schemas.microsoft.com/office/drawing/2014/main" id="{E08701A5-3294-4EB8-8B2C-BFA36DD7CFC3}"/>
              </a:ext>
            </a:extLst>
          </p:cNvPr>
          <p:cNvSpPr>
            <a:spLocks xmlns:a="http://schemas.openxmlformats.org/drawingml/2006/main" noGrp="1"/>
          </p:cNvSpPr>
          <p:nvPr/>
        </p:nvSpPr>
        <p:spPr>
          <a:xfrm xmlns:a="http://schemas.openxmlformats.org/drawingml/2006/main">
            <a:off x="11888281" y="3664303"/>
            <a:ext cx="1245573"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657D95"/>
                </a:solidFill>
                <a:latin typeface="Arial"/>
                <a:ea typeface="Arial"/>
                <a:cs typeface="Arial"/>
              </a:defRPr>
            </a:pPr>
            <a:r>
              <a:rPr sz="2020" b="0">
                <a:solidFill>
                  <a:srgbClr val="657D95"/>
                </a:solidFill>
                <a:latin typeface="Arial"/>
                <a:ea typeface="Arial"/>
                <a:cs typeface="Arial"/>
              </a:rPr>
              <a:t>Opponent</a:t>
            </a:r>
          </a:p>
        </p:txBody>
      </p:sp>
      <p:sp>
        <p:nvSpPr>
          <p:cNvPr id="62" name="Diagram path">
            <a:extLst xmlns:a="http://schemas.openxmlformats.org/drawingml/2006/main">
              <a:ext uri="{FF2B5EF4-FFF2-40B4-BE49-F238E27FC236}">
                <a16:creationId xmlns:a16="http://schemas.microsoft.com/office/drawing/2014/main" id="{88E09D3C-4178-40A5-810B-AA0EBFF7CC7B}"/>
              </a:ext>
            </a:extLst>
          </p:cNvPr>
          <p:cNvSpPr>
            <a:spLocks xmlns:a="http://schemas.openxmlformats.org/drawingml/2006/main" noGrp="1"/>
          </p:cNvSpPr>
          <p:nvPr/>
        </p:nvSpPr>
        <p:spPr>
          <a:xfrm xmlns:a="http://schemas.openxmlformats.org/drawingml/2006/main">
            <a:off x="11622302" y="4700340"/>
            <a:ext cx="2422310" cy="303976"/>
          </a:xfrm>
          <a:custGeom xmlns:a="http://schemas.openxmlformats.org/drawingml/2006/main">
            <a:pathLst>
              <a:path w="2422310" h="303976">
                <a:moveTo>
                  <a:pt x="0" y="303976"/>
                </a:moveTo>
                <a:lnTo>
                  <a:pt x="28064" y="299225"/>
                </a:lnTo>
                <a:lnTo>
                  <a:pt x="56128" y="294473"/>
                </a:lnTo>
                <a:lnTo>
                  <a:pt x="84192" y="289722"/>
                </a:lnTo>
                <a:lnTo>
                  <a:pt x="112256" y="284970"/>
                </a:lnTo>
                <a:lnTo>
                  <a:pt x="140320" y="280218"/>
                </a:lnTo>
                <a:lnTo>
                  <a:pt x="168385" y="275467"/>
                </a:lnTo>
                <a:lnTo>
                  <a:pt x="196449" y="270715"/>
                </a:lnTo>
                <a:lnTo>
                  <a:pt x="224513" y="265964"/>
                </a:lnTo>
                <a:lnTo>
                  <a:pt x="252577" y="261212"/>
                </a:lnTo>
                <a:lnTo>
                  <a:pt x="280641" y="256460"/>
                </a:lnTo>
                <a:lnTo>
                  <a:pt x="308705" y="251709"/>
                </a:lnTo>
                <a:lnTo>
                  <a:pt x="336769" y="246957"/>
                </a:lnTo>
                <a:lnTo>
                  <a:pt x="364833" y="242206"/>
                </a:lnTo>
                <a:lnTo>
                  <a:pt x="392897" y="237454"/>
                </a:lnTo>
                <a:lnTo>
                  <a:pt x="420962" y="232702"/>
                </a:lnTo>
                <a:lnTo>
                  <a:pt x="449025" y="227951"/>
                </a:lnTo>
                <a:lnTo>
                  <a:pt x="477090" y="223199"/>
                </a:lnTo>
                <a:lnTo>
                  <a:pt x="505154" y="218448"/>
                </a:lnTo>
                <a:lnTo>
                  <a:pt x="533218" y="213696"/>
                </a:lnTo>
                <a:lnTo>
                  <a:pt x="561282" y="208944"/>
                </a:lnTo>
                <a:lnTo>
                  <a:pt x="589346" y="204193"/>
                </a:lnTo>
                <a:lnTo>
                  <a:pt x="617410" y="199441"/>
                </a:lnTo>
                <a:lnTo>
                  <a:pt x="645474" y="194690"/>
                </a:lnTo>
                <a:lnTo>
                  <a:pt x="673538" y="189938"/>
                </a:lnTo>
                <a:lnTo>
                  <a:pt x="701603" y="185186"/>
                </a:lnTo>
                <a:lnTo>
                  <a:pt x="729667" y="180435"/>
                </a:lnTo>
                <a:lnTo>
                  <a:pt x="757731" y="175683"/>
                </a:lnTo>
                <a:lnTo>
                  <a:pt x="785795" y="170932"/>
                </a:lnTo>
                <a:lnTo>
                  <a:pt x="813859" y="166180"/>
                </a:lnTo>
                <a:lnTo>
                  <a:pt x="841923" y="161429"/>
                </a:lnTo>
                <a:lnTo>
                  <a:pt x="869987" y="156677"/>
                </a:lnTo>
                <a:lnTo>
                  <a:pt x="898051" y="151925"/>
                </a:lnTo>
                <a:lnTo>
                  <a:pt x="926115" y="147174"/>
                </a:lnTo>
                <a:lnTo>
                  <a:pt x="954180" y="142422"/>
                </a:lnTo>
                <a:lnTo>
                  <a:pt x="982244" y="137671"/>
                </a:lnTo>
                <a:lnTo>
                  <a:pt x="1010308" y="132919"/>
                </a:lnTo>
                <a:lnTo>
                  <a:pt x="1038372" y="128167"/>
                </a:lnTo>
                <a:lnTo>
                  <a:pt x="1066436" y="123416"/>
                </a:lnTo>
                <a:lnTo>
                  <a:pt x="1094500" y="118664"/>
                </a:lnTo>
                <a:lnTo>
                  <a:pt x="1122564" y="113913"/>
                </a:lnTo>
                <a:lnTo>
                  <a:pt x="1150628" y="109161"/>
                </a:lnTo>
                <a:lnTo>
                  <a:pt x="1178692" y="104409"/>
                </a:lnTo>
                <a:lnTo>
                  <a:pt x="1206756" y="99658"/>
                </a:lnTo>
                <a:lnTo>
                  <a:pt x="1234820" y="94906"/>
                </a:lnTo>
                <a:lnTo>
                  <a:pt x="1262885" y="90155"/>
                </a:lnTo>
                <a:lnTo>
                  <a:pt x="1290949" y="85403"/>
                </a:lnTo>
                <a:lnTo>
                  <a:pt x="1319013" y="80651"/>
                </a:lnTo>
                <a:lnTo>
                  <a:pt x="1347077" y="75900"/>
                </a:lnTo>
                <a:lnTo>
                  <a:pt x="1375141" y="71148"/>
                </a:lnTo>
                <a:lnTo>
                  <a:pt x="1403205" y="66397"/>
                </a:lnTo>
                <a:lnTo>
                  <a:pt x="1431269" y="61645"/>
                </a:lnTo>
                <a:lnTo>
                  <a:pt x="1459333" y="56893"/>
                </a:lnTo>
                <a:lnTo>
                  <a:pt x="1487398" y="52142"/>
                </a:lnTo>
                <a:lnTo>
                  <a:pt x="1515461" y="47390"/>
                </a:lnTo>
                <a:lnTo>
                  <a:pt x="1543526" y="42639"/>
                </a:lnTo>
                <a:lnTo>
                  <a:pt x="1571590" y="37887"/>
                </a:lnTo>
                <a:lnTo>
                  <a:pt x="1599654" y="33135"/>
                </a:lnTo>
                <a:lnTo>
                  <a:pt x="1627718" y="28384"/>
                </a:lnTo>
                <a:lnTo>
                  <a:pt x="1655782" y="23632"/>
                </a:lnTo>
                <a:lnTo>
                  <a:pt x="1683846" y="18881"/>
                </a:lnTo>
                <a:lnTo>
                  <a:pt x="1711911" y="14129"/>
                </a:lnTo>
                <a:lnTo>
                  <a:pt x="1739975" y="9378"/>
                </a:lnTo>
                <a:lnTo>
                  <a:pt x="1768039" y="4626"/>
                </a:lnTo>
                <a:lnTo>
                  <a:pt x="1796113" y="0"/>
                </a:lnTo>
                <a:lnTo>
                  <a:pt x="1824577" y="0"/>
                </a:lnTo>
                <a:lnTo>
                  <a:pt x="1853040" y="0"/>
                </a:lnTo>
                <a:lnTo>
                  <a:pt x="1881504" y="0"/>
                </a:lnTo>
                <a:lnTo>
                  <a:pt x="1909968" y="0"/>
                </a:lnTo>
                <a:lnTo>
                  <a:pt x="1938430" y="0"/>
                </a:lnTo>
                <a:lnTo>
                  <a:pt x="1966895" y="0"/>
                </a:lnTo>
                <a:lnTo>
                  <a:pt x="1995358" y="0"/>
                </a:lnTo>
                <a:lnTo>
                  <a:pt x="2023821" y="0"/>
                </a:lnTo>
                <a:lnTo>
                  <a:pt x="2052285" y="0"/>
                </a:lnTo>
                <a:lnTo>
                  <a:pt x="2080748" y="0"/>
                </a:lnTo>
                <a:lnTo>
                  <a:pt x="2109212" y="0"/>
                </a:lnTo>
                <a:lnTo>
                  <a:pt x="2137675" y="0"/>
                </a:lnTo>
                <a:lnTo>
                  <a:pt x="2166139" y="0"/>
                </a:lnTo>
                <a:lnTo>
                  <a:pt x="2194603" y="0"/>
                </a:lnTo>
                <a:lnTo>
                  <a:pt x="2223066" y="0"/>
                </a:lnTo>
                <a:lnTo>
                  <a:pt x="2251529" y="0"/>
                </a:lnTo>
                <a:lnTo>
                  <a:pt x="2279993" y="0"/>
                </a:lnTo>
                <a:lnTo>
                  <a:pt x="2308456" y="0"/>
                </a:lnTo>
                <a:lnTo>
                  <a:pt x="2336920" y="0"/>
                </a:lnTo>
                <a:lnTo>
                  <a:pt x="2365383" y="0"/>
                </a:lnTo>
                <a:lnTo>
                  <a:pt x="2393847" y="0"/>
                </a:lnTo>
                <a:lnTo>
                  <a:pt x="2422310" y="0"/>
                </a:lnTo>
              </a:path>
            </a:pathLst>
          </a:custGeom>
          <a:noFill xmlns:a="http://schemas.openxmlformats.org/drawingml/2006/main"/>
          <a:ln xmlns:a="http://schemas.openxmlformats.org/drawingml/2006/main" w="14249">
            <a:solidFill>
              <a:srgbClr val="657D95"/>
            </a:solidFill>
            <a:prstDash val="solid"/>
          </a:ln>
        </p:spPr>
      </p:sp>
      <p:sp>
        <p:nvSpPr>
          <p:cNvPr id="63" name="Diagram circle">
            <a:extLst xmlns:a="http://schemas.openxmlformats.org/drawingml/2006/main">
              <a:ext uri="{FF2B5EF4-FFF2-40B4-BE49-F238E27FC236}">
                <a16:creationId xmlns:a16="http://schemas.microsoft.com/office/drawing/2014/main" id="{91176CC8-D36F-48DA-A06E-1FBD4121430A}"/>
              </a:ext>
            </a:extLst>
          </p:cNvPr>
          <p:cNvSpPr>
            <a:spLocks xmlns:a="http://schemas.openxmlformats.org/drawingml/2006/main" noGrp="1"/>
          </p:cNvSpPr>
          <p:nvPr/>
        </p:nvSpPr>
        <p:spPr>
          <a:xfrm xmlns:a="http://schemas.openxmlformats.org/drawingml/2006/main">
            <a:off x="11584305" y="4966319"/>
            <a:ext cx="75994" cy="75994"/>
          </a:xfrm>
          <a:prstGeom xmlns:a="http://schemas.openxmlformats.org/drawingml/2006/main" prst="ellipse">
            <a:avLst/>
          </a:prstGeom>
          <a:solidFill xmlns:a="http://schemas.openxmlformats.org/drawingml/2006/main">
            <a:srgbClr val="657D95"/>
          </a:solidFill>
          <a:ln xmlns:a="http://schemas.openxmlformats.org/drawingml/2006/main" w="9499">
            <a:noFill/>
            <a:prstDash val="solid"/>
          </a:ln>
        </p:spPr>
      </p:sp>
      <p:sp>
        <p:nvSpPr>
          <p:cNvPr id="64" name="Target A">
            <a:extLst xmlns:a="http://schemas.openxmlformats.org/drawingml/2006/main">
              <a:ext uri="{FF2B5EF4-FFF2-40B4-BE49-F238E27FC236}">
                <a16:creationId xmlns:a16="http://schemas.microsoft.com/office/drawing/2014/main" id="{C558038C-6C12-4A43-980E-2E1571AEBC3D}"/>
              </a:ext>
            </a:extLst>
          </p:cNvPr>
          <p:cNvSpPr>
            <a:spLocks xmlns:a="http://schemas.openxmlformats.org/drawingml/2006/main" noGrp="1"/>
          </p:cNvSpPr>
          <p:nvPr/>
        </p:nvSpPr>
        <p:spPr>
          <a:xfrm xmlns:a="http://schemas.openxmlformats.org/drawingml/2006/main">
            <a:off x="13854626" y="4082142"/>
            <a:ext cx="1322403"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03A39"/>
                </a:solidFill>
                <a:latin typeface="Arial"/>
                <a:ea typeface="Arial"/>
                <a:cs typeface="Arial"/>
              </a:defRPr>
            </a:pPr>
            <a:r>
              <a:rPr sz="2394" b="1">
                <a:solidFill>
                  <a:srgbClr val="303A39"/>
                </a:solidFill>
                <a:latin typeface="Arial"/>
                <a:ea typeface="Arial"/>
                <a:cs typeface="Arial"/>
              </a:rPr>
              <a:t>Target A</a:t>
            </a:r>
          </a:p>
        </p:txBody>
      </p:sp>
      <p:sp>
        <p:nvSpPr>
          <p:cNvPr id="65" name="Both robots approaching">
            <a:extLst xmlns:a="http://schemas.openxmlformats.org/drawingml/2006/main">
              <a:ext uri="{FF2B5EF4-FFF2-40B4-BE49-F238E27FC236}">
                <a16:creationId xmlns:a16="http://schemas.microsoft.com/office/drawing/2014/main" id="{2CA4286E-8952-439E-8CAF-028D1B732280}"/>
              </a:ext>
            </a:extLst>
          </p:cNvPr>
          <p:cNvSpPr>
            <a:spLocks xmlns:a="http://schemas.openxmlformats.org/drawingml/2006/main" noGrp="1"/>
          </p:cNvSpPr>
          <p:nvPr/>
        </p:nvSpPr>
        <p:spPr>
          <a:xfrm xmlns:a="http://schemas.openxmlformats.org/drawingml/2006/main">
            <a:off x="13854626" y="4851710"/>
            <a:ext cx="2908399"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Both robots approaching</a:t>
            </a:r>
          </a:p>
        </p:txBody>
      </p:sp>
      <p:sp>
        <p:nvSpPr>
          <p:cNvPr id="66" name="Higher conflict risk">
            <a:extLst xmlns:a="http://schemas.openxmlformats.org/drawingml/2006/main">
              <a:ext uri="{FF2B5EF4-FFF2-40B4-BE49-F238E27FC236}">
                <a16:creationId xmlns:a16="http://schemas.microsoft.com/office/drawing/2014/main" id="{651E2915-9E8F-4088-B613-6085115BC72B}"/>
              </a:ext>
            </a:extLst>
          </p:cNvPr>
          <p:cNvSpPr>
            <a:spLocks xmlns:a="http://schemas.openxmlformats.org/drawingml/2006/main" noGrp="1"/>
          </p:cNvSpPr>
          <p:nvPr/>
        </p:nvSpPr>
        <p:spPr>
          <a:xfrm xmlns:a="http://schemas.openxmlformats.org/drawingml/2006/main">
            <a:off x="13854626" y="5241179"/>
            <a:ext cx="2214067"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Higher conflict risk</a:t>
            </a:r>
          </a:p>
        </p:txBody>
      </p:sp>
      <p:sp>
        <p:nvSpPr>
          <p:cNvPr id="67" name="Diagram path">
            <a:extLst xmlns:a="http://schemas.openxmlformats.org/drawingml/2006/main">
              <a:ext uri="{FF2B5EF4-FFF2-40B4-BE49-F238E27FC236}">
                <a16:creationId xmlns:a16="http://schemas.microsoft.com/office/drawing/2014/main" id="{F430521D-C76A-4633-8677-C626E4AD76DE}"/>
              </a:ext>
            </a:extLst>
          </p:cNvPr>
          <p:cNvSpPr>
            <a:spLocks xmlns:a="http://schemas.openxmlformats.org/drawingml/2006/main" noGrp="1"/>
          </p:cNvSpPr>
          <p:nvPr/>
        </p:nvSpPr>
        <p:spPr>
          <a:xfrm xmlns:a="http://schemas.openxmlformats.org/drawingml/2006/main">
            <a:off x="10073923" y="6448203"/>
            <a:ext cx="3970689" cy="237481"/>
          </a:xfrm>
          <a:custGeom xmlns:a="http://schemas.openxmlformats.org/drawingml/2006/main">
            <a:pathLst>
              <a:path w="3970689" h="237481">
                <a:moveTo>
                  <a:pt x="0" y="0"/>
                </a:moveTo>
                <a:lnTo>
                  <a:pt x="28351" y="2008"/>
                </a:lnTo>
                <a:lnTo>
                  <a:pt x="56702" y="4016"/>
                </a:lnTo>
                <a:lnTo>
                  <a:pt x="85053" y="6024"/>
                </a:lnTo>
                <a:lnTo>
                  <a:pt x="113404" y="8032"/>
                </a:lnTo>
                <a:lnTo>
                  <a:pt x="141755" y="10039"/>
                </a:lnTo>
                <a:lnTo>
                  <a:pt x="170106" y="12047"/>
                </a:lnTo>
                <a:lnTo>
                  <a:pt x="198458" y="14055"/>
                </a:lnTo>
                <a:lnTo>
                  <a:pt x="226809" y="16063"/>
                </a:lnTo>
                <a:lnTo>
                  <a:pt x="255159" y="18071"/>
                </a:lnTo>
                <a:lnTo>
                  <a:pt x="283511" y="20079"/>
                </a:lnTo>
                <a:lnTo>
                  <a:pt x="311862" y="22086"/>
                </a:lnTo>
                <a:lnTo>
                  <a:pt x="340213" y="24094"/>
                </a:lnTo>
                <a:lnTo>
                  <a:pt x="368564" y="26102"/>
                </a:lnTo>
                <a:lnTo>
                  <a:pt x="396915" y="28110"/>
                </a:lnTo>
                <a:lnTo>
                  <a:pt x="425266" y="30118"/>
                </a:lnTo>
                <a:lnTo>
                  <a:pt x="453617" y="32126"/>
                </a:lnTo>
                <a:lnTo>
                  <a:pt x="481968" y="34134"/>
                </a:lnTo>
                <a:lnTo>
                  <a:pt x="510319" y="36142"/>
                </a:lnTo>
                <a:lnTo>
                  <a:pt x="538670" y="38150"/>
                </a:lnTo>
                <a:lnTo>
                  <a:pt x="567021" y="40157"/>
                </a:lnTo>
                <a:lnTo>
                  <a:pt x="595372" y="42165"/>
                </a:lnTo>
                <a:lnTo>
                  <a:pt x="623723" y="44173"/>
                </a:lnTo>
                <a:lnTo>
                  <a:pt x="652074" y="46181"/>
                </a:lnTo>
                <a:lnTo>
                  <a:pt x="680425" y="48189"/>
                </a:lnTo>
                <a:lnTo>
                  <a:pt x="708776" y="50197"/>
                </a:lnTo>
                <a:lnTo>
                  <a:pt x="737127" y="52204"/>
                </a:lnTo>
                <a:lnTo>
                  <a:pt x="765478" y="54212"/>
                </a:lnTo>
                <a:lnTo>
                  <a:pt x="793829" y="56220"/>
                </a:lnTo>
                <a:lnTo>
                  <a:pt x="822180" y="58228"/>
                </a:lnTo>
                <a:lnTo>
                  <a:pt x="850532" y="60236"/>
                </a:lnTo>
                <a:lnTo>
                  <a:pt x="878883" y="62244"/>
                </a:lnTo>
                <a:lnTo>
                  <a:pt x="907234" y="64252"/>
                </a:lnTo>
                <a:lnTo>
                  <a:pt x="935585" y="66259"/>
                </a:lnTo>
                <a:lnTo>
                  <a:pt x="963936" y="68268"/>
                </a:lnTo>
                <a:lnTo>
                  <a:pt x="992287" y="70275"/>
                </a:lnTo>
                <a:lnTo>
                  <a:pt x="1020638" y="72283"/>
                </a:lnTo>
                <a:lnTo>
                  <a:pt x="1048989" y="74291"/>
                </a:lnTo>
                <a:lnTo>
                  <a:pt x="1077340" y="76299"/>
                </a:lnTo>
                <a:lnTo>
                  <a:pt x="1105691" y="78307"/>
                </a:lnTo>
                <a:lnTo>
                  <a:pt x="1134042" y="80315"/>
                </a:lnTo>
                <a:lnTo>
                  <a:pt x="1162393" y="82322"/>
                </a:lnTo>
                <a:lnTo>
                  <a:pt x="1190744" y="84330"/>
                </a:lnTo>
                <a:lnTo>
                  <a:pt x="1219095" y="86338"/>
                </a:lnTo>
                <a:lnTo>
                  <a:pt x="1247446" y="88346"/>
                </a:lnTo>
                <a:lnTo>
                  <a:pt x="1275797" y="90354"/>
                </a:lnTo>
                <a:lnTo>
                  <a:pt x="1304148" y="92362"/>
                </a:lnTo>
                <a:lnTo>
                  <a:pt x="1332499" y="94370"/>
                </a:lnTo>
                <a:lnTo>
                  <a:pt x="1360850" y="96377"/>
                </a:lnTo>
                <a:lnTo>
                  <a:pt x="1389201" y="98385"/>
                </a:lnTo>
                <a:lnTo>
                  <a:pt x="1417552" y="100393"/>
                </a:lnTo>
                <a:lnTo>
                  <a:pt x="1445904" y="102401"/>
                </a:lnTo>
                <a:lnTo>
                  <a:pt x="1474255" y="104409"/>
                </a:lnTo>
                <a:lnTo>
                  <a:pt x="1502606" y="106417"/>
                </a:lnTo>
                <a:lnTo>
                  <a:pt x="1530956" y="108425"/>
                </a:lnTo>
                <a:lnTo>
                  <a:pt x="1559308" y="110433"/>
                </a:lnTo>
                <a:lnTo>
                  <a:pt x="1587659" y="112440"/>
                </a:lnTo>
                <a:lnTo>
                  <a:pt x="1616010" y="114448"/>
                </a:lnTo>
                <a:lnTo>
                  <a:pt x="1644361" y="116456"/>
                </a:lnTo>
                <a:lnTo>
                  <a:pt x="1672712" y="118464"/>
                </a:lnTo>
                <a:lnTo>
                  <a:pt x="1701063" y="120472"/>
                </a:lnTo>
                <a:lnTo>
                  <a:pt x="1729414" y="122480"/>
                </a:lnTo>
                <a:lnTo>
                  <a:pt x="1757765" y="124488"/>
                </a:lnTo>
                <a:lnTo>
                  <a:pt x="1786116" y="126495"/>
                </a:lnTo>
                <a:lnTo>
                  <a:pt x="1814467" y="128503"/>
                </a:lnTo>
                <a:lnTo>
                  <a:pt x="1842818" y="130511"/>
                </a:lnTo>
                <a:lnTo>
                  <a:pt x="1871169" y="132519"/>
                </a:lnTo>
                <a:lnTo>
                  <a:pt x="1899520" y="134527"/>
                </a:lnTo>
                <a:lnTo>
                  <a:pt x="1927871" y="136535"/>
                </a:lnTo>
                <a:lnTo>
                  <a:pt x="1956222" y="138543"/>
                </a:lnTo>
                <a:lnTo>
                  <a:pt x="1984574" y="140551"/>
                </a:lnTo>
                <a:lnTo>
                  <a:pt x="2012925" y="142558"/>
                </a:lnTo>
                <a:lnTo>
                  <a:pt x="2041275" y="144566"/>
                </a:lnTo>
                <a:lnTo>
                  <a:pt x="2069627" y="146574"/>
                </a:lnTo>
                <a:lnTo>
                  <a:pt x="2097978" y="148582"/>
                </a:lnTo>
                <a:lnTo>
                  <a:pt x="2126328" y="150590"/>
                </a:lnTo>
                <a:lnTo>
                  <a:pt x="2154679" y="152598"/>
                </a:lnTo>
                <a:lnTo>
                  <a:pt x="2183031" y="154606"/>
                </a:lnTo>
                <a:lnTo>
                  <a:pt x="2211382" y="156613"/>
                </a:lnTo>
                <a:lnTo>
                  <a:pt x="2239733" y="158621"/>
                </a:lnTo>
                <a:lnTo>
                  <a:pt x="2268084" y="160629"/>
                </a:lnTo>
                <a:lnTo>
                  <a:pt x="2296435" y="162637"/>
                </a:lnTo>
                <a:lnTo>
                  <a:pt x="2324786" y="164645"/>
                </a:lnTo>
                <a:lnTo>
                  <a:pt x="2353137" y="166653"/>
                </a:lnTo>
                <a:lnTo>
                  <a:pt x="2381488" y="168661"/>
                </a:lnTo>
                <a:lnTo>
                  <a:pt x="2409839" y="170669"/>
                </a:lnTo>
                <a:lnTo>
                  <a:pt x="2438190" y="172676"/>
                </a:lnTo>
                <a:lnTo>
                  <a:pt x="2466541" y="174684"/>
                </a:lnTo>
                <a:lnTo>
                  <a:pt x="2494892" y="176692"/>
                </a:lnTo>
                <a:lnTo>
                  <a:pt x="2523244" y="178700"/>
                </a:lnTo>
                <a:lnTo>
                  <a:pt x="2551595" y="180708"/>
                </a:lnTo>
                <a:lnTo>
                  <a:pt x="2579945" y="182716"/>
                </a:lnTo>
                <a:lnTo>
                  <a:pt x="2608296" y="184724"/>
                </a:lnTo>
                <a:lnTo>
                  <a:pt x="2636647" y="186731"/>
                </a:lnTo>
                <a:lnTo>
                  <a:pt x="2664998" y="188739"/>
                </a:lnTo>
                <a:lnTo>
                  <a:pt x="2693349" y="190747"/>
                </a:lnTo>
                <a:lnTo>
                  <a:pt x="2721701" y="192755"/>
                </a:lnTo>
                <a:lnTo>
                  <a:pt x="2750052" y="194763"/>
                </a:lnTo>
                <a:lnTo>
                  <a:pt x="2778403" y="196771"/>
                </a:lnTo>
                <a:lnTo>
                  <a:pt x="2806754" y="198778"/>
                </a:lnTo>
                <a:lnTo>
                  <a:pt x="2835105" y="200787"/>
                </a:lnTo>
                <a:lnTo>
                  <a:pt x="2863456" y="202794"/>
                </a:lnTo>
                <a:lnTo>
                  <a:pt x="2891807" y="204802"/>
                </a:lnTo>
                <a:lnTo>
                  <a:pt x="2920158" y="206810"/>
                </a:lnTo>
                <a:lnTo>
                  <a:pt x="2948509" y="208818"/>
                </a:lnTo>
                <a:lnTo>
                  <a:pt x="2976860" y="210826"/>
                </a:lnTo>
                <a:lnTo>
                  <a:pt x="3005211" y="212834"/>
                </a:lnTo>
                <a:lnTo>
                  <a:pt x="3033562" y="214842"/>
                </a:lnTo>
                <a:lnTo>
                  <a:pt x="3061913" y="216849"/>
                </a:lnTo>
                <a:lnTo>
                  <a:pt x="3090264" y="218857"/>
                </a:lnTo>
                <a:lnTo>
                  <a:pt x="3118615" y="220865"/>
                </a:lnTo>
                <a:lnTo>
                  <a:pt x="3146966" y="222873"/>
                </a:lnTo>
                <a:lnTo>
                  <a:pt x="3175317" y="224881"/>
                </a:lnTo>
                <a:lnTo>
                  <a:pt x="3203668" y="226889"/>
                </a:lnTo>
                <a:lnTo>
                  <a:pt x="3232019" y="228896"/>
                </a:lnTo>
                <a:lnTo>
                  <a:pt x="3260371" y="230904"/>
                </a:lnTo>
                <a:lnTo>
                  <a:pt x="3288722" y="232912"/>
                </a:lnTo>
                <a:lnTo>
                  <a:pt x="3317073" y="234920"/>
                </a:lnTo>
                <a:lnTo>
                  <a:pt x="3345424" y="236928"/>
                </a:lnTo>
                <a:lnTo>
                  <a:pt x="3373826" y="237481"/>
                </a:lnTo>
                <a:lnTo>
                  <a:pt x="3402248" y="237481"/>
                </a:lnTo>
                <a:lnTo>
                  <a:pt x="3430670" y="237481"/>
                </a:lnTo>
                <a:lnTo>
                  <a:pt x="3459092" y="237481"/>
                </a:lnTo>
                <a:lnTo>
                  <a:pt x="3487514" y="237481"/>
                </a:lnTo>
                <a:lnTo>
                  <a:pt x="3515937" y="237481"/>
                </a:lnTo>
                <a:lnTo>
                  <a:pt x="3544359" y="237481"/>
                </a:lnTo>
                <a:lnTo>
                  <a:pt x="3572780" y="237481"/>
                </a:lnTo>
                <a:lnTo>
                  <a:pt x="3601203" y="237481"/>
                </a:lnTo>
                <a:lnTo>
                  <a:pt x="3629625" y="237481"/>
                </a:lnTo>
                <a:lnTo>
                  <a:pt x="3658046" y="237481"/>
                </a:lnTo>
                <a:lnTo>
                  <a:pt x="3686469" y="237481"/>
                </a:lnTo>
                <a:lnTo>
                  <a:pt x="3714891" y="237481"/>
                </a:lnTo>
                <a:lnTo>
                  <a:pt x="3743312" y="237481"/>
                </a:lnTo>
                <a:lnTo>
                  <a:pt x="3771735" y="237481"/>
                </a:lnTo>
                <a:lnTo>
                  <a:pt x="3800157" y="237481"/>
                </a:lnTo>
                <a:lnTo>
                  <a:pt x="3828579" y="237481"/>
                </a:lnTo>
                <a:lnTo>
                  <a:pt x="3857001" y="237481"/>
                </a:lnTo>
                <a:lnTo>
                  <a:pt x="3885423" y="237481"/>
                </a:lnTo>
                <a:lnTo>
                  <a:pt x="3913845" y="237481"/>
                </a:lnTo>
                <a:lnTo>
                  <a:pt x="3942267" y="237481"/>
                </a:lnTo>
                <a:lnTo>
                  <a:pt x="3970689" y="237481"/>
                </a:lnTo>
              </a:path>
            </a:pathLst>
          </a:custGeom>
          <a:noFill xmlns:a="http://schemas.openxmlformats.org/drawingml/2006/main"/>
          <a:ln xmlns:a="http://schemas.openxmlformats.org/drawingml/2006/main" w="14249">
            <a:solidFill>
              <a:srgbClr val="34695B"/>
            </a:solidFill>
            <a:prstDash val="solid"/>
          </a:ln>
        </p:spPr>
      </p:sp>
      <p:sp>
        <p:nvSpPr>
          <p:cNvPr id="68" name="Diagram circle">
            <a:extLst xmlns:a="http://schemas.openxmlformats.org/drawingml/2006/main">
              <a:ext uri="{FF2B5EF4-FFF2-40B4-BE49-F238E27FC236}">
                <a16:creationId xmlns:a16="http://schemas.microsoft.com/office/drawing/2014/main" id="{EC2CDFB1-8485-49C9-BC9C-EDFBCCC32700}"/>
              </a:ext>
            </a:extLst>
          </p:cNvPr>
          <p:cNvSpPr>
            <a:spLocks xmlns:a="http://schemas.openxmlformats.org/drawingml/2006/main" noGrp="1"/>
          </p:cNvSpPr>
          <p:nvPr/>
        </p:nvSpPr>
        <p:spPr>
          <a:xfrm xmlns:a="http://schemas.openxmlformats.org/drawingml/2006/main">
            <a:off x="10035926" y="6410206"/>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9" name="Target B">
            <a:extLst xmlns:a="http://schemas.openxmlformats.org/drawingml/2006/main">
              <a:ext uri="{FF2B5EF4-FFF2-40B4-BE49-F238E27FC236}">
                <a16:creationId xmlns:a16="http://schemas.microsoft.com/office/drawing/2014/main" id="{FE892AF5-5E6B-4BF7-A376-14579713B8A7}"/>
              </a:ext>
            </a:extLst>
          </p:cNvPr>
          <p:cNvSpPr>
            <a:spLocks xmlns:a="http://schemas.openxmlformats.org/drawingml/2006/main" noGrp="1"/>
          </p:cNvSpPr>
          <p:nvPr/>
        </p:nvSpPr>
        <p:spPr>
          <a:xfrm xmlns:a="http://schemas.openxmlformats.org/drawingml/2006/main">
            <a:off x="13854626" y="6048488"/>
            <a:ext cx="1324719"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Target B</a:t>
            </a:r>
          </a:p>
        </p:txBody>
      </p:sp>
      <p:sp>
        <p:nvSpPr>
          <p:cNvPr id="70" name="Possible uncontested push">
            <a:extLst xmlns:a="http://schemas.openxmlformats.org/drawingml/2006/main">
              <a:ext uri="{FF2B5EF4-FFF2-40B4-BE49-F238E27FC236}">
                <a16:creationId xmlns:a16="http://schemas.microsoft.com/office/drawing/2014/main" id="{6598A7E5-CABF-422C-94AC-2AC75CEEA4F8}"/>
              </a:ext>
            </a:extLst>
          </p:cNvPr>
          <p:cNvSpPr>
            <a:spLocks xmlns:a="http://schemas.openxmlformats.org/drawingml/2006/main" noGrp="1"/>
          </p:cNvSpPr>
          <p:nvPr/>
        </p:nvSpPr>
        <p:spPr>
          <a:xfrm xmlns:a="http://schemas.openxmlformats.org/drawingml/2006/main">
            <a:off x="13854626" y="6837054"/>
            <a:ext cx="3106341" cy="35057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66"/>
              </a:lnSpc>
              <a:spcBef>
                <a:spcPts val="0"/>
              </a:spcBef>
              <a:spcAft>
                <a:spcPts val="0"/>
              </a:spcAft>
              <a:buNone/>
              <a:defRPr sz="1972" b="0">
                <a:solidFill>
                  <a:srgbClr val="75827C"/>
                </a:solidFill>
                <a:latin typeface="Arial"/>
                <a:ea typeface="Arial"/>
                <a:cs typeface="Arial"/>
              </a:defRPr>
            </a:pPr>
            <a:r>
              <a:rPr sz="1972" b="0">
                <a:solidFill>
                  <a:srgbClr val="75827C"/>
                </a:solidFill>
                <a:latin typeface="Arial"/>
                <a:ea typeface="Arial"/>
                <a:cs typeface="Arial"/>
              </a:rPr>
              <a:t>Possible uncontested push</a:t>
            </a:r>
          </a:p>
        </p:txBody>
      </p:sp>
      <p:sp>
        <p:nvSpPr>
          <p:cNvPr id="71" name="Reassess as an alternative">
            <a:extLst xmlns:a="http://schemas.openxmlformats.org/drawingml/2006/main">
              <a:ext uri="{FF2B5EF4-FFF2-40B4-BE49-F238E27FC236}">
                <a16:creationId xmlns:a16="http://schemas.microsoft.com/office/drawing/2014/main" id="{0137E7A5-52A5-490D-B3CA-6DFEE10A30BC}"/>
              </a:ext>
            </a:extLst>
          </p:cNvPr>
          <p:cNvSpPr>
            <a:spLocks xmlns:a="http://schemas.openxmlformats.org/drawingml/2006/main" noGrp="1"/>
          </p:cNvSpPr>
          <p:nvPr/>
        </p:nvSpPr>
        <p:spPr>
          <a:xfrm xmlns:a="http://schemas.openxmlformats.org/drawingml/2006/main">
            <a:off x="13854626" y="7226524"/>
            <a:ext cx="3107234" cy="3489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55"/>
              </a:lnSpc>
              <a:spcBef>
                <a:spcPts val="0"/>
              </a:spcBef>
              <a:spcAft>
                <a:spcPts val="0"/>
              </a:spcAft>
              <a:buNone/>
              <a:defRPr sz="1963" b="0">
                <a:solidFill>
                  <a:srgbClr val="75827C"/>
                </a:solidFill>
                <a:latin typeface="Arial"/>
                <a:ea typeface="Arial"/>
                <a:cs typeface="Arial"/>
              </a:defRPr>
            </a:pPr>
            <a:r>
              <a:rPr sz="1963" b="0">
                <a:solidFill>
                  <a:srgbClr val="75827C"/>
                </a:solidFill>
                <a:latin typeface="Arial"/>
                <a:ea typeface="Arial"/>
                <a:cs typeface="Arial"/>
              </a:rPr>
              <a:t>Reassess as an alternative</a:t>
            </a:r>
          </a:p>
        </p:txBody>
      </p:sp>
    </p:spTree>
    <p:extLst>
      <p:ext uri="{BB962C8B-B14F-4D97-AF65-F5344CB8AC3E}">
        <p14:creationId xmlns:p14="http://schemas.microsoft.com/office/powerpoint/2010/main" val="1670582825"/>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63" name="Section rule">
            <a:extLst xmlns:a="http://schemas.openxmlformats.org/drawingml/2006/main">
              <a:ext uri="{FF2B5EF4-FFF2-40B4-BE49-F238E27FC236}">
                <a16:creationId xmlns:a16="http://schemas.microsoft.com/office/drawing/2014/main" id="{3C3D5D96-AC5D-4661-8488-F35E093798E2}"/>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1F78A349-32D6-4490-89F5-932695519D3C}"/>
              </a:ext>
            </a:extLst>
          </p:cNvPr>
          <p:cNvSpPr>
            <a:spLocks xmlns:a="http://schemas.openxmlformats.org/drawingml/2006/main" noGrp="1"/>
          </p:cNvSpPr>
          <p:nvPr/>
        </p:nvSpPr>
        <p:spPr>
          <a:xfrm xmlns:a="http://schemas.openxmlformats.org/drawingml/2006/main">
            <a:off x="857250" y="3871615"/>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610D21D1-6AE3-4277-B831-1BB3F69BA264}"/>
              </a:ext>
            </a:extLst>
          </p:cNvPr>
          <p:cNvSpPr>
            <a:spLocks xmlns:a="http://schemas.openxmlformats.org/drawingml/2006/main" noGrp="1"/>
          </p:cNvSpPr>
          <p:nvPr/>
        </p:nvSpPr>
        <p:spPr>
          <a:xfrm xmlns:a="http://schemas.openxmlformats.org/drawingml/2006/main">
            <a:off x="857250" y="5645944"/>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3FD2411E-826F-47B5-87C0-03F7AAAE10A6}"/>
              </a:ext>
            </a:extLst>
          </p:cNvPr>
          <p:cNvSpPr>
            <a:spLocks xmlns:a="http://schemas.openxmlformats.org/drawingml/2006/main" noGrp="1"/>
          </p:cNvSpPr>
          <p:nvPr/>
        </p:nvSpPr>
        <p:spPr>
          <a:xfrm xmlns:a="http://schemas.openxmlformats.org/drawingml/2006/main">
            <a:off x="857250" y="7420273"/>
            <a:ext cx="5667375" cy="9525"/>
          </a:xfrm>
          <a:custGeom xmlns:a="http://schemas.openxmlformats.org/drawingml/2006/main">
            <a:pathLst>
              <a:path w="5667375" h="9525">
                <a:moveTo>
                  <a:pt x="0" y="0"/>
                </a:moveTo>
                <a:lnTo>
                  <a:pt x="5667375"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377883AE-9B82-46FE-B5FC-DF2B8B755587}"/>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Endgame: target choice within the time remaining</a:t>
            </a:r>
          </a:p>
        </p:txBody>
      </p:sp>
      <p:sp>
        <p:nvSpPr>
          <p:cNvPr id="6" name="Choose pushes we can finish.Include release and stopping time.">
            <a:extLst xmlns:a="http://schemas.openxmlformats.org/drawingml/2006/main">
              <a:ext uri="{FF2B5EF4-FFF2-40B4-BE49-F238E27FC236}">
                <a16:creationId xmlns:a16="http://schemas.microsoft.com/office/drawing/2014/main" id="{A81A3E8D-076B-4E52-8BDC-6DAA7C3A2ADF}"/>
              </a:ext>
            </a:extLst>
          </p:cNvPr>
          <p:cNvSpPr>
            <a:spLocks xmlns:a="http://schemas.openxmlformats.org/drawingml/2006/main" noGrp="1"/>
          </p:cNvSpPr>
          <p:nvPr/>
        </p:nvSpPr>
        <p:spPr>
          <a:xfrm xmlns:a="http://schemas.openxmlformats.org/drawingml/2006/main">
            <a:off x="857250" y="2602111"/>
            <a:ext cx="5743575" cy="10044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28332F"/>
                </a:solidFill>
                <a:latin typeface="Arial"/>
                <a:ea typeface="Arial"/>
                <a:cs typeface="Arial"/>
              </a:rPr>
              <a:t>Choose pushes we can finish.</a:t>
            </a:r>
          </a:p>
          <a:p xmlns:a="http://schemas.openxmlformats.org/drawingml/2006/main">
            <a:pPr algn="l">
              <a:lnSpc>
                <a:spcPts val="4024"/>
              </a:lnSpc>
              <a:spcBef>
                <a:spcPts val="0"/>
              </a:spcBef>
              <a:spcAft>
                <a:spcPts val="0"/>
              </a:spcAft>
              <a:buNone/>
              <a:defRPr sz="2775" b="0">
                <a:solidFill>
                  <a:srgbClr val="28332F"/>
                </a:solidFill>
                <a:latin typeface="Arial"/>
                <a:ea typeface="Arial"/>
                <a:cs typeface="Arial"/>
              </a:defRPr>
            </a:pPr>
            <a:r>
              <a:rPr sz="2775" b="0">
                <a:solidFill>
                  <a:srgbClr val="34695B"/>
                </a:solidFill>
                <a:latin typeface="Arial"/>
                <a:ea typeface="Arial"/>
                <a:cs typeface="Arial"/>
              </a:rPr>
              <a:t>Include release and stopping time.</a:t>
            </a:r>
          </a:p>
        </p:txBody>
      </p:sp>
      <p:sp>
        <p:nvSpPr>
          <p:cNvPr id="7" name="Estimate the full action">
            <a:extLst xmlns:a="http://schemas.openxmlformats.org/drawingml/2006/main">
              <a:ext uri="{FF2B5EF4-FFF2-40B4-BE49-F238E27FC236}">
                <a16:creationId xmlns:a16="http://schemas.microsoft.com/office/drawing/2014/main" id="{ED6BCBBE-5C3E-4427-99C4-DE6647BDD54F}"/>
              </a:ext>
            </a:extLst>
          </p:cNvPr>
          <p:cNvSpPr>
            <a:spLocks xmlns:a="http://schemas.openxmlformats.org/drawingml/2006/main" noGrp="1"/>
          </p:cNvSpPr>
          <p:nvPr/>
        </p:nvSpPr>
        <p:spPr>
          <a:xfrm xmlns:a="http://schemas.openxmlformats.org/drawingml/2006/main">
            <a:off x="857250" y="4128790"/>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Estimate the full action</a:t>
            </a:r>
          </a:p>
        </p:txBody>
      </p:sp>
      <p:sp>
        <p:nvSpPr>
          <p:cNvPr id="8" name="Include approach, alignment, push and release.Leave a braking mar">
            <a:extLst xmlns:a="http://schemas.openxmlformats.org/drawingml/2006/main">
              <a:ext uri="{FF2B5EF4-FFF2-40B4-BE49-F238E27FC236}">
                <a16:creationId xmlns:a16="http://schemas.microsoft.com/office/drawing/2014/main" id="{EFC08676-BB13-4801-85CB-E74614BAAD0B}"/>
              </a:ext>
            </a:extLst>
          </p:cNvPr>
          <p:cNvSpPr>
            <a:spLocks xmlns:a="http://schemas.openxmlformats.org/drawingml/2006/main" noGrp="1"/>
          </p:cNvSpPr>
          <p:nvPr/>
        </p:nvSpPr>
        <p:spPr>
          <a:xfrm xmlns:a="http://schemas.openxmlformats.org/drawingml/2006/main">
            <a:off x="857250" y="4676477"/>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Include approach, alignment, push and release.</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Leave a braking margin.</a:t>
            </a:r>
          </a:p>
        </p:txBody>
      </p:sp>
      <p:sp>
        <p:nvSpPr>
          <p:cNvPr id="9" name="Favor nearby targets">
            <a:extLst xmlns:a="http://schemas.openxmlformats.org/drawingml/2006/main">
              <a:ext uri="{FF2B5EF4-FFF2-40B4-BE49-F238E27FC236}">
                <a16:creationId xmlns:a16="http://schemas.microsoft.com/office/drawing/2014/main" id="{55E573B6-51AD-46F9-BA11-BF9910996990}"/>
              </a:ext>
            </a:extLst>
          </p:cNvPr>
          <p:cNvSpPr>
            <a:spLocks xmlns:a="http://schemas.openxmlformats.org/drawingml/2006/main" noGrp="1"/>
          </p:cNvSpPr>
          <p:nvPr/>
        </p:nvSpPr>
        <p:spPr>
          <a:xfrm xmlns:a="http://schemas.openxmlformats.org/drawingml/2006/main">
            <a:off x="857250" y="5903119"/>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28332F"/>
                </a:solidFill>
                <a:latin typeface="Arial"/>
                <a:ea typeface="Arial"/>
                <a:cs typeface="Arial"/>
              </a:defRPr>
            </a:pPr>
            <a:r>
              <a:rPr sz="2325" b="1">
                <a:solidFill>
                  <a:srgbClr val="28332F"/>
                </a:solidFill>
                <a:latin typeface="Arial"/>
                <a:ea typeface="Arial"/>
                <a:cs typeface="Arial"/>
              </a:rPr>
              <a:t>Favor nearby targets</a:t>
            </a:r>
          </a:p>
        </p:txBody>
      </p:sp>
      <p:sp>
        <p:nvSpPr>
          <p:cNvPr id="10" name="Use reachable groups near the line. Limit detours and deep pushes">
            <a:extLst xmlns:a="http://schemas.openxmlformats.org/drawingml/2006/main">
              <a:ext uri="{FF2B5EF4-FFF2-40B4-BE49-F238E27FC236}">
                <a16:creationId xmlns:a16="http://schemas.microsoft.com/office/drawing/2014/main" id="{04AFAA2C-EF89-4562-87AC-FD32B6C45F66}"/>
              </a:ext>
            </a:extLst>
          </p:cNvPr>
          <p:cNvSpPr>
            <a:spLocks xmlns:a="http://schemas.openxmlformats.org/drawingml/2006/main" noGrp="1"/>
          </p:cNvSpPr>
          <p:nvPr/>
        </p:nvSpPr>
        <p:spPr>
          <a:xfrm xmlns:a="http://schemas.openxmlformats.org/drawingml/2006/main">
            <a:off x="857250" y="6450806"/>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Use reachable groups near the line. Limit</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detours and deep pushes.</a:t>
            </a:r>
          </a:p>
        </p:txBody>
      </p:sp>
      <p:sp>
        <p:nvSpPr>
          <p:cNvPr id="11" name="Confirm release">
            <a:extLst xmlns:a="http://schemas.openxmlformats.org/drawingml/2006/main">
              <a:ext uri="{FF2B5EF4-FFF2-40B4-BE49-F238E27FC236}">
                <a16:creationId xmlns:a16="http://schemas.microsoft.com/office/drawing/2014/main" id="{CD43E3E1-55AF-40B6-88E6-282915DD5456}"/>
              </a:ext>
            </a:extLst>
          </p:cNvPr>
          <p:cNvSpPr>
            <a:spLocks xmlns:a="http://schemas.openxmlformats.org/drawingml/2006/main" noGrp="1"/>
          </p:cNvSpPr>
          <p:nvPr/>
        </p:nvSpPr>
        <p:spPr>
          <a:xfrm xmlns:a="http://schemas.openxmlformats.org/drawingml/2006/main">
            <a:off x="857250" y="7677448"/>
            <a:ext cx="5743575" cy="4133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488"/>
              </a:lnSpc>
              <a:spcBef>
                <a:spcPts val="0"/>
              </a:spcBef>
              <a:spcAft>
                <a:spcPts val="0"/>
              </a:spcAft>
              <a:buNone/>
              <a:defRPr sz="2325" b="1">
                <a:solidFill>
                  <a:srgbClr val="34695B"/>
                </a:solidFill>
                <a:latin typeface="Arial"/>
                <a:ea typeface="Arial"/>
                <a:cs typeface="Arial"/>
              </a:defRPr>
            </a:pPr>
            <a:r>
              <a:rPr sz="2325" b="1">
                <a:solidFill>
                  <a:srgbClr val="34695B"/>
                </a:solidFill>
                <a:latin typeface="Arial"/>
                <a:ea typeface="Arial"/>
                <a:cs typeface="Arial"/>
              </a:rPr>
              <a:t>Confirm release</a:t>
            </a:r>
          </a:p>
        </p:txBody>
      </p:sp>
      <p:sp>
        <p:nvSpPr>
          <p:cNvPr id="12" name="Check that blocks have left the pusher.Set the phase switch using">
            <a:extLst xmlns:a="http://schemas.openxmlformats.org/drawingml/2006/main">
              <a:ext uri="{FF2B5EF4-FFF2-40B4-BE49-F238E27FC236}">
                <a16:creationId xmlns:a16="http://schemas.microsoft.com/office/drawing/2014/main" id="{1D4CB688-43A6-4BA9-B80A-5E865C13D11B}"/>
              </a:ext>
            </a:extLst>
          </p:cNvPr>
          <p:cNvSpPr>
            <a:spLocks xmlns:a="http://schemas.openxmlformats.org/drawingml/2006/main" noGrp="1"/>
          </p:cNvSpPr>
          <p:nvPr/>
        </p:nvSpPr>
        <p:spPr>
          <a:xfrm xmlns:a="http://schemas.openxmlformats.org/drawingml/2006/main">
            <a:off x="857250" y="8225135"/>
            <a:ext cx="5743575" cy="78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Check that blocks have left the pusher.</a:t>
            </a:r>
          </a:p>
          <a:p xmlns:a="http://schemas.openxmlformats.org/drawingml/2006/main">
            <a:pPr algn="l">
              <a:lnSpc>
                <a:spcPts val="325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Set the phase switch using measured times.</a:t>
            </a:r>
          </a:p>
        </p:txBody>
      </p:sp>
      <p:sp>
        <p:nvSpPr>
          <p:cNvPr id="13" name="Diagram rect">
            <a:extLst xmlns:a="http://schemas.openxmlformats.org/drawingml/2006/main">
              <a:ext uri="{FF2B5EF4-FFF2-40B4-BE49-F238E27FC236}">
                <a16:creationId xmlns:a16="http://schemas.microsoft.com/office/drawing/2014/main" id="{1BED7B1B-B97E-46ED-8D7C-A606B554DA64}"/>
              </a:ext>
            </a:extLst>
          </p:cNvPr>
          <p:cNvSpPr>
            <a:spLocks xmlns:a="http://schemas.openxmlformats.org/drawingml/2006/main" noGrp="1"/>
          </p:cNvSpPr>
          <p:nvPr/>
        </p:nvSpPr>
        <p:spPr>
          <a:xfrm xmlns:a="http://schemas.openxmlformats.org/drawingml/2006/main">
            <a:off x="8221568" y="3094965"/>
            <a:ext cx="4939614" cy="2469807"/>
          </a:xfrm>
          <a:prstGeom xmlns:a="http://schemas.openxmlformats.org/drawingml/2006/main" prst="rect">
            <a:avLst/>
          </a:prstGeom>
          <a:solidFill xmlns:a="http://schemas.openxmlformats.org/drawingml/2006/main">
            <a:srgbClr val="657D95">
              <a:alpha val="7000"/>
            </a:srgbClr>
          </a:solidFill>
          <a:ln xmlns:a="http://schemas.openxmlformats.org/drawingml/2006/main" w="9499">
            <a:noFill/>
            <a:prstDash val="solid"/>
          </a:ln>
        </p:spPr>
      </p:sp>
      <p:sp>
        <p:nvSpPr>
          <p:cNvPr id="14" name="Diagram rect">
            <a:extLst xmlns:a="http://schemas.openxmlformats.org/drawingml/2006/main">
              <a:ext uri="{FF2B5EF4-FFF2-40B4-BE49-F238E27FC236}">
                <a16:creationId xmlns:a16="http://schemas.microsoft.com/office/drawing/2014/main" id="{7A6EA6BC-E896-4B2F-B579-B92459CD50A5}"/>
              </a:ext>
            </a:extLst>
          </p:cNvPr>
          <p:cNvSpPr>
            <a:spLocks xmlns:a="http://schemas.openxmlformats.org/drawingml/2006/main" noGrp="1"/>
          </p:cNvSpPr>
          <p:nvPr/>
        </p:nvSpPr>
        <p:spPr>
          <a:xfrm xmlns:a="http://schemas.openxmlformats.org/drawingml/2006/main">
            <a:off x="8221568" y="5564772"/>
            <a:ext cx="4939614" cy="2469807"/>
          </a:xfrm>
          <a:prstGeom xmlns:a="http://schemas.openxmlformats.org/drawingml/2006/main" prst="rect">
            <a:avLst/>
          </a:prstGeom>
          <a:solidFill xmlns:a="http://schemas.openxmlformats.org/drawingml/2006/main">
            <a:srgbClr val="34695B">
              <a:alpha val="8000"/>
            </a:srgbClr>
          </a:solidFill>
          <a:ln xmlns:a="http://schemas.openxmlformats.org/drawingml/2006/main" w="9499">
            <a:noFill/>
            <a:prstDash val="solid"/>
          </a:ln>
        </p:spPr>
      </p:sp>
      <p:sp>
        <p:nvSpPr>
          <p:cNvPr id="15" name="Diagram rect">
            <a:extLst xmlns:a="http://schemas.openxmlformats.org/drawingml/2006/main">
              <a:ext uri="{FF2B5EF4-FFF2-40B4-BE49-F238E27FC236}">
                <a16:creationId xmlns:a16="http://schemas.microsoft.com/office/drawing/2014/main" id="{C1AA9234-EB5B-44A7-A3E6-51CB1DB093C3}"/>
              </a:ext>
            </a:extLst>
          </p:cNvPr>
          <p:cNvSpPr>
            <a:spLocks xmlns:a="http://schemas.openxmlformats.org/drawingml/2006/main" noGrp="1"/>
          </p:cNvSpPr>
          <p:nvPr/>
        </p:nvSpPr>
        <p:spPr>
          <a:xfrm xmlns:a="http://schemas.openxmlformats.org/drawingml/2006/main">
            <a:off x="8221568" y="3094965"/>
            <a:ext cx="4939614" cy="4939614"/>
          </a:xfrm>
          <a:prstGeom xmlns:a="http://schemas.openxmlformats.org/drawingml/2006/main" prst="rect">
            <a:avLst/>
          </a:prstGeom>
          <a:noFill xmlns:a="http://schemas.openxmlformats.org/drawingml/2006/main"/>
          <a:ln xmlns:a="http://schemas.openxmlformats.org/drawingml/2006/main" w="18999">
            <a:solidFill>
              <a:srgbClr val="C6CCC6"/>
            </a:solidFill>
            <a:prstDash val="solid"/>
          </a:ln>
        </p:spPr>
      </p:sp>
      <p:sp>
        <p:nvSpPr>
          <p:cNvPr id="16" name="Field grid">
            <a:extLst xmlns:a="http://schemas.openxmlformats.org/drawingml/2006/main">
              <a:ext uri="{FF2B5EF4-FFF2-40B4-BE49-F238E27FC236}">
                <a16:creationId xmlns:a16="http://schemas.microsoft.com/office/drawing/2014/main" id="{2518840E-CC8A-4712-8402-323C1B5895F1}"/>
              </a:ext>
            </a:extLst>
          </p:cNvPr>
          <p:cNvSpPr>
            <a:spLocks xmlns:a="http://schemas.openxmlformats.org/drawingml/2006/main" noGrp="1"/>
          </p:cNvSpPr>
          <p:nvPr/>
        </p:nvSpPr>
        <p:spPr>
          <a:xfrm xmlns:a="http://schemas.openxmlformats.org/drawingml/2006/main">
            <a:off x="852554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7" name="Field grid">
            <a:extLst xmlns:a="http://schemas.openxmlformats.org/drawingml/2006/main">
              <a:ext uri="{FF2B5EF4-FFF2-40B4-BE49-F238E27FC236}">
                <a16:creationId xmlns:a16="http://schemas.microsoft.com/office/drawing/2014/main" id="{0FA1AF00-B3F8-414B-BD7B-4FA78ADA598A}"/>
              </a:ext>
            </a:extLst>
          </p:cNvPr>
          <p:cNvSpPr>
            <a:spLocks xmlns:a="http://schemas.openxmlformats.org/drawingml/2006/main" noGrp="1"/>
          </p:cNvSpPr>
          <p:nvPr/>
        </p:nvSpPr>
        <p:spPr>
          <a:xfrm xmlns:a="http://schemas.openxmlformats.org/drawingml/2006/main">
            <a:off x="901950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8" name="Field grid">
            <a:extLst xmlns:a="http://schemas.openxmlformats.org/drawingml/2006/main">
              <a:ext uri="{FF2B5EF4-FFF2-40B4-BE49-F238E27FC236}">
                <a16:creationId xmlns:a16="http://schemas.microsoft.com/office/drawing/2014/main" id="{39081BA0-8902-4F0A-B9D8-B82BD46DE810}"/>
              </a:ext>
            </a:extLst>
          </p:cNvPr>
          <p:cNvSpPr>
            <a:spLocks xmlns:a="http://schemas.openxmlformats.org/drawingml/2006/main" noGrp="1"/>
          </p:cNvSpPr>
          <p:nvPr/>
        </p:nvSpPr>
        <p:spPr>
          <a:xfrm xmlns:a="http://schemas.openxmlformats.org/drawingml/2006/main">
            <a:off x="9513467"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19" name="Field grid">
            <a:extLst xmlns:a="http://schemas.openxmlformats.org/drawingml/2006/main">
              <a:ext uri="{FF2B5EF4-FFF2-40B4-BE49-F238E27FC236}">
                <a16:creationId xmlns:a16="http://schemas.microsoft.com/office/drawing/2014/main" id="{A2655699-70A8-4F77-8D5A-181B37368050}"/>
              </a:ext>
            </a:extLst>
          </p:cNvPr>
          <p:cNvSpPr>
            <a:spLocks xmlns:a="http://schemas.openxmlformats.org/drawingml/2006/main" noGrp="1"/>
          </p:cNvSpPr>
          <p:nvPr/>
        </p:nvSpPr>
        <p:spPr>
          <a:xfrm xmlns:a="http://schemas.openxmlformats.org/drawingml/2006/main">
            <a:off x="10007428"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0" name="Field grid">
            <a:extLst xmlns:a="http://schemas.openxmlformats.org/drawingml/2006/main">
              <a:ext uri="{FF2B5EF4-FFF2-40B4-BE49-F238E27FC236}">
                <a16:creationId xmlns:a16="http://schemas.microsoft.com/office/drawing/2014/main" id="{F9E80B77-6B27-43DC-B5CC-CF52B529A26D}"/>
              </a:ext>
            </a:extLst>
          </p:cNvPr>
          <p:cNvSpPr>
            <a:spLocks xmlns:a="http://schemas.openxmlformats.org/drawingml/2006/main" noGrp="1"/>
          </p:cNvSpPr>
          <p:nvPr/>
        </p:nvSpPr>
        <p:spPr>
          <a:xfrm xmlns:a="http://schemas.openxmlformats.org/drawingml/2006/main">
            <a:off x="10501390"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1" name="Field grid">
            <a:extLst xmlns:a="http://schemas.openxmlformats.org/drawingml/2006/main">
              <a:ext uri="{FF2B5EF4-FFF2-40B4-BE49-F238E27FC236}">
                <a16:creationId xmlns:a16="http://schemas.microsoft.com/office/drawing/2014/main" id="{29FCEB4E-DFEB-4A73-BD56-7F5A56C2763C}"/>
              </a:ext>
            </a:extLst>
          </p:cNvPr>
          <p:cNvSpPr>
            <a:spLocks xmlns:a="http://schemas.openxmlformats.org/drawingml/2006/main" noGrp="1"/>
          </p:cNvSpPr>
          <p:nvPr/>
        </p:nvSpPr>
        <p:spPr>
          <a:xfrm xmlns:a="http://schemas.openxmlformats.org/drawingml/2006/main">
            <a:off x="10995351"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2" name="Field grid">
            <a:extLst xmlns:a="http://schemas.openxmlformats.org/drawingml/2006/main">
              <a:ext uri="{FF2B5EF4-FFF2-40B4-BE49-F238E27FC236}">
                <a16:creationId xmlns:a16="http://schemas.microsoft.com/office/drawing/2014/main" id="{F6ACBA88-0D58-46C9-A9D6-BE7F63B18E85}"/>
              </a:ext>
            </a:extLst>
          </p:cNvPr>
          <p:cNvSpPr>
            <a:spLocks xmlns:a="http://schemas.openxmlformats.org/drawingml/2006/main" noGrp="1"/>
          </p:cNvSpPr>
          <p:nvPr/>
        </p:nvSpPr>
        <p:spPr>
          <a:xfrm xmlns:a="http://schemas.openxmlformats.org/drawingml/2006/main">
            <a:off x="11489312"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3" name="Field grid">
            <a:extLst xmlns:a="http://schemas.openxmlformats.org/drawingml/2006/main">
              <a:ext uri="{FF2B5EF4-FFF2-40B4-BE49-F238E27FC236}">
                <a16:creationId xmlns:a16="http://schemas.microsoft.com/office/drawing/2014/main" id="{3E92CF9B-A11D-41CE-AD4E-E2612DD158CC}"/>
              </a:ext>
            </a:extLst>
          </p:cNvPr>
          <p:cNvSpPr>
            <a:spLocks xmlns:a="http://schemas.openxmlformats.org/drawingml/2006/main" noGrp="1"/>
          </p:cNvSpPr>
          <p:nvPr/>
        </p:nvSpPr>
        <p:spPr>
          <a:xfrm xmlns:a="http://schemas.openxmlformats.org/drawingml/2006/main">
            <a:off x="11983274"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4" name="Field grid">
            <a:extLst xmlns:a="http://schemas.openxmlformats.org/drawingml/2006/main">
              <a:ext uri="{FF2B5EF4-FFF2-40B4-BE49-F238E27FC236}">
                <a16:creationId xmlns:a16="http://schemas.microsoft.com/office/drawing/2014/main" id="{4280259C-A0C2-4E11-8DBF-92AEAE986A84}"/>
              </a:ext>
            </a:extLst>
          </p:cNvPr>
          <p:cNvSpPr>
            <a:spLocks xmlns:a="http://schemas.openxmlformats.org/drawingml/2006/main" noGrp="1"/>
          </p:cNvSpPr>
          <p:nvPr/>
        </p:nvSpPr>
        <p:spPr>
          <a:xfrm xmlns:a="http://schemas.openxmlformats.org/drawingml/2006/main">
            <a:off x="12477235"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5" name="Field grid">
            <a:extLst xmlns:a="http://schemas.openxmlformats.org/drawingml/2006/main">
              <a:ext uri="{FF2B5EF4-FFF2-40B4-BE49-F238E27FC236}">
                <a16:creationId xmlns:a16="http://schemas.microsoft.com/office/drawing/2014/main" id="{4F64CA8C-B6C4-4D62-9BB0-A924E641EFCD}"/>
              </a:ext>
            </a:extLst>
          </p:cNvPr>
          <p:cNvSpPr>
            <a:spLocks xmlns:a="http://schemas.openxmlformats.org/drawingml/2006/main" noGrp="1"/>
          </p:cNvSpPr>
          <p:nvPr/>
        </p:nvSpPr>
        <p:spPr>
          <a:xfrm xmlns:a="http://schemas.openxmlformats.org/drawingml/2006/main">
            <a:off x="12971196" y="3094965"/>
            <a:ext cx="9525" cy="4939614"/>
          </a:xfrm>
          <a:custGeom xmlns:a="http://schemas.openxmlformats.org/drawingml/2006/main">
            <a:pathLst>
              <a:path w="9525" h="4939614">
                <a:moveTo>
                  <a:pt x="0" y="0"/>
                </a:moveTo>
                <a:lnTo>
                  <a:pt x="0" y="4939614"/>
                </a:lnTo>
              </a:path>
            </a:pathLst>
          </a:custGeom>
          <a:noFill xmlns:a="http://schemas.openxmlformats.org/drawingml/2006/main"/>
          <a:ln xmlns:a="http://schemas.openxmlformats.org/drawingml/2006/main" w="5700">
            <a:solidFill>
              <a:srgbClr val="C6CCC6">
                <a:alpha val="45000"/>
              </a:srgbClr>
            </a:solidFill>
            <a:prstDash val="solid"/>
          </a:ln>
        </p:spPr>
      </p:sp>
      <p:sp>
        <p:nvSpPr>
          <p:cNvPr id="26" name="Field grid">
            <a:extLst xmlns:a="http://schemas.openxmlformats.org/drawingml/2006/main">
              <a:ext uri="{FF2B5EF4-FFF2-40B4-BE49-F238E27FC236}">
                <a16:creationId xmlns:a16="http://schemas.microsoft.com/office/drawing/2014/main" id="{9145DA19-4A4A-4A8B-B67E-6DB3B6EFF4F3}"/>
              </a:ext>
            </a:extLst>
          </p:cNvPr>
          <p:cNvSpPr>
            <a:spLocks xmlns:a="http://schemas.openxmlformats.org/drawingml/2006/main" noGrp="1"/>
          </p:cNvSpPr>
          <p:nvPr/>
        </p:nvSpPr>
        <p:spPr>
          <a:xfrm xmlns:a="http://schemas.openxmlformats.org/drawingml/2006/main">
            <a:off x="8221568" y="318045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7" name="Field grid">
            <a:extLst xmlns:a="http://schemas.openxmlformats.org/drawingml/2006/main">
              <a:ext uri="{FF2B5EF4-FFF2-40B4-BE49-F238E27FC236}">
                <a16:creationId xmlns:a16="http://schemas.microsoft.com/office/drawing/2014/main" id="{C42DF062-FDD7-44A8-AABE-EC7BF765E1E4}"/>
              </a:ext>
            </a:extLst>
          </p:cNvPr>
          <p:cNvSpPr>
            <a:spLocks xmlns:a="http://schemas.openxmlformats.org/drawingml/2006/main" noGrp="1"/>
          </p:cNvSpPr>
          <p:nvPr/>
        </p:nvSpPr>
        <p:spPr>
          <a:xfrm xmlns:a="http://schemas.openxmlformats.org/drawingml/2006/main">
            <a:off x="8221568" y="3674420"/>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8" name="Field grid">
            <a:extLst xmlns:a="http://schemas.openxmlformats.org/drawingml/2006/main">
              <a:ext uri="{FF2B5EF4-FFF2-40B4-BE49-F238E27FC236}">
                <a16:creationId xmlns:a16="http://schemas.microsoft.com/office/drawing/2014/main" id="{A84C9C03-85CE-4D9F-81C6-953CFBAF41AE}"/>
              </a:ext>
            </a:extLst>
          </p:cNvPr>
          <p:cNvSpPr>
            <a:spLocks xmlns:a="http://schemas.openxmlformats.org/drawingml/2006/main" noGrp="1"/>
          </p:cNvSpPr>
          <p:nvPr/>
        </p:nvSpPr>
        <p:spPr>
          <a:xfrm xmlns:a="http://schemas.openxmlformats.org/drawingml/2006/main">
            <a:off x="8221568" y="416838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29" name="Field grid">
            <a:extLst xmlns:a="http://schemas.openxmlformats.org/drawingml/2006/main">
              <a:ext uri="{FF2B5EF4-FFF2-40B4-BE49-F238E27FC236}">
                <a16:creationId xmlns:a16="http://schemas.microsoft.com/office/drawing/2014/main" id="{A640F4B2-BB5F-427E-B242-4AAB6BFFF8FC}"/>
              </a:ext>
            </a:extLst>
          </p:cNvPr>
          <p:cNvSpPr>
            <a:spLocks xmlns:a="http://schemas.openxmlformats.org/drawingml/2006/main" noGrp="1"/>
          </p:cNvSpPr>
          <p:nvPr/>
        </p:nvSpPr>
        <p:spPr>
          <a:xfrm xmlns:a="http://schemas.openxmlformats.org/drawingml/2006/main">
            <a:off x="8221568" y="4662343"/>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0" name="Field grid">
            <a:extLst xmlns:a="http://schemas.openxmlformats.org/drawingml/2006/main">
              <a:ext uri="{FF2B5EF4-FFF2-40B4-BE49-F238E27FC236}">
                <a16:creationId xmlns:a16="http://schemas.microsoft.com/office/drawing/2014/main" id="{61720E60-F3B5-4047-AEBF-AD394123787A}"/>
              </a:ext>
            </a:extLst>
          </p:cNvPr>
          <p:cNvSpPr>
            <a:spLocks xmlns:a="http://schemas.openxmlformats.org/drawingml/2006/main" noGrp="1"/>
          </p:cNvSpPr>
          <p:nvPr/>
        </p:nvSpPr>
        <p:spPr>
          <a:xfrm xmlns:a="http://schemas.openxmlformats.org/drawingml/2006/main">
            <a:off x="8221568" y="5156304"/>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1" name="Field grid">
            <a:extLst xmlns:a="http://schemas.openxmlformats.org/drawingml/2006/main">
              <a:ext uri="{FF2B5EF4-FFF2-40B4-BE49-F238E27FC236}">
                <a16:creationId xmlns:a16="http://schemas.microsoft.com/office/drawing/2014/main" id="{570075F6-C6B6-4634-8E5B-5BF215DDC791}"/>
              </a:ext>
            </a:extLst>
          </p:cNvPr>
          <p:cNvSpPr>
            <a:spLocks xmlns:a="http://schemas.openxmlformats.org/drawingml/2006/main" noGrp="1"/>
          </p:cNvSpPr>
          <p:nvPr/>
        </p:nvSpPr>
        <p:spPr>
          <a:xfrm xmlns:a="http://schemas.openxmlformats.org/drawingml/2006/main">
            <a:off x="8221568" y="5650265"/>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2" name="Field grid">
            <a:extLst xmlns:a="http://schemas.openxmlformats.org/drawingml/2006/main">
              <a:ext uri="{FF2B5EF4-FFF2-40B4-BE49-F238E27FC236}">
                <a16:creationId xmlns:a16="http://schemas.microsoft.com/office/drawing/2014/main" id="{E71D6433-DC05-4589-BB6C-663A2295542F}"/>
              </a:ext>
            </a:extLst>
          </p:cNvPr>
          <p:cNvSpPr>
            <a:spLocks xmlns:a="http://schemas.openxmlformats.org/drawingml/2006/main" noGrp="1"/>
          </p:cNvSpPr>
          <p:nvPr/>
        </p:nvSpPr>
        <p:spPr>
          <a:xfrm xmlns:a="http://schemas.openxmlformats.org/drawingml/2006/main">
            <a:off x="8221568" y="6144227"/>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3" name="Field grid">
            <a:extLst xmlns:a="http://schemas.openxmlformats.org/drawingml/2006/main">
              <a:ext uri="{FF2B5EF4-FFF2-40B4-BE49-F238E27FC236}">
                <a16:creationId xmlns:a16="http://schemas.microsoft.com/office/drawing/2014/main" id="{42D46CC5-A3BA-4AB7-A5AC-12131F291895}"/>
              </a:ext>
            </a:extLst>
          </p:cNvPr>
          <p:cNvSpPr>
            <a:spLocks xmlns:a="http://schemas.openxmlformats.org/drawingml/2006/main" noGrp="1"/>
          </p:cNvSpPr>
          <p:nvPr/>
        </p:nvSpPr>
        <p:spPr>
          <a:xfrm xmlns:a="http://schemas.openxmlformats.org/drawingml/2006/main">
            <a:off x="8221568" y="6638188"/>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4" name="Field grid">
            <a:extLst xmlns:a="http://schemas.openxmlformats.org/drawingml/2006/main">
              <a:ext uri="{FF2B5EF4-FFF2-40B4-BE49-F238E27FC236}">
                <a16:creationId xmlns:a16="http://schemas.microsoft.com/office/drawing/2014/main" id="{700FF34B-B001-4A51-B63E-0168E8BDA5A1}"/>
              </a:ext>
            </a:extLst>
          </p:cNvPr>
          <p:cNvSpPr>
            <a:spLocks xmlns:a="http://schemas.openxmlformats.org/drawingml/2006/main" noGrp="1"/>
          </p:cNvSpPr>
          <p:nvPr/>
        </p:nvSpPr>
        <p:spPr>
          <a:xfrm xmlns:a="http://schemas.openxmlformats.org/drawingml/2006/main">
            <a:off x="8221568" y="7132149"/>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5" name="Field grid">
            <a:extLst xmlns:a="http://schemas.openxmlformats.org/drawingml/2006/main">
              <a:ext uri="{FF2B5EF4-FFF2-40B4-BE49-F238E27FC236}">
                <a16:creationId xmlns:a16="http://schemas.microsoft.com/office/drawing/2014/main" id="{6147CE07-E90D-46EC-8D54-483291C8074B}"/>
              </a:ext>
            </a:extLst>
          </p:cNvPr>
          <p:cNvSpPr>
            <a:spLocks xmlns:a="http://schemas.openxmlformats.org/drawingml/2006/main" noGrp="1"/>
          </p:cNvSpPr>
          <p:nvPr/>
        </p:nvSpPr>
        <p:spPr>
          <a:xfrm xmlns:a="http://schemas.openxmlformats.org/drawingml/2006/main">
            <a:off x="8221568" y="7626111"/>
            <a:ext cx="4939614" cy="9525"/>
          </a:xfrm>
          <a:custGeom xmlns:a="http://schemas.openxmlformats.org/drawingml/2006/main">
            <a:pathLst>
              <a:path w="4939614" h="9525">
                <a:moveTo>
                  <a:pt x="0" y="0"/>
                </a:moveTo>
                <a:lnTo>
                  <a:pt x="4939614" y="0"/>
                </a:lnTo>
              </a:path>
            </a:pathLst>
          </a:custGeom>
          <a:noFill xmlns:a="http://schemas.openxmlformats.org/drawingml/2006/main"/>
          <a:ln xmlns:a="http://schemas.openxmlformats.org/drawingml/2006/main" w="5700">
            <a:solidFill>
              <a:srgbClr val="C6CCC6">
                <a:alpha val="45000"/>
              </a:srgbClr>
            </a:solidFill>
            <a:prstDash val="solid"/>
          </a:ln>
        </p:spPr>
      </p:sp>
      <p:sp>
        <p:nvSpPr>
          <p:cNvPr id="36" name="Diagram path">
            <a:extLst xmlns:a="http://schemas.openxmlformats.org/drawingml/2006/main">
              <a:ext uri="{FF2B5EF4-FFF2-40B4-BE49-F238E27FC236}">
                <a16:creationId xmlns:a16="http://schemas.microsoft.com/office/drawing/2014/main" id="{B767A744-A107-43F1-ABE1-AB8F7A8B4D59}"/>
              </a:ext>
            </a:extLst>
          </p:cNvPr>
          <p:cNvSpPr>
            <a:spLocks xmlns:a="http://schemas.openxmlformats.org/drawingml/2006/main" noGrp="1"/>
          </p:cNvSpPr>
          <p:nvPr/>
        </p:nvSpPr>
        <p:spPr>
          <a:xfrm xmlns:a="http://schemas.openxmlformats.org/drawingml/2006/main">
            <a:off x="8221568" y="5564772"/>
            <a:ext cx="4939614" cy="9525"/>
          </a:xfrm>
          <a:custGeom xmlns:a="http://schemas.openxmlformats.org/drawingml/2006/main">
            <a:pathLst>
              <a:path w="4939614" h="9525">
                <a:moveTo>
                  <a:pt x="0" y="0"/>
                </a:moveTo>
                <a:lnTo>
                  <a:pt x="28389" y="0"/>
                </a:lnTo>
                <a:lnTo>
                  <a:pt x="56777" y="0"/>
                </a:lnTo>
                <a:lnTo>
                  <a:pt x="85166" y="0"/>
                </a:lnTo>
                <a:lnTo>
                  <a:pt x="113554" y="0"/>
                </a:lnTo>
                <a:lnTo>
                  <a:pt x="141943" y="0"/>
                </a:lnTo>
                <a:lnTo>
                  <a:pt x="170331" y="0"/>
                </a:lnTo>
                <a:lnTo>
                  <a:pt x="198720" y="0"/>
                </a:lnTo>
                <a:lnTo>
                  <a:pt x="227109" y="0"/>
                </a:lnTo>
                <a:lnTo>
                  <a:pt x="255497" y="0"/>
                </a:lnTo>
                <a:lnTo>
                  <a:pt x="283886" y="0"/>
                </a:lnTo>
                <a:lnTo>
                  <a:pt x="312274" y="0"/>
                </a:lnTo>
                <a:lnTo>
                  <a:pt x="340663" y="0"/>
                </a:lnTo>
                <a:lnTo>
                  <a:pt x="369052" y="0"/>
                </a:lnTo>
                <a:lnTo>
                  <a:pt x="397440" y="0"/>
                </a:lnTo>
                <a:lnTo>
                  <a:pt x="425829" y="0"/>
                </a:lnTo>
                <a:lnTo>
                  <a:pt x="454217" y="0"/>
                </a:lnTo>
                <a:lnTo>
                  <a:pt x="482606" y="0"/>
                </a:lnTo>
                <a:lnTo>
                  <a:pt x="510994" y="0"/>
                </a:lnTo>
                <a:lnTo>
                  <a:pt x="539383" y="0"/>
                </a:lnTo>
                <a:lnTo>
                  <a:pt x="567772" y="0"/>
                </a:lnTo>
                <a:lnTo>
                  <a:pt x="596160" y="0"/>
                </a:lnTo>
                <a:lnTo>
                  <a:pt x="624549" y="0"/>
                </a:lnTo>
                <a:lnTo>
                  <a:pt x="652937" y="0"/>
                </a:lnTo>
                <a:lnTo>
                  <a:pt x="681326" y="0"/>
                </a:lnTo>
                <a:lnTo>
                  <a:pt x="709715" y="0"/>
                </a:lnTo>
                <a:lnTo>
                  <a:pt x="738103" y="0"/>
                </a:lnTo>
                <a:lnTo>
                  <a:pt x="766492" y="0"/>
                </a:lnTo>
                <a:lnTo>
                  <a:pt x="794880" y="0"/>
                </a:lnTo>
                <a:lnTo>
                  <a:pt x="823269" y="0"/>
                </a:lnTo>
                <a:lnTo>
                  <a:pt x="851658" y="0"/>
                </a:lnTo>
                <a:lnTo>
                  <a:pt x="880046" y="0"/>
                </a:lnTo>
                <a:lnTo>
                  <a:pt x="908435" y="0"/>
                </a:lnTo>
                <a:lnTo>
                  <a:pt x="936823" y="0"/>
                </a:lnTo>
                <a:lnTo>
                  <a:pt x="965212" y="0"/>
                </a:lnTo>
                <a:lnTo>
                  <a:pt x="993601" y="0"/>
                </a:lnTo>
                <a:lnTo>
                  <a:pt x="1021989" y="0"/>
                </a:lnTo>
                <a:lnTo>
                  <a:pt x="1050378" y="0"/>
                </a:lnTo>
                <a:lnTo>
                  <a:pt x="1078766" y="0"/>
                </a:lnTo>
                <a:lnTo>
                  <a:pt x="1107155" y="0"/>
                </a:lnTo>
                <a:lnTo>
                  <a:pt x="1135543" y="0"/>
                </a:lnTo>
                <a:lnTo>
                  <a:pt x="1163932" y="0"/>
                </a:lnTo>
                <a:lnTo>
                  <a:pt x="1192321" y="0"/>
                </a:lnTo>
                <a:lnTo>
                  <a:pt x="1220709" y="0"/>
                </a:lnTo>
                <a:lnTo>
                  <a:pt x="1249098" y="0"/>
                </a:lnTo>
                <a:lnTo>
                  <a:pt x="1277486" y="0"/>
                </a:lnTo>
                <a:lnTo>
                  <a:pt x="1305875" y="0"/>
                </a:lnTo>
                <a:lnTo>
                  <a:pt x="1334263" y="0"/>
                </a:lnTo>
                <a:lnTo>
                  <a:pt x="1362652" y="0"/>
                </a:lnTo>
                <a:lnTo>
                  <a:pt x="1391040" y="0"/>
                </a:lnTo>
                <a:lnTo>
                  <a:pt x="1419429" y="0"/>
                </a:lnTo>
                <a:lnTo>
                  <a:pt x="1447818" y="0"/>
                </a:lnTo>
                <a:lnTo>
                  <a:pt x="1476206" y="0"/>
                </a:lnTo>
                <a:lnTo>
                  <a:pt x="1504595" y="0"/>
                </a:lnTo>
                <a:lnTo>
                  <a:pt x="1532983" y="0"/>
                </a:lnTo>
                <a:lnTo>
                  <a:pt x="1561372" y="0"/>
                </a:lnTo>
                <a:lnTo>
                  <a:pt x="1589761" y="0"/>
                </a:lnTo>
                <a:lnTo>
                  <a:pt x="1618149" y="0"/>
                </a:lnTo>
                <a:lnTo>
                  <a:pt x="1646538" y="0"/>
                </a:lnTo>
                <a:lnTo>
                  <a:pt x="1674926" y="0"/>
                </a:lnTo>
                <a:lnTo>
                  <a:pt x="1703315" y="0"/>
                </a:lnTo>
                <a:lnTo>
                  <a:pt x="1731703" y="0"/>
                </a:lnTo>
                <a:lnTo>
                  <a:pt x="1760092" y="0"/>
                </a:lnTo>
                <a:lnTo>
                  <a:pt x="1788481" y="0"/>
                </a:lnTo>
                <a:lnTo>
                  <a:pt x="1816869" y="0"/>
                </a:lnTo>
                <a:lnTo>
                  <a:pt x="1845258" y="0"/>
                </a:lnTo>
                <a:lnTo>
                  <a:pt x="1873647" y="0"/>
                </a:lnTo>
                <a:lnTo>
                  <a:pt x="1902035" y="0"/>
                </a:lnTo>
                <a:lnTo>
                  <a:pt x="1930424" y="0"/>
                </a:lnTo>
                <a:lnTo>
                  <a:pt x="1958812" y="0"/>
                </a:lnTo>
                <a:lnTo>
                  <a:pt x="1987201" y="0"/>
                </a:lnTo>
                <a:lnTo>
                  <a:pt x="2015589" y="0"/>
                </a:lnTo>
                <a:lnTo>
                  <a:pt x="2043978" y="0"/>
                </a:lnTo>
                <a:lnTo>
                  <a:pt x="2072367" y="0"/>
                </a:lnTo>
                <a:lnTo>
                  <a:pt x="2100755" y="0"/>
                </a:lnTo>
                <a:lnTo>
                  <a:pt x="2129144" y="0"/>
                </a:lnTo>
                <a:lnTo>
                  <a:pt x="2157532" y="0"/>
                </a:lnTo>
                <a:lnTo>
                  <a:pt x="2185921" y="0"/>
                </a:lnTo>
                <a:lnTo>
                  <a:pt x="2214310" y="0"/>
                </a:lnTo>
                <a:lnTo>
                  <a:pt x="2242698" y="0"/>
                </a:lnTo>
                <a:lnTo>
                  <a:pt x="2271087" y="0"/>
                </a:lnTo>
                <a:lnTo>
                  <a:pt x="2299475" y="0"/>
                </a:lnTo>
                <a:lnTo>
                  <a:pt x="2327864" y="0"/>
                </a:lnTo>
                <a:lnTo>
                  <a:pt x="2356252" y="0"/>
                </a:lnTo>
                <a:lnTo>
                  <a:pt x="2384641" y="0"/>
                </a:lnTo>
                <a:lnTo>
                  <a:pt x="2413030" y="0"/>
                </a:lnTo>
                <a:lnTo>
                  <a:pt x="2441418" y="0"/>
                </a:lnTo>
                <a:lnTo>
                  <a:pt x="2469807" y="0"/>
                </a:lnTo>
                <a:lnTo>
                  <a:pt x="2498195" y="0"/>
                </a:lnTo>
                <a:lnTo>
                  <a:pt x="2526584" y="0"/>
                </a:lnTo>
                <a:lnTo>
                  <a:pt x="2554972" y="0"/>
                </a:lnTo>
                <a:lnTo>
                  <a:pt x="2583361" y="0"/>
                </a:lnTo>
                <a:lnTo>
                  <a:pt x="2611750" y="0"/>
                </a:lnTo>
                <a:lnTo>
                  <a:pt x="2640138" y="0"/>
                </a:lnTo>
                <a:lnTo>
                  <a:pt x="2668527" y="0"/>
                </a:lnTo>
                <a:lnTo>
                  <a:pt x="2696915" y="0"/>
                </a:lnTo>
                <a:lnTo>
                  <a:pt x="2725304" y="0"/>
                </a:lnTo>
                <a:lnTo>
                  <a:pt x="2753693" y="0"/>
                </a:lnTo>
                <a:lnTo>
                  <a:pt x="2782081" y="0"/>
                </a:lnTo>
                <a:lnTo>
                  <a:pt x="2810470" y="0"/>
                </a:lnTo>
                <a:lnTo>
                  <a:pt x="2838858" y="0"/>
                </a:lnTo>
                <a:lnTo>
                  <a:pt x="2867247" y="0"/>
                </a:lnTo>
                <a:lnTo>
                  <a:pt x="2895635" y="0"/>
                </a:lnTo>
                <a:lnTo>
                  <a:pt x="2924024" y="0"/>
                </a:lnTo>
                <a:lnTo>
                  <a:pt x="2952413" y="0"/>
                </a:lnTo>
                <a:lnTo>
                  <a:pt x="2980801" y="0"/>
                </a:lnTo>
                <a:lnTo>
                  <a:pt x="3009190" y="0"/>
                </a:lnTo>
                <a:lnTo>
                  <a:pt x="3037578" y="0"/>
                </a:lnTo>
                <a:lnTo>
                  <a:pt x="3065967" y="0"/>
                </a:lnTo>
                <a:lnTo>
                  <a:pt x="3094356" y="0"/>
                </a:lnTo>
                <a:lnTo>
                  <a:pt x="3122744" y="0"/>
                </a:lnTo>
                <a:lnTo>
                  <a:pt x="3151133" y="0"/>
                </a:lnTo>
                <a:lnTo>
                  <a:pt x="3179521" y="0"/>
                </a:lnTo>
                <a:lnTo>
                  <a:pt x="3207910" y="0"/>
                </a:lnTo>
                <a:lnTo>
                  <a:pt x="3236299" y="0"/>
                </a:lnTo>
                <a:lnTo>
                  <a:pt x="3264687" y="0"/>
                </a:lnTo>
                <a:lnTo>
                  <a:pt x="3293076" y="0"/>
                </a:lnTo>
                <a:lnTo>
                  <a:pt x="3321464" y="0"/>
                </a:lnTo>
                <a:lnTo>
                  <a:pt x="3349853" y="0"/>
                </a:lnTo>
                <a:lnTo>
                  <a:pt x="3378241" y="0"/>
                </a:lnTo>
                <a:lnTo>
                  <a:pt x="3406630" y="0"/>
                </a:lnTo>
                <a:lnTo>
                  <a:pt x="3435019" y="0"/>
                </a:lnTo>
                <a:lnTo>
                  <a:pt x="3463407" y="0"/>
                </a:lnTo>
                <a:lnTo>
                  <a:pt x="3491796" y="0"/>
                </a:lnTo>
                <a:lnTo>
                  <a:pt x="3520184" y="0"/>
                </a:lnTo>
                <a:lnTo>
                  <a:pt x="3548573" y="0"/>
                </a:lnTo>
                <a:lnTo>
                  <a:pt x="3576962" y="0"/>
                </a:lnTo>
                <a:lnTo>
                  <a:pt x="3605350" y="0"/>
                </a:lnTo>
                <a:lnTo>
                  <a:pt x="3633739" y="0"/>
                </a:lnTo>
                <a:lnTo>
                  <a:pt x="3662127" y="0"/>
                </a:lnTo>
                <a:lnTo>
                  <a:pt x="3690516" y="0"/>
                </a:lnTo>
                <a:lnTo>
                  <a:pt x="3718905" y="0"/>
                </a:lnTo>
                <a:lnTo>
                  <a:pt x="3747293" y="0"/>
                </a:lnTo>
                <a:lnTo>
                  <a:pt x="3775681" y="0"/>
                </a:lnTo>
                <a:lnTo>
                  <a:pt x="3804070" y="0"/>
                </a:lnTo>
                <a:lnTo>
                  <a:pt x="3832459" y="0"/>
                </a:lnTo>
                <a:lnTo>
                  <a:pt x="3860847" y="0"/>
                </a:lnTo>
                <a:lnTo>
                  <a:pt x="3889236" y="0"/>
                </a:lnTo>
                <a:lnTo>
                  <a:pt x="3917624" y="0"/>
                </a:lnTo>
                <a:lnTo>
                  <a:pt x="3946013" y="0"/>
                </a:lnTo>
                <a:lnTo>
                  <a:pt x="3974402" y="0"/>
                </a:lnTo>
                <a:lnTo>
                  <a:pt x="4002790" y="0"/>
                </a:lnTo>
                <a:lnTo>
                  <a:pt x="4031179" y="0"/>
                </a:lnTo>
                <a:lnTo>
                  <a:pt x="4059567" y="0"/>
                </a:lnTo>
                <a:lnTo>
                  <a:pt x="4087956" y="0"/>
                </a:lnTo>
                <a:lnTo>
                  <a:pt x="4116345" y="0"/>
                </a:lnTo>
                <a:lnTo>
                  <a:pt x="4144733" y="0"/>
                </a:lnTo>
                <a:lnTo>
                  <a:pt x="4173122" y="0"/>
                </a:lnTo>
                <a:lnTo>
                  <a:pt x="4201510" y="0"/>
                </a:lnTo>
                <a:lnTo>
                  <a:pt x="4229899" y="0"/>
                </a:lnTo>
                <a:lnTo>
                  <a:pt x="4258288" y="0"/>
                </a:lnTo>
                <a:lnTo>
                  <a:pt x="4286676" y="0"/>
                </a:lnTo>
                <a:lnTo>
                  <a:pt x="4315065" y="0"/>
                </a:lnTo>
                <a:lnTo>
                  <a:pt x="4343453" y="0"/>
                </a:lnTo>
                <a:lnTo>
                  <a:pt x="4371842" y="0"/>
                </a:lnTo>
                <a:lnTo>
                  <a:pt x="4400230" y="0"/>
                </a:lnTo>
                <a:lnTo>
                  <a:pt x="4428619" y="0"/>
                </a:lnTo>
                <a:lnTo>
                  <a:pt x="4457008" y="0"/>
                </a:lnTo>
                <a:lnTo>
                  <a:pt x="4485396" y="0"/>
                </a:lnTo>
                <a:lnTo>
                  <a:pt x="4513785" y="0"/>
                </a:lnTo>
                <a:lnTo>
                  <a:pt x="4542173" y="0"/>
                </a:lnTo>
                <a:lnTo>
                  <a:pt x="4570562" y="0"/>
                </a:lnTo>
                <a:lnTo>
                  <a:pt x="4598951" y="0"/>
                </a:lnTo>
                <a:lnTo>
                  <a:pt x="4627339" y="0"/>
                </a:lnTo>
                <a:lnTo>
                  <a:pt x="4655728" y="0"/>
                </a:lnTo>
                <a:lnTo>
                  <a:pt x="4684116" y="0"/>
                </a:lnTo>
                <a:lnTo>
                  <a:pt x="4712505" y="0"/>
                </a:lnTo>
                <a:lnTo>
                  <a:pt x="4740893" y="0"/>
                </a:lnTo>
                <a:lnTo>
                  <a:pt x="4769282" y="0"/>
                </a:lnTo>
                <a:lnTo>
                  <a:pt x="4797671" y="0"/>
                </a:lnTo>
                <a:lnTo>
                  <a:pt x="4826060" y="0"/>
                </a:lnTo>
                <a:lnTo>
                  <a:pt x="4854448" y="0"/>
                </a:lnTo>
                <a:lnTo>
                  <a:pt x="4882837" y="0"/>
                </a:lnTo>
                <a:lnTo>
                  <a:pt x="4911225" y="0"/>
                </a:lnTo>
                <a:lnTo>
                  <a:pt x="4939614" y="0"/>
                </a:lnTo>
              </a:path>
            </a:pathLst>
          </a:custGeom>
          <a:solidFill xmlns:a="http://schemas.openxmlformats.org/drawingml/2006/main">
            <a:srgbClr val="000000"/>
          </a:solidFill>
          <a:ln xmlns:a="http://schemas.openxmlformats.org/drawingml/2006/main" w="14249">
            <a:solidFill>
              <a:srgbClr val="75827C"/>
            </a:solidFill>
            <a:prstDash val="dash"/>
          </a:ln>
        </p:spPr>
      </p:sp>
      <p:sp>
        <p:nvSpPr>
          <p:cNvPr id="37" name="Opponent half">
            <a:extLst xmlns:a="http://schemas.openxmlformats.org/drawingml/2006/main">
              <a:ext uri="{FF2B5EF4-FFF2-40B4-BE49-F238E27FC236}">
                <a16:creationId xmlns:a16="http://schemas.microsoft.com/office/drawing/2014/main" id="{657A66D5-338B-4DEE-9399-192F61324E48}"/>
              </a:ext>
            </a:extLst>
          </p:cNvPr>
          <p:cNvSpPr>
            <a:spLocks xmlns:a="http://schemas.openxmlformats.org/drawingml/2006/main" noGrp="1"/>
          </p:cNvSpPr>
          <p:nvPr/>
        </p:nvSpPr>
        <p:spPr>
          <a:xfrm xmlns:a="http://schemas.openxmlformats.org/drawingml/2006/main">
            <a:off x="8221568" y="2590912"/>
            <a:ext cx="1625933"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Opponent half</a:t>
            </a:r>
          </a:p>
        </p:txBody>
      </p:sp>
      <p:sp>
        <p:nvSpPr>
          <p:cNvPr id="38" name="Our half">
            <a:extLst xmlns:a="http://schemas.openxmlformats.org/drawingml/2006/main">
              <a:ext uri="{FF2B5EF4-FFF2-40B4-BE49-F238E27FC236}">
                <a16:creationId xmlns:a16="http://schemas.microsoft.com/office/drawing/2014/main" id="{71B4F069-422E-4C74-B223-5EBBD59E63CA}"/>
              </a:ext>
            </a:extLst>
          </p:cNvPr>
          <p:cNvSpPr>
            <a:spLocks xmlns:a="http://schemas.openxmlformats.org/drawingml/2006/main" noGrp="1"/>
          </p:cNvSpPr>
          <p:nvPr/>
        </p:nvSpPr>
        <p:spPr>
          <a:xfrm xmlns:a="http://schemas.openxmlformats.org/drawingml/2006/main">
            <a:off x="8221568" y="8233471"/>
            <a:ext cx="978720" cy="3324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44"/>
              </a:lnSpc>
              <a:spcBef>
                <a:spcPts val="0"/>
              </a:spcBef>
              <a:spcAft>
                <a:spcPts val="0"/>
              </a:spcAft>
              <a:buNone/>
              <a:defRPr sz="1870" b="0">
                <a:solidFill>
                  <a:srgbClr val="75827C"/>
                </a:solidFill>
                <a:latin typeface="Arial"/>
                <a:ea typeface="Arial"/>
                <a:cs typeface="Arial"/>
              </a:defRPr>
            </a:pPr>
            <a:r>
              <a:rPr sz="1870" b="0">
                <a:solidFill>
                  <a:srgbClr val="75827C"/>
                </a:solidFill>
                <a:latin typeface="Arial"/>
                <a:ea typeface="Arial"/>
                <a:cs typeface="Arial"/>
              </a:rPr>
              <a:t>Our half</a:t>
            </a:r>
          </a:p>
        </p:txBody>
      </p:sp>
      <p:sp>
        <p:nvSpPr>
          <p:cNvPr id="39" name="Diagram rect">
            <a:extLst xmlns:a="http://schemas.openxmlformats.org/drawingml/2006/main">
              <a:ext uri="{FF2B5EF4-FFF2-40B4-BE49-F238E27FC236}">
                <a16:creationId xmlns:a16="http://schemas.microsoft.com/office/drawing/2014/main" id="{6EDA962D-C0AE-45FF-8DED-C9A96F950161}"/>
              </a:ext>
            </a:extLst>
          </p:cNvPr>
          <p:cNvSpPr>
            <a:spLocks xmlns:a="http://schemas.openxmlformats.org/drawingml/2006/main" noGrp="1"/>
          </p:cNvSpPr>
          <p:nvPr/>
        </p:nvSpPr>
        <p:spPr>
          <a:xfrm xmlns:a="http://schemas.openxmlformats.org/drawingml/2006/main">
            <a:off x="9123998" y="3873904"/>
            <a:ext cx="132990" cy="132990"/>
          </a:xfrm>
          <a:prstGeom xmlns:a="http://schemas.openxmlformats.org/drawingml/2006/main" prst="rect">
            <a:avLst/>
          </a:prstGeom>
          <a:solidFill xmlns:a="http://schemas.openxmlformats.org/drawingml/2006/main">
            <a:srgbClr val="9CAAA0"/>
          </a:solidFill>
          <a:ln xmlns:a="http://schemas.openxmlformats.org/drawingml/2006/main" w="9499">
            <a:noFill/>
            <a:prstDash val="solid"/>
          </a:ln>
        </p:spPr>
      </p:sp>
      <p:sp>
        <p:nvSpPr>
          <p:cNvPr id="40" name="Diagram rect">
            <a:extLst xmlns:a="http://schemas.openxmlformats.org/drawingml/2006/main">
              <a:ext uri="{FF2B5EF4-FFF2-40B4-BE49-F238E27FC236}">
                <a16:creationId xmlns:a16="http://schemas.microsoft.com/office/drawing/2014/main" id="{0ED28FA9-CE91-43F0-AD67-F4C4C74DFC99}"/>
              </a:ext>
            </a:extLst>
          </p:cNvPr>
          <p:cNvSpPr>
            <a:spLocks xmlns:a="http://schemas.openxmlformats.org/drawingml/2006/main" noGrp="1"/>
          </p:cNvSpPr>
          <p:nvPr/>
        </p:nvSpPr>
        <p:spPr>
          <a:xfrm xmlns:a="http://schemas.openxmlformats.org/drawingml/2006/main">
            <a:off x="9370978" y="3987896"/>
            <a:ext cx="132990" cy="132990"/>
          </a:xfrm>
          <a:prstGeom xmlns:a="http://schemas.openxmlformats.org/drawingml/2006/main" prst="rect">
            <a:avLst/>
          </a:prstGeom>
          <a:solidFill xmlns:a="http://schemas.openxmlformats.org/drawingml/2006/main">
            <a:srgbClr val="9CAAA0"/>
          </a:solidFill>
          <a:ln xmlns:a="http://schemas.openxmlformats.org/drawingml/2006/main" w="9499">
            <a:noFill/>
            <a:prstDash val="solid"/>
          </a:ln>
        </p:spPr>
      </p:sp>
      <p:sp>
        <p:nvSpPr>
          <p:cNvPr id="41" name="Diagram rect">
            <a:extLst xmlns:a="http://schemas.openxmlformats.org/drawingml/2006/main">
              <a:ext uri="{FF2B5EF4-FFF2-40B4-BE49-F238E27FC236}">
                <a16:creationId xmlns:a16="http://schemas.microsoft.com/office/drawing/2014/main" id="{D29C7D95-BE89-4B4B-BDA0-834CCC6836AF}"/>
              </a:ext>
            </a:extLst>
          </p:cNvPr>
          <p:cNvSpPr>
            <a:spLocks xmlns:a="http://schemas.openxmlformats.org/drawingml/2006/main" noGrp="1"/>
          </p:cNvSpPr>
          <p:nvPr/>
        </p:nvSpPr>
        <p:spPr>
          <a:xfrm xmlns:a="http://schemas.openxmlformats.org/drawingml/2006/main">
            <a:off x="11137840"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2" name="Diagram rect">
            <a:extLst xmlns:a="http://schemas.openxmlformats.org/drawingml/2006/main">
              <a:ext uri="{FF2B5EF4-FFF2-40B4-BE49-F238E27FC236}">
                <a16:creationId xmlns:a16="http://schemas.microsoft.com/office/drawing/2014/main" id="{7E4A53DC-3832-4D3A-99EF-32C02AF6038D}"/>
              </a:ext>
            </a:extLst>
          </p:cNvPr>
          <p:cNvSpPr>
            <a:spLocks xmlns:a="http://schemas.openxmlformats.org/drawingml/2006/main" noGrp="1"/>
          </p:cNvSpPr>
          <p:nvPr/>
        </p:nvSpPr>
        <p:spPr>
          <a:xfrm xmlns:a="http://schemas.openxmlformats.org/drawingml/2006/main">
            <a:off x="11384820" y="5336790"/>
            <a:ext cx="132991"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3" name="Diagram rect">
            <a:extLst xmlns:a="http://schemas.openxmlformats.org/drawingml/2006/main">
              <a:ext uri="{FF2B5EF4-FFF2-40B4-BE49-F238E27FC236}">
                <a16:creationId xmlns:a16="http://schemas.microsoft.com/office/drawing/2014/main" id="{2B045E17-C556-4397-9B07-CAD44C150309}"/>
              </a:ext>
            </a:extLst>
          </p:cNvPr>
          <p:cNvSpPr>
            <a:spLocks xmlns:a="http://schemas.openxmlformats.org/drawingml/2006/main" noGrp="1"/>
          </p:cNvSpPr>
          <p:nvPr/>
        </p:nvSpPr>
        <p:spPr>
          <a:xfrm xmlns:a="http://schemas.openxmlformats.org/drawingml/2006/main">
            <a:off x="11631802" y="5289293"/>
            <a:ext cx="132990" cy="132990"/>
          </a:xfrm>
          <a:prstGeom xmlns:a="http://schemas.openxmlformats.org/drawingml/2006/main" prst="rect">
            <a:avLst/>
          </a:prstGeom>
          <a:solidFill xmlns:a="http://schemas.openxmlformats.org/drawingml/2006/main">
            <a:srgbClr val="34695B"/>
          </a:solidFill>
          <a:ln xmlns:a="http://schemas.openxmlformats.org/drawingml/2006/main" w="9499">
            <a:noFill/>
            <a:prstDash val="solid"/>
          </a:ln>
        </p:spPr>
      </p:sp>
      <p:sp>
        <p:nvSpPr>
          <p:cNvPr id="44" name="Diagram circle">
            <a:extLst xmlns:a="http://schemas.openxmlformats.org/drawingml/2006/main">
              <a:ext uri="{FF2B5EF4-FFF2-40B4-BE49-F238E27FC236}">
                <a16:creationId xmlns:a16="http://schemas.microsoft.com/office/drawing/2014/main" id="{02177CE7-9FAB-4E02-916F-A3401F30D10D}"/>
              </a:ext>
            </a:extLst>
          </p:cNvPr>
          <p:cNvSpPr>
            <a:spLocks xmlns:a="http://schemas.openxmlformats.org/drawingml/2006/main" noGrp="1"/>
          </p:cNvSpPr>
          <p:nvPr/>
        </p:nvSpPr>
        <p:spPr>
          <a:xfrm xmlns:a="http://schemas.openxmlformats.org/drawingml/2006/main">
            <a:off x="10520388" y="6657187"/>
            <a:ext cx="417968" cy="417968"/>
          </a:xfrm>
          <a:prstGeom xmlns:a="http://schemas.openxmlformats.org/drawingml/2006/main" prst="ellipse">
            <a:avLst/>
          </a:prstGeom>
          <a:solidFill xmlns:a="http://schemas.openxmlformats.org/drawingml/2006/main">
            <a:srgbClr val="34695B"/>
          </a:solidFill>
          <a:ln xmlns:a="http://schemas.openxmlformats.org/drawingml/2006/main" w="18999">
            <a:solidFill>
              <a:srgbClr val="34695B"/>
            </a:solidFill>
            <a:prstDash val="solid"/>
          </a:ln>
        </p:spPr>
      </p:sp>
      <p:sp>
        <p:nvSpPr>
          <p:cNvPr id="45" name="Diagram path">
            <a:extLst xmlns:a="http://schemas.openxmlformats.org/drawingml/2006/main">
              <a:ext uri="{FF2B5EF4-FFF2-40B4-BE49-F238E27FC236}">
                <a16:creationId xmlns:a16="http://schemas.microsoft.com/office/drawing/2014/main" id="{B3233279-9F8C-4689-93CF-8A80EA53F8ED}"/>
              </a:ext>
            </a:extLst>
          </p:cNvPr>
          <p:cNvSpPr>
            <a:spLocks xmlns:a="http://schemas.openxmlformats.org/drawingml/2006/main" noGrp="1"/>
          </p:cNvSpPr>
          <p:nvPr/>
        </p:nvSpPr>
        <p:spPr>
          <a:xfrm xmlns:a="http://schemas.openxmlformats.org/drawingml/2006/main">
            <a:off x="10643879" y="6732719"/>
            <a:ext cx="163914" cy="209446"/>
          </a:xfrm>
          <a:custGeom xmlns:a="http://schemas.openxmlformats.org/drawingml/2006/main">
            <a:pathLst>
              <a:path w="163914" h="209446">
                <a:moveTo>
                  <a:pt x="0" y="209446"/>
                </a:moveTo>
                <a:lnTo>
                  <a:pt x="10245" y="183265"/>
                </a:lnTo>
                <a:lnTo>
                  <a:pt x="20489" y="157084"/>
                </a:lnTo>
                <a:lnTo>
                  <a:pt x="30734" y="130903"/>
                </a:lnTo>
                <a:lnTo>
                  <a:pt x="40978" y="104723"/>
                </a:lnTo>
                <a:lnTo>
                  <a:pt x="51223" y="78542"/>
                </a:lnTo>
                <a:lnTo>
                  <a:pt x="61468" y="52361"/>
                </a:lnTo>
                <a:lnTo>
                  <a:pt x="71712" y="26181"/>
                </a:lnTo>
                <a:lnTo>
                  <a:pt x="81957" y="0"/>
                </a:lnTo>
                <a:lnTo>
                  <a:pt x="92202" y="8106"/>
                </a:lnTo>
                <a:lnTo>
                  <a:pt x="102446" y="34287"/>
                </a:lnTo>
                <a:lnTo>
                  <a:pt x="112691" y="60467"/>
                </a:lnTo>
                <a:lnTo>
                  <a:pt x="122935" y="86648"/>
                </a:lnTo>
                <a:lnTo>
                  <a:pt x="133180" y="112829"/>
                </a:lnTo>
                <a:lnTo>
                  <a:pt x="143425" y="139009"/>
                </a:lnTo>
                <a:lnTo>
                  <a:pt x="153669" y="165190"/>
                </a:lnTo>
                <a:lnTo>
                  <a:pt x="163914" y="191371"/>
                </a:lnTo>
                <a:lnTo>
                  <a:pt x="163744" y="204617"/>
                </a:lnTo>
                <a:lnTo>
                  <a:pt x="140352" y="189023"/>
                </a:lnTo>
                <a:lnTo>
                  <a:pt x="116960" y="173428"/>
                </a:lnTo>
                <a:lnTo>
                  <a:pt x="93568" y="157833"/>
                </a:lnTo>
                <a:lnTo>
                  <a:pt x="70176" y="162661"/>
                </a:lnTo>
                <a:lnTo>
                  <a:pt x="46784" y="178256"/>
                </a:lnTo>
                <a:lnTo>
                  <a:pt x="23392" y="193851"/>
                </a:lnTo>
                <a:lnTo>
                  <a:pt x="0" y="209446"/>
                </a:lnTo>
                <a:close/>
              </a:path>
            </a:pathLst>
          </a:custGeom>
          <a:solidFill xmlns:a="http://schemas.openxmlformats.org/drawingml/2006/main">
            <a:srgbClr val="FFFFFF"/>
          </a:solidFill>
          <a:ln xmlns:a="http://schemas.openxmlformats.org/drawingml/2006/main" w="9499">
            <a:noFill/>
            <a:prstDash val="solid"/>
          </a:ln>
        </p:spPr>
      </p:sp>
      <p:sp>
        <p:nvSpPr>
          <p:cNvPr id="46" name="Diagram circle">
            <a:extLst xmlns:a="http://schemas.openxmlformats.org/drawingml/2006/main">
              <a:ext uri="{FF2B5EF4-FFF2-40B4-BE49-F238E27FC236}">
                <a16:creationId xmlns:a16="http://schemas.microsoft.com/office/drawing/2014/main" id="{3468C30F-1AEF-4BCA-ADCC-AA2C532C6278}"/>
              </a:ext>
            </a:extLst>
          </p:cNvPr>
          <p:cNvSpPr>
            <a:spLocks xmlns:a="http://schemas.openxmlformats.org/drawingml/2006/main" noGrp="1"/>
          </p:cNvSpPr>
          <p:nvPr/>
        </p:nvSpPr>
        <p:spPr>
          <a:xfrm xmlns:a="http://schemas.openxmlformats.org/drawingml/2006/main">
            <a:off x="10425396" y="6562194"/>
            <a:ext cx="607951" cy="607953"/>
          </a:xfrm>
          <a:prstGeom xmlns:a="http://schemas.openxmlformats.org/drawingml/2006/main" prst="ellipse">
            <a:avLst/>
          </a:prstGeom>
          <a:noFill xmlns:a="http://schemas.openxmlformats.org/drawingml/2006/main"/>
          <a:ln xmlns:a="http://schemas.openxmlformats.org/drawingml/2006/main" w="14249">
            <a:solidFill>
              <a:srgbClr val="34695B">
                <a:alpha val="24000"/>
              </a:srgbClr>
            </a:solidFill>
            <a:prstDash val="solid"/>
          </a:ln>
        </p:spPr>
      </p:sp>
      <p:sp>
        <p:nvSpPr>
          <p:cNvPr id="47" name="Diagram path">
            <a:extLst xmlns:a="http://schemas.openxmlformats.org/drawingml/2006/main">
              <a:ext uri="{FF2B5EF4-FFF2-40B4-BE49-F238E27FC236}">
                <a16:creationId xmlns:a16="http://schemas.microsoft.com/office/drawing/2014/main" id="{B19890EA-B8EB-469E-B402-C9B7178DDB4F}"/>
              </a:ext>
            </a:extLst>
          </p:cNvPr>
          <p:cNvSpPr>
            <a:spLocks xmlns:a="http://schemas.openxmlformats.org/drawingml/2006/main" noGrp="1"/>
          </p:cNvSpPr>
          <p:nvPr/>
        </p:nvSpPr>
        <p:spPr>
          <a:xfrm xmlns:a="http://schemas.openxmlformats.org/drawingml/2006/main">
            <a:off x="8782024" y="3550930"/>
            <a:ext cx="1757363" cy="3182251"/>
          </a:xfrm>
          <a:custGeom xmlns:a="http://schemas.openxmlformats.org/drawingml/2006/main">
            <a:pathLst>
              <a:path w="1757363" h="3182251">
                <a:moveTo>
                  <a:pt x="1757363" y="3182251"/>
                </a:moveTo>
                <a:lnTo>
                  <a:pt x="1728912" y="3182251"/>
                </a:lnTo>
                <a:lnTo>
                  <a:pt x="1700461" y="3182251"/>
                </a:lnTo>
                <a:lnTo>
                  <a:pt x="1672011" y="3182251"/>
                </a:lnTo>
                <a:lnTo>
                  <a:pt x="1643560" y="3182251"/>
                </a:lnTo>
                <a:lnTo>
                  <a:pt x="1615110" y="3182251"/>
                </a:lnTo>
                <a:lnTo>
                  <a:pt x="1586659" y="3182251"/>
                </a:lnTo>
                <a:lnTo>
                  <a:pt x="1558209" y="3182251"/>
                </a:lnTo>
                <a:lnTo>
                  <a:pt x="1529758" y="3182251"/>
                </a:lnTo>
                <a:lnTo>
                  <a:pt x="1501308" y="3182251"/>
                </a:lnTo>
                <a:lnTo>
                  <a:pt x="1472857" y="3182251"/>
                </a:lnTo>
                <a:lnTo>
                  <a:pt x="1444407" y="3182251"/>
                </a:lnTo>
                <a:lnTo>
                  <a:pt x="1415956" y="3182251"/>
                </a:lnTo>
                <a:lnTo>
                  <a:pt x="1387506" y="3182251"/>
                </a:lnTo>
                <a:lnTo>
                  <a:pt x="1359055" y="3182251"/>
                </a:lnTo>
                <a:lnTo>
                  <a:pt x="1330605" y="3182251"/>
                </a:lnTo>
                <a:lnTo>
                  <a:pt x="1302154" y="3182251"/>
                </a:lnTo>
                <a:lnTo>
                  <a:pt x="1273704" y="3182251"/>
                </a:lnTo>
                <a:lnTo>
                  <a:pt x="1245253" y="3182251"/>
                </a:lnTo>
                <a:lnTo>
                  <a:pt x="1216803" y="3182251"/>
                </a:lnTo>
                <a:lnTo>
                  <a:pt x="1188352" y="3182251"/>
                </a:lnTo>
                <a:lnTo>
                  <a:pt x="1159902" y="3182251"/>
                </a:lnTo>
                <a:lnTo>
                  <a:pt x="1131451" y="3182251"/>
                </a:lnTo>
                <a:lnTo>
                  <a:pt x="1103001" y="3182251"/>
                </a:lnTo>
                <a:lnTo>
                  <a:pt x="1074550" y="3182251"/>
                </a:lnTo>
                <a:lnTo>
                  <a:pt x="1046100" y="3182251"/>
                </a:lnTo>
                <a:lnTo>
                  <a:pt x="1017649" y="3182251"/>
                </a:lnTo>
                <a:lnTo>
                  <a:pt x="989199" y="3182251"/>
                </a:lnTo>
                <a:lnTo>
                  <a:pt x="960748" y="3182251"/>
                </a:lnTo>
                <a:lnTo>
                  <a:pt x="932298" y="3182251"/>
                </a:lnTo>
                <a:lnTo>
                  <a:pt x="903847" y="3182251"/>
                </a:lnTo>
                <a:lnTo>
                  <a:pt x="875397" y="3182251"/>
                </a:lnTo>
                <a:lnTo>
                  <a:pt x="846946" y="3182251"/>
                </a:lnTo>
                <a:lnTo>
                  <a:pt x="818496" y="3182251"/>
                </a:lnTo>
                <a:lnTo>
                  <a:pt x="790045" y="3182251"/>
                </a:lnTo>
                <a:lnTo>
                  <a:pt x="761595" y="3182251"/>
                </a:lnTo>
                <a:lnTo>
                  <a:pt x="733144" y="3182251"/>
                </a:lnTo>
                <a:lnTo>
                  <a:pt x="704694" y="3182251"/>
                </a:lnTo>
                <a:lnTo>
                  <a:pt x="676243" y="3182251"/>
                </a:lnTo>
                <a:lnTo>
                  <a:pt x="647793" y="3182251"/>
                </a:lnTo>
                <a:lnTo>
                  <a:pt x="619342" y="3182251"/>
                </a:lnTo>
                <a:lnTo>
                  <a:pt x="590892" y="3182251"/>
                </a:lnTo>
                <a:lnTo>
                  <a:pt x="562441" y="3182251"/>
                </a:lnTo>
                <a:lnTo>
                  <a:pt x="533991" y="3182251"/>
                </a:lnTo>
                <a:lnTo>
                  <a:pt x="505540" y="3182251"/>
                </a:lnTo>
                <a:lnTo>
                  <a:pt x="477090" y="3182251"/>
                </a:lnTo>
                <a:lnTo>
                  <a:pt x="448639" y="3182251"/>
                </a:lnTo>
                <a:lnTo>
                  <a:pt x="420188" y="3182251"/>
                </a:lnTo>
                <a:lnTo>
                  <a:pt x="391738" y="3182251"/>
                </a:lnTo>
                <a:lnTo>
                  <a:pt x="363287" y="3182251"/>
                </a:lnTo>
                <a:lnTo>
                  <a:pt x="334837" y="3182251"/>
                </a:lnTo>
                <a:lnTo>
                  <a:pt x="306387" y="3182251"/>
                </a:lnTo>
                <a:lnTo>
                  <a:pt x="277936" y="3182251"/>
                </a:lnTo>
                <a:lnTo>
                  <a:pt x="249486" y="3182251"/>
                </a:lnTo>
                <a:lnTo>
                  <a:pt x="221035" y="3182251"/>
                </a:lnTo>
                <a:lnTo>
                  <a:pt x="192584" y="3182251"/>
                </a:lnTo>
                <a:lnTo>
                  <a:pt x="164134" y="3182251"/>
                </a:lnTo>
                <a:lnTo>
                  <a:pt x="135683" y="3182251"/>
                </a:lnTo>
                <a:lnTo>
                  <a:pt x="107233" y="3182251"/>
                </a:lnTo>
                <a:lnTo>
                  <a:pt x="78782" y="3182251"/>
                </a:lnTo>
                <a:lnTo>
                  <a:pt x="50332" y="3182251"/>
                </a:lnTo>
                <a:lnTo>
                  <a:pt x="21881" y="3182251"/>
                </a:lnTo>
                <a:lnTo>
                  <a:pt x="0" y="3175682"/>
                </a:lnTo>
                <a:lnTo>
                  <a:pt x="0" y="3147231"/>
                </a:lnTo>
                <a:lnTo>
                  <a:pt x="0" y="3118781"/>
                </a:lnTo>
                <a:lnTo>
                  <a:pt x="0" y="3090330"/>
                </a:lnTo>
                <a:lnTo>
                  <a:pt x="0" y="3061880"/>
                </a:lnTo>
                <a:lnTo>
                  <a:pt x="0" y="3033429"/>
                </a:lnTo>
                <a:lnTo>
                  <a:pt x="0" y="3004979"/>
                </a:lnTo>
                <a:lnTo>
                  <a:pt x="0" y="2976528"/>
                </a:lnTo>
                <a:lnTo>
                  <a:pt x="0" y="2948078"/>
                </a:lnTo>
                <a:lnTo>
                  <a:pt x="0" y="2919627"/>
                </a:lnTo>
                <a:lnTo>
                  <a:pt x="0" y="2891177"/>
                </a:lnTo>
                <a:lnTo>
                  <a:pt x="0" y="2862726"/>
                </a:lnTo>
                <a:lnTo>
                  <a:pt x="0" y="2834276"/>
                </a:lnTo>
                <a:lnTo>
                  <a:pt x="0" y="2805825"/>
                </a:lnTo>
                <a:lnTo>
                  <a:pt x="0" y="2777375"/>
                </a:lnTo>
                <a:lnTo>
                  <a:pt x="0" y="2748924"/>
                </a:lnTo>
                <a:lnTo>
                  <a:pt x="0" y="2720474"/>
                </a:lnTo>
                <a:lnTo>
                  <a:pt x="0" y="2692023"/>
                </a:lnTo>
                <a:lnTo>
                  <a:pt x="0" y="2663573"/>
                </a:lnTo>
                <a:lnTo>
                  <a:pt x="0" y="2635122"/>
                </a:lnTo>
                <a:lnTo>
                  <a:pt x="0" y="2606672"/>
                </a:lnTo>
                <a:lnTo>
                  <a:pt x="0" y="2578221"/>
                </a:lnTo>
                <a:lnTo>
                  <a:pt x="0" y="2549771"/>
                </a:lnTo>
                <a:lnTo>
                  <a:pt x="0" y="2521320"/>
                </a:lnTo>
                <a:lnTo>
                  <a:pt x="0" y="2492870"/>
                </a:lnTo>
                <a:lnTo>
                  <a:pt x="0" y="2464419"/>
                </a:lnTo>
                <a:lnTo>
                  <a:pt x="0" y="2435969"/>
                </a:lnTo>
                <a:lnTo>
                  <a:pt x="0" y="2407518"/>
                </a:lnTo>
                <a:lnTo>
                  <a:pt x="0" y="2379068"/>
                </a:lnTo>
                <a:lnTo>
                  <a:pt x="0" y="2350617"/>
                </a:lnTo>
                <a:lnTo>
                  <a:pt x="0" y="2322166"/>
                </a:lnTo>
                <a:lnTo>
                  <a:pt x="0" y="2293716"/>
                </a:lnTo>
                <a:lnTo>
                  <a:pt x="0" y="2265265"/>
                </a:lnTo>
                <a:lnTo>
                  <a:pt x="0" y="2236815"/>
                </a:lnTo>
                <a:lnTo>
                  <a:pt x="0" y="2208364"/>
                </a:lnTo>
                <a:lnTo>
                  <a:pt x="0" y="2179914"/>
                </a:lnTo>
                <a:lnTo>
                  <a:pt x="0" y="2151463"/>
                </a:lnTo>
                <a:lnTo>
                  <a:pt x="0" y="2123013"/>
                </a:lnTo>
                <a:lnTo>
                  <a:pt x="0" y="2094562"/>
                </a:lnTo>
                <a:lnTo>
                  <a:pt x="0" y="2066112"/>
                </a:lnTo>
                <a:lnTo>
                  <a:pt x="0" y="2037662"/>
                </a:lnTo>
                <a:lnTo>
                  <a:pt x="0" y="2009211"/>
                </a:lnTo>
                <a:lnTo>
                  <a:pt x="0" y="1980761"/>
                </a:lnTo>
                <a:lnTo>
                  <a:pt x="0" y="1952310"/>
                </a:lnTo>
                <a:lnTo>
                  <a:pt x="0" y="1923860"/>
                </a:lnTo>
                <a:lnTo>
                  <a:pt x="0" y="1895409"/>
                </a:lnTo>
                <a:lnTo>
                  <a:pt x="0" y="1866958"/>
                </a:lnTo>
                <a:lnTo>
                  <a:pt x="0" y="1838508"/>
                </a:lnTo>
                <a:lnTo>
                  <a:pt x="0" y="1810057"/>
                </a:lnTo>
                <a:lnTo>
                  <a:pt x="0" y="1781607"/>
                </a:lnTo>
                <a:lnTo>
                  <a:pt x="0" y="1753156"/>
                </a:lnTo>
                <a:lnTo>
                  <a:pt x="0" y="1724706"/>
                </a:lnTo>
                <a:lnTo>
                  <a:pt x="0" y="1696255"/>
                </a:lnTo>
                <a:lnTo>
                  <a:pt x="0" y="1667805"/>
                </a:lnTo>
                <a:lnTo>
                  <a:pt x="0" y="1639354"/>
                </a:lnTo>
                <a:lnTo>
                  <a:pt x="0" y="1610904"/>
                </a:lnTo>
                <a:lnTo>
                  <a:pt x="0" y="1582453"/>
                </a:lnTo>
                <a:lnTo>
                  <a:pt x="0" y="1554003"/>
                </a:lnTo>
                <a:lnTo>
                  <a:pt x="0" y="1525552"/>
                </a:lnTo>
                <a:lnTo>
                  <a:pt x="0" y="1497102"/>
                </a:lnTo>
                <a:lnTo>
                  <a:pt x="0" y="1468651"/>
                </a:lnTo>
                <a:lnTo>
                  <a:pt x="0" y="1440201"/>
                </a:lnTo>
                <a:lnTo>
                  <a:pt x="0" y="1411750"/>
                </a:lnTo>
                <a:lnTo>
                  <a:pt x="0" y="1383300"/>
                </a:lnTo>
                <a:lnTo>
                  <a:pt x="0" y="1354849"/>
                </a:lnTo>
                <a:lnTo>
                  <a:pt x="0" y="1326399"/>
                </a:lnTo>
                <a:lnTo>
                  <a:pt x="0" y="1297948"/>
                </a:lnTo>
                <a:lnTo>
                  <a:pt x="0" y="1269498"/>
                </a:lnTo>
                <a:lnTo>
                  <a:pt x="0" y="1241047"/>
                </a:lnTo>
                <a:lnTo>
                  <a:pt x="0" y="1212597"/>
                </a:lnTo>
                <a:lnTo>
                  <a:pt x="0" y="1184146"/>
                </a:lnTo>
                <a:lnTo>
                  <a:pt x="0" y="1155696"/>
                </a:lnTo>
                <a:lnTo>
                  <a:pt x="0" y="1127245"/>
                </a:lnTo>
                <a:lnTo>
                  <a:pt x="0" y="1098795"/>
                </a:lnTo>
                <a:lnTo>
                  <a:pt x="0" y="1070344"/>
                </a:lnTo>
                <a:lnTo>
                  <a:pt x="0" y="1041893"/>
                </a:lnTo>
                <a:lnTo>
                  <a:pt x="0" y="1013443"/>
                </a:lnTo>
                <a:lnTo>
                  <a:pt x="0" y="984992"/>
                </a:lnTo>
                <a:lnTo>
                  <a:pt x="0" y="956542"/>
                </a:lnTo>
                <a:lnTo>
                  <a:pt x="0" y="928092"/>
                </a:lnTo>
                <a:lnTo>
                  <a:pt x="0" y="899641"/>
                </a:lnTo>
                <a:lnTo>
                  <a:pt x="0" y="871191"/>
                </a:lnTo>
                <a:lnTo>
                  <a:pt x="0" y="842740"/>
                </a:lnTo>
                <a:lnTo>
                  <a:pt x="0" y="814290"/>
                </a:lnTo>
                <a:lnTo>
                  <a:pt x="0" y="785839"/>
                </a:lnTo>
                <a:lnTo>
                  <a:pt x="0" y="757389"/>
                </a:lnTo>
                <a:lnTo>
                  <a:pt x="0" y="728938"/>
                </a:lnTo>
                <a:lnTo>
                  <a:pt x="0" y="700488"/>
                </a:lnTo>
                <a:lnTo>
                  <a:pt x="0" y="672037"/>
                </a:lnTo>
                <a:lnTo>
                  <a:pt x="0" y="643587"/>
                </a:lnTo>
                <a:lnTo>
                  <a:pt x="0" y="615136"/>
                </a:lnTo>
                <a:lnTo>
                  <a:pt x="0" y="586685"/>
                </a:lnTo>
                <a:lnTo>
                  <a:pt x="0" y="558235"/>
                </a:lnTo>
                <a:lnTo>
                  <a:pt x="0" y="529784"/>
                </a:lnTo>
                <a:lnTo>
                  <a:pt x="0" y="501334"/>
                </a:lnTo>
                <a:lnTo>
                  <a:pt x="0" y="472883"/>
                </a:lnTo>
                <a:lnTo>
                  <a:pt x="0" y="444433"/>
                </a:lnTo>
                <a:lnTo>
                  <a:pt x="0" y="415982"/>
                </a:lnTo>
                <a:lnTo>
                  <a:pt x="0" y="387532"/>
                </a:lnTo>
                <a:lnTo>
                  <a:pt x="0" y="359081"/>
                </a:lnTo>
                <a:lnTo>
                  <a:pt x="0" y="330631"/>
                </a:lnTo>
                <a:lnTo>
                  <a:pt x="0" y="302180"/>
                </a:lnTo>
                <a:lnTo>
                  <a:pt x="0" y="273730"/>
                </a:lnTo>
                <a:lnTo>
                  <a:pt x="0" y="245279"/>
                </a:lnTo>
                <a:lnTo>
                  <a:pt x="0" y="216829"/>
                </a:lnTo>
                <a:lnTo>
                  <a:pt x="0" y="188378"/>
                </a:lnTo>
                <a:lnTo>
                  <a:pt x="0" y="159928"/>
                </a:lnTo>
                <a:lnTo>
                  <a:pt x="0" y="131477"/>
                </a:lnTo>
                <a:lnTo>
                  <a:pt x="0" y="103027"/>
                </a:lnTo>
                <a:lnTo>
                  <a:pt x="0" y="74576"/>
                </a:lnTo>
                <a:lnTo>
                  <a:pt x="0" y="46126"/>
                </a:lnTo>
                <a:lnTo>
                  <a:pt x="0" y="17675"/>
                </a:lnTo>
                <a:lnTo>
                  <a:pt x="10775" y="0"/>
                </a:lnTo>
                <a:lnTo>
                  <a:pt x="39226" y="0"/>
                </a:lnTo>
                <a:lnTo>
                  <a:pt x="67676" y="0"/>
                </a:lnTo>
                <a:lnTo>
                  <a:pt x="96127" y="0"/>
                </a:lnTo>
                <a:lnTo>
                  <a:pt x="124577" y="0"/>
                </a:lnTo>
                <a:lnTo>
                  <a:pt x="153028" y="0"/>
                </a:lnTo>
                <a:lnTo>
                  <a:pt x="181478" y="0"/>
                </a:lnTo>
                <a:lnTo>
                  <a:pt x="209929" y="0"/>
                </a:lnTo>
                <a:lnTo>
                  <a:pt x="238380" y="0"/>
                </a:lnTo>
                <a:lnTo>
                  <a:pt x="266830" y="0"/>
                </a:lnTo>
                <a:lnTo>
                  <a:pt x="295281" y="0"/>
                </a:lnTo>
                <a:lnTo>
                  <a:pt x="323731" y="0"/>
                </a:lnTo>
                <a:lnTo>
                  <a:pt x="352182" y="0"/>
                </a:lnTo>
                <a:lnTo>
                  <a:pt x="380632" y="0"/>
                </a:lnTo>
                <a:lnTo>
                  <a:pt x="409083" y="0"/>
                </a:lnTo>
                <a:lnTo>
                  <a:pt x="437533" y="0"/>
                </a:lnTo>
                <a:lnTo>
                  <a:pt x="465984" y="0"/>
                </a:lnTo>
                <a:lnTo>
                  <a:pt x="494434" y="0"/>
                </a:lnTo>
                <a:lnTo>
                  <a:pt x="522885" y="0"/>
                </a:lnTo>
                <a:lnTo>
                  <a:pt x="531958" y="19377"/>
                </a:lnTo>
                <a:lnTo>
                  <a:pt x="531958" y="47827"/>
                </a:lnTo>
                <a:lnTo>
                  <a:pt x="531958" y="76278"/>
                </a:lnTo>
                <a:lnTo>
                  <a:pt x="531958" y="104728"/>
                </a:lnTo>
                <a:lnTo>
                  <a:pt x="531958" y="133179"/>
                </a:lnTo>
                <a:lnTo>
                  <a:pt x="531958" y="161629"/>
                </a:lnTo>
                <a:lnTo>
                  <a:pt x="531958" y="190080"/>
                </a:lnTo>
                <a:lnTo>
                  <a:pt x="531958" y="218530"/>
                </a:lnTo>
                <a:lnTo>
                  <a:pt x="531958" y="246981"/>
                </a:lnTo>
              </a:path>
            </a:pathLst>
          </a:custGeom>
          <a:noFill xmlns:a="http://schemas.openxmlformats.org/drawingml/2006/main"/>
          <a:ln xmlns:a="http://schemas.openxmlformats.org/drawingml/2006/main" w="32297">
            <a:solidFill>
              <a:srgbClr val="9CAAA0"/>
            </a:solidFill>
            <a:prstDash val="dash"/>
          </a:ln>
        </p:spPr>
      </p:sp>
      <p:sp>
        <p:nvSpPr>
          <p:cNvPr id="48" name="Route arrowhead">
            <a:extLst xmlns:a="http://schemas.openxmlformats.org/drawingml/2006/main">
              <a:ext uri="{FF2B5EF4-FFF2-40B4-BE49-F238E27FC236}">
                <a16:creationId xmlns:a16="http://schemas.microsoft.com/office/drawing/2014/main" id="{43DC8DE4-DE23-406B-B7A9-916DD5D73904}"/>
              </a:ext>
            </a:extLst>
          </p:cNvPr>
          <p:cNvSpPr>
            <a:spLocks xmlns:a="http://schemas.openxmlformats.org/drawingml/2006/main" noGrp="1"/>
          </p:cNvSpPr>
          <p:nvPr/>
        </p:nvSpPr>
        <p:spPr>
          <a:xfrm xmlns:a="http://schemas.openxmlformats.org/drawingml/2006/main">
            <a:off x="9217090" y="3604125"/>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9CAAA0"/>
            </a:solidFill>
            <a:prstDash val="solid"/>
          </a:ln>
        </p:spPr>
      </p:sp>
      <p:sp>
        <p:nvSpPr>
          <p:cNvPr id="49" name="Diagram path">
            <a:extLst xmlns:a="http://schemas.openxmlformats.org/drawingml/2006/main">
              <a:ext uri="{FF2B5EF4-FFF2-40B4-BE49-F238E27FC236}">
                <a16:creationId xmlns:a16="http://schemas.microsoft.com/office/drawing/2014/main" id="{93CF0635-E27E-4A28-B393-2145F3442936}"/>
              </a:ext>
            </a:extLst>
          </p:cNvPr>
          <p:cNvSpPr>
            <a:spLocks xmlns:a="http://schemas.openxmlformats.org/drawingml/2006/main" noGrp="1"/>
          </p:cNvSpPr>
          <p:nvPr/>
        </p:nvSpPr>
        <p:spPr>
          <a:xfrm xmlns:a="http://schemas.openxmlformats.org/drawingml/2006/main">
            <a:off x="10928856" y="4472358"/>
            <a:ext cx="1415389" cy="2393813"/>
          </a:xfrm>
          <a:custGeom xmlns:a="http://schemas.openxmlformats.org/drawingml/2006/main">
            <a:pathLst>
              <a:path w="1415389" h="2393813">
                <a:moveTo>
                  <a:pt x="0" y="2393813"/>
                </a:moveTo>
                <a:lnTo>
                  <a:pt x="28396" y="2393813"/>
                </a:lnTo>
                <a:lnTo>
                  <a:pt x="56791" y="2393813"/>
                </a:lnTo>
                <a:lnTo>
                  <a:pt x="85187" y="2393813"/>
                </a:lnTo>
                <a:lnTo>
                  <a:pt x="113582" y="2393813"/>
                </a:lnTo>
                <a:lnTo>
                  <a:pt x="141978" y="2393813"/>
                </a:lnTo>
                <a:lnTo>
                  <a:pt x="170374" y="2393813"/>
                </a:lnTo>
                <a:lnTo>
                  <a:pt x="198770" y="2393813"/>
                </a:lnTo>
                <a:lnTo>
                  <a:pt x="227165" y="2393813"/>
                </a:lnTo>
                <a:lnTo>
                  <a:pt x="255561" y="2393813"/>
                </a:lnTo>
                <a:lnTo>
                  <a:pt x="283956" y="2393813"/>
                </a:lnTo>
                <a:lnTo>
                  <a:pt x="312352" y="2393813"/>
                </a:lnTo>
                <a:lnTo>
                  <a:pt x="340748" y="2393813"/>
                </a:lnTo>
                <a:lnTo>
                  <a:pt x="369143" y="2393813"/>
                </a:lnTo>
                <a:lnTo>
                  <a:pt x="397539" y="2393813"/>
                </a:lnTo>
                <a:lnTo>
                  <a:pt x="425934" y="2393813"/>
                </a:lnTo>
                <a:lnTo>
                  <a:pt x="454330" y="2393813"/>
                </a:lnTo>
                <a:lnTo>
                  <a:pt x="482726" y="2393813"/>
                </a:lnTo>
                <a:lnTo>
                  <a:pt x="511121" y="2393813"/>
                </a:lnTo>
                <a:lnTo>
                  <a:pt x="539517" y="2393813"/>
                </a:lnTo>
                <a:lnTo>
                  <a:pt x="567913" y="2393813"/>
                </a:lnTo>
                <a:lnTo>
                  <a:pt x="596308" y="2393813"/>
                </a:lnTo>
                <a:lnTo>
                  <a:pt x="624704" y="2393813"/>
                </a:lnTo>
                <a:lnTo>
                  <a:pt x="653099" y="2393813"/>
                </a:lnTo>
                <a:lnTo>
                  <a:pt x="681495" y="2393813"/>
                </a:lnTo>
                <a:lnTo>
                  <a:pt x="709891" y="2393813"/>
                </a:lnTo>
                <a:lnTo>
                  <a:pt x="738286" y="2393813"/>
                </a:lnTo>
                <a:lnTo>
                  <a:pt x="766682" y="2393813"/>
                </a:lnTo>
                <a:lnTo>
                  <a:pt x="795077" y="2393813"/>
                </a:lnTo>
                <a:lnTo>
                  <a:pt x="823473" y="2393813"/>
                </a:lnTo>
                <a:lnTo>
                  <a:pt x="851869" y="2393813"/>
                </a:lnTo>
                <a:lnTo>
                  <a:pt x="880264" y="2393813"/>
                </a:lnTo>
                <a:lnTo>
                  <a:pt x="908660" y="2393813"/>
                </a:lnTo>
                <a:lnTo>
                  <a:pt x="937056" y="2393813"/>
                </a:lnTo>
                <a:lnTo>
                  <a:pt x="965451" y="2393813"/>
                </a:lnTo>
                <a:lnTo>
                  <a:pt x="993847" y="2393813"/>
                </a:lnTo>
                <a:lnTo>
                  <a:pt x="1022243" y="2393813"/>
                </a:lnTo>
                <a:lnTo>
                  <a:pt x="1050638" y="2393813"/>
                </a:lnTo>
                <a:lnTo>
                  <a:pt x="1079034" y="2393813"/>
                </a:lnTo>
                <a:lnTo>
                  <a:pt x="1107429" y="2393813"/>
                </a:lnTo>
                <a:lnTo>
                  <a:pt x="1135825" y="2393813"/>
                </a:lnTo>
                <a:lnTo>
                  <a:pt x="1164221" y="2393813"/>
                </a:lnTo>
                <a:lnTo>
                  <a:pt x="1192616" y="2393813"/>
                </a:lnTo>
                <a:lnTo>
                  <a:pt x="1221012" y="2393813"/>
                </a:lnTo>
                <a:lnTo>
                  <a:pt x="1249408" y="2393813"/>
                </a:lnTo>
                <a:lnTo>
                  <a:pt x="1277803" y="2393813"/>
                </a:lnTo>
                <a:lnTo>
                  <a:pt x="1306199" y="2393813"/>
                </a:lnTo>
                <a:lnTo>
                  <a:pt x="1334595" y="2393813"/>
                </a:lnTo>
                <a:lnTo>
                  <a:pt x="1362990" y="2393813"/>
                </a:lnTo>
                <a:lnTo>
                  <a:pt x="1391386" y="2393813"/>
                </a:lnTo>
                <a:lnTo>
                  <a:pt x="1415389" y="2389421"/>
                </a:lnTo>
                <a:lnTo>
                  <a:pt x="1415389" y="2361025"/>
                </a:lnTo>
                <a:lnTo>
                  <a:pt x="1415389" y="2332629"/>
                </a:lnTo>
                <a:lnTo>
                  <a:pt x="1415389" y="2304234"/>
                </a:lnTo>
                <a:lnTo>
                  <a:pt x="1415389" y="2275838"/>
                </a:lnTo>
                <a:lnTo>
                  <a:pt x="1415389" y="2247442"/>
                </a:lnTo>
                <a:lnTo>
                  <a:pt x="1415389" y="2219047"/>
                </a:lnTo>
                <a:lnTo>
                  <a:pt x="1415389" y="2190651"/>
                </a:lnTo>
                <a:lnTo>
                  <a:pt x="1415389" y="2162256"/>
                </a:lnTo>
                <a:lnTo>
                  <a:pt x="1415389" y="2133860"/>
                </a:lnTo>
                <a:lnTo>
                  <a:pt x="1415389" y="2105464"/>
                </a:lnTo>
                <a:lnTo>
                  <a:pt x="1415389" y="2077069"/>
                </a:lnTo>
                <a:lnTo>
                  <a:pt x="1415389" y="2048673"/>
                </a:lnTo>
                <a:lnTo>
                  <a:pt x="1415389" y="2020278"/>
                </a:lnTo>
                <a:lnTo>
                  <a:pt x="1415389" y="1991882"/>
                </a:lnTo>
                <a:lnTo>
                  <a:pt x="1415389" y="1963486"/>
                </a:lnTo>
                <a:lnTo>
                  <a:pt x="1415389" y="1935090"/>
                </a:lnTo>
                <a:lnTo>
                  <a:pt x="1415389" y="1906695"/>
                </a:lnTo>
                <a:lnTo>
                  <a:pt x="1415389" y="1878299"/>
                </a:lnTo>
                <a:lnTo>
                  <a:pt x="1415389" y="1849904"/>
                </a:lnTo>
                <a:lnTo>
                  <a:pt x="1415389" y="1821508"/>
                </a:lnTo>
                <a:lnTo>
                  <a:pt x="1415389" y="1793112"/>
                </a:lnTo>
                <a:lnTo>
                  <a:pt x="1415389" y="1764717"/>
                </a:lnTo>
                <a:lnTo>
                  <a:pt x="1415389" y="1736321"/>
                </a:lnTo>
                <a:lnTo>
                  <a:pt x="1415389" y="1707926"/>
                </a:lnTo>
                <a:lnTo>
                  <a:pt x="1415389" y="1679530"/>
                </a:lnTo>
                <a:lnTo>
                  <a:pt x="1415389" y="1651134"/>
                </a:lnTo>
                <a:lnTo>
                  <a:pt x="1415389" y="1622738"/>
                </a:lnTo>
                <a:lnTo>
                  <a:pt x="1415389" y="1594343"/>
                </a:lnTo>
                <a:lnTo>
                  <a:pt x="1415389" y="1565947"/>
                </a:lnTo>
                <a:lnTo>
                  <a:pt x="1415389" y="1537552"/>
                </a:lnTo>
                <a:lnTo>
                  <a:pt x="1415389" y="1509156"/>
                </a:lnTo>
                <a:lnTo>
                  <a:pt x="1415389" y="1480760"/>
                </a:lnTo>
                <a:lnTo>
                  <a:pt x="1415389" y="1452365"/>
                </a:lnTo>
                <a:lnTo>
                  <a:pt x="1415389" y="1423969"/>
                </a:lnTo>
                <a:lnTo>
                  <a:pt x="1415389" y="1395574"/>
                </a:lnTo>
                <a:lnTo>
                  <a:pt x="1415389" y="1367178"/>
                </a:lnTo>
                <a:lnTo>
                  <a:pt x="1415389" y="1338782"/>
                </a:lnTo>
                <a:lnTo>
                  <a:pt x="1415389" y="1310387"/>
                </a:lnTo>
                <a:lnTo>
                  <a:pt x="1415389" y="1281991"/>
                </a:lnTo>
                <a:lnTo>
                  <a:pt x="1415389" y="1253595"/>
                </a:lnTo>
                <a:lnTo>
                  <a:pt x="1415389" y="1225200"/>
                </a:lnTo>
                <a:lnTo>
                  <a:pt x="1415389" y="1196804"/>
                </a:lnTo>
                <a:lnTo>
                  <a:pt x="1415389" y="1168409"/>
                </a:lnTo>
                <a:lnTo>
                  <a:pt x="1415389" y="1140013"/>
                </a:lnTo>
                <a:lnTo>
                  <a:pt x="1415389" y="1111617"/>
                </a:lnTo>
                <a:lnTo>
                  <a:pt x="1415389" y="1083222"/>
                </a:lnTo>
                <a:lnTo>
                  <a:pt x="1415389" y="1054826"/>
                </a:lnTo>
                <a:lnTo>
                  <a:pt x="1415389" y="1026431"/>
                </a:lnTo>
                <a:lnTo>
                  <a:pt x="1415389" y="998035"/>
                </a:lnTo>
                <a:lnTo>
                  <a:pt x="1415389" y="969639"/>
                </a:lnTo>
                <a:lnTo>
                  <a:pt x="1415389" y="941244"/>
                </a:lnTo>
                <a:lnTo>
                  <a:pt x="1415389" y="912848"/>
                </a:lnTo>
                <a:lnTo>
                  <a:pt x="1415389" y="884452"/>
                </a:lnTo>
                <a:lnTo>
                  <a:pt x="1415389" y="856057"/>
                </a:lnTo>
                <a:lnTo>
                  <a:pt x="1415389" y="827661"/>
                </a:lnTo>
                <a:lnTo>
                  <a:pt x="1415389" y="799265"/>
                </a:lnTo>
                <a:lnTo>
                  <a:pt x="1415389" y="770870"/>
                </a:lnTo>
                <a:lnTo>
                  <a:pt x="1415389" y="742474"/>
                </a:lnTo>
                <a:lnTo>
                  <a:pt x="1415389" y="714079"/>
                </a:lnTo>
                <a:lnTo>
                  <a:pt x="1415389" y="685683"/>
                </a:lnTo>
                <a:lnTo>
                  <a:pt x="1415389" y="657287"/>
                </a:lnTo>
                <a:lnTo>
                  <a:pt x="1415389" y="628892"/>
                </a:lnTo>
                <a:lnTo>
                  <a:pt x="1415389" y="600496"/>
                </a:lnTo>
                <a:lnTo>
                  <a:pt x="1415389" y="572100"/>
                </a:lnTo>
                <a:lnTo>
                  <a:pt x="1415389" y="543705"/>
                </a:lnTo>
                <a:lnTo>
                  <a:pt x="1415389" y="515309"/>
                </a:lnTo>
                <a:lnTo>
                  <a:pt x="1415389" y="486913"/>
                </a:lnTo>
                <a:lnTo>
                  <a:pt x="1415389" y="458518"/>
                </a:lnTo>
                <a:lnTo>
                  <a:pt x="1415389" y="430122"/>
                </a:lnTo>
                <a:lnTo>
                  <a:pt x="1415389" y="401727"/>
                </a:lnTo>
                <a:lnTo>
                  <a:pt x="1415389" y="373331"/>
                </a:lnTo>
                <a:lnTo>
                  <a:pt x="1415389" y="344935"/>
                </a:lnTo>
                <a:lnTo>
                  <a:pt x="1415389" y="316540"/>
                </a:lnTo>
                <a:lnTo>
                  <a:pt x="1415389" y="288144"/>
                </a:lnTo>
                <a:lnTo>
                  <a:pt x="1415389" y="259748"/>
                </a:lnTo>
                <a:lnTo>
                  <a:pt x="1415389" y="231353"/>
                </a:lnTo>
                <a:lnTo>
                  <a:pt x="1415389" y="202957"/>
                </a:lnTo>
                <a:lnTo>
                  <a:pt x="1415389" y="174562"/>
                </a:lnTo>
                <a:lnTo>
                  <a:pt x="1415389" y="146166"/>
                </a:lnTo>
                <a:lnTo>
                  <a:pt x="1415389" y="117770"/>
                </a:lnTo>
                <a:lnTo>
                  <a:pt x="1415389" y="89375"/>
                </a:lnTo>
                <a:lnTo>
                  <a:pt x="1415389" y="60979"/>
                </a:lnTo>
                <a:lnTo>
                  <a:pt x="1415389" y="32584"/>
                </a:lnTo>
                <a:lnTo>
                  <a:pt x="1415389" y="4188"/>
                </a:lnTo>
                <a:lnTo>
                  <a:pt x="1391181" y="0"/>
                </a:lnTo>
                <a:lnTo>
                  <a:pt x="1362786" y="0"/>
                </a:lnTo>
                <a:lnTo>
                  <a:pt x="1334390" y="0"/>
                </a:lnTo>
                <a:lnTo>
                  <a:pt x="1305994" y="0"/>
                </a:lnTo>
                <a:lnTo>
                  <a:pt x="1277599" y="0"/>
                </a:lnTo>
                <a:lnTo>
                  <a:pt x="1249203" y="0"/>
                </a:lnTo>
                <a:lnTo>
                  <a:pt x="1220808" y="0"/>
                </a:lnTo>
                <a:lnTo>
                  <a:pt x="1192412" y="0"/>
                </a:lnTo>
                <a:lnTo>
                  <a:pt x="1164016" y="0"/>
                </a:lnTo>
                <a:lnTo>
                  <a:pt x="1135621" y="0"/>
                </a:lnTo>
                <a:lnTo>
                  <a:pt x="1107225" y="0"/>
                </a:lnTo>
                <a:lnTo>
                  <a:pt x="1078829" y="0"/>
                </a:lnTo>
                <a:lnTo>
                  <a:pt x="1050434" y="0"/>
                </a:lnTo>
                <a:lnTo>
                  <a:pt x="1022038" y="0"/>
                </a:lnTo>
                <a:lnTo>
                  <a:pt x="993643" y="0"/>
                </a:lnTo>
                <a:lnTo>
                  <a:pt x="965247" y="0"/>
                </a:lnTo>
                <a:lnTo>
                  <a:pt x="936851" y="0"/>
                </a:lnTo>
                <a:lnTo>
                  <a:pt x="908456" y="0"/>
                </a:lnTo>
                <a:lnTo>
                  <a:pt x="880060" y="0"/>
                </a:lnTo>
                <a:lnTo>
                  <a:pt x="851665" y="0"/>
                </a:lnTo>
                <a:lnTo>
                  <a:pt x="823269" y="0"/>
                </a:lnTo>
                <a:lnTo>
                  <a:pt x="794873" y="0"/>
                </a:lnTo>
                <a:lnTo>
                  <a:pt x="766478" y="0"/>
                </a:lnTo>
                <a:lnTo>
                  <a:pt x="738082" y="0"/>
                </a:lnTo>
                <a:lnTo>
                  <a:pt x="709686" y="0"/>
                </a:lnTo>
                <a:lnTo>
                  <a:pt x="681291" y="0"/>
                </a:lnTo>
                <a:lnTo>
                  <a:pt x="652895" y="0"/>
                </a:lnTo>
                <a:lnTo>
                  <a:pt x="624500" y="0"/>
                </a:lnTo>
                <a:lnTo>
                  <a:pt x="596104" y="0"/>
                </a:lnTo>
                <a:lnTo>
                  <a:pt x="567708" y="0"/>
                </a:lnTo>
                <a:lnTo>
                  <a:pt x="539313" y="0"/>
                </a:lnTo>
                <a:lnTo>
                  <a:pt x="522459" y="11542"/>
                </a:lnTo>
                <a:lnTo>
                  <a:pt x="522459" y="39938"/>
                </a:lnTo>
                <a:lnTo>
                  <a:pt x="522459" y="68333"/>
                </a:lnTo>
                <a:lnTo>
                  <a:pt x="522459" y="96729"/>
                </a:lnTo>
                <a:lnTo>
                  <a:pt x="522459" y="125125"/>
                </a:lnTo>
                <a:lnTo>
                  <a:pt x="522459" y="153520"/>
                </a:lnTo>
                <a:lnTo>
                  <a:pt x="522459" y="181916"/>
                </a:lnTo>
                <a:lnTo>
                  <a:pt x="522459" y="210311"/>
                </a:lnTo>
                <a:lnTo>
                  <a:pt x="522459" y="238707"/>
                </a:lnTo>
                <a:lnTo>
                  <a:pt x="522459" y="267103"/>
                </a:lnTo>
                <a:lnTo>
                  <a:pt x="522459" y="295499"/>
                </a:lnTo>
                <a:lnTo>
                  <a:pt x="522459" y="323894"/>
                </a:lnTo>
                <a:lnTo>
                  <a:pt x="522459" y="352289"/>
                </a:lnTo>
                <a:lnTo>
                  <a:pt x="522459" y="380685"/>
                </a:lnTo>
                <a:lnTo>
                  <a:pt x="522459" y="409081"/>
                </a:lnTo>
                <a:lnTo>
                  <a:pt x="522459" y="437477"/>
                </a:lnTo>
                <a:lnTo>
                  <a:pt x="522459" y="465872"/>
                </a:lnTo>
                <a:lnTo>
                  <a:pt x="522459" y="494268"/>
                </a:lnTo>
                <a:lnTo>
                  <a:pt x="522459" y="522663"/>
                </a:lnTo>
                <a:lnTo>
                  <a:pt x="522459" y="551059"/>
                </a:lnTo>
                <a:lnTo>
                  <a:pt x="522459" y="579455"/>
                </a:lnTo>
              </a:path>
            </a:pathLst>
          </a:custGeom>
          <a:noFill xmlns:a="http://schemas.openxmlformats.org/drawingml/2006/main"/>
          <a:ln xmlns:a="http://schemas.openxmlformats.org/drawingml/2006/main" w="32297">
            <a:solidFill>
              <a:srgbClr val="34695B"/>
            </a:solidFill>
            <a:prstDash val="solid"/>
          </a:ln>
        </p:spPr>
      </p:sp>
      <p:sp>
        <p:nvSpPr>
          <p:cNvPr id="50" name="Route arrowhead">
            <a:extLst xmlns:a="http://schemas.openxmlformats.org/drawingml/2006/main">
              <a:ext uri="{FF2B5EF4-FFF2-40B4-BE49-F238E27FC236}">
                <a16:creationId xmlns:a16="http://schemas.microsoft.com/office/drawing/2014/main" id="{95238C79-323C-4F17-B629-9C582E4A5A44}"/>
              </a:ext>
            </a:extLst>
          </p:cNvPr>
          <p:cNvSpPr>
            <a:spLocks xmlns:a="http://schemas.openxmlformats.org/drawingml/2006/main" noGrp="1"/>
          </p:cNvSpPr>
          <p:nvPr/>
        </p:nvSpPr>
        <p:spPr>
          <a:xfrm xmlns:a="http://schemas.openxmlformats.org/drawingml/2006/main">
            <a:off x="11354423" y="4858027"/>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1" name="Diagram path">
            <a:extLst xmlns:a="http://schemas.openxmlformats.org/drawingml/2006/main">
              <a:ext uri="{FF2B5EF4-FFF2-40B4-BE49-F238E27FC236}">
                <a16:creationId xmlns:a16="http://schemas.microsoft.com/office/drawing/2014/main" id="{35DE688F-0D4C-46FE-A1D2-8655FAB47FCF}"/>
              </a:ext>
            </a:extLst>
          </p:cNvPr>
          <p:cNvSpPr>
            <a:spLocks xmlns:a="http://schemas.openxmlformats.org/drawingml/2006/main" noGrp="1"/>
          </p:cNvSpPr>
          <p:nvPr/>
        </p:nvSpPr>
        <p:spPr>
          <a:xfrm xmlns:a="http://schemas.openxmlformats.org/drawingml/2006/main">
            <a:off x="11451315" y="5707261"/>
            <a:ext cx="9525" cy="674447"/>
          </a:xfrm>
          <a:custGeom xmlns:a="http://schemas.openxmlformats.org/drawingml/2006/main">
            <a:pathLst>
              <a:path w="9525" h="674447">
                <a:moveTo>
                  <a:pt x="0" y="0"/>
                </a:moveTo>
                <a:lnTo>
                  <a:pt x="0" y="28102"/>
                </a:lnTo>
                <a:lnTo>
                  <a:pt x="0" y="56204"/>
                </a:lnTo>
                <a:lnTo>
                  <a:pt x="0" y="84306"/>
                </a:lnTo>
                <a:lnTo>
                  <a:pt x="0" y="112408"/>
                </a:lnTo>
                <a:lnTo>
                  <a:pt x="0" y="140510"/>
                </a:lnTo>
                <a:lnTo>
                  <a:pt x="0" y="168612"/>
                </a:lnTo>
                <a:lnTo>
                  <a:pt x="0" y="196714"/>
                </a:lnTo>
                <a:lnTo>
                  <a:pt x="0" y="224816"/>
                </a:lnTo>
                <a:lnTo>
                  <a:pt x="0" y="252918"/>
                </a:lnTo>
                <a:lnTo>
                  <a:pt x="0" y="281020"/>
                </a:lnTo>
                <a:lnTo>
                  <a:pt x="0" y="309122"/>
                </a:lnTo>
                <a:lnTo>
                  <a:pt x="0" y="337224"/>
                </a:lnTo>
                <a:lnTo>
                  <a:pt x="0" y="365326"/>
                </a:lnTo>
                <a:lnTo>
                  <a:pt x="0" y="393427"/>
                </a:lnTo>
                <a:lnTo>
                  <a:pt x="0" y="421530"/>
                </a:lnTo>
                <a:lnTo>
                  <a:pt x="0" y="449632"/>
                </a:lnTo>
                <a:lnTo>
                  <a:pt x="0" y="477733"/>
                </a:lnTo>
                <a:lnTo>
                  <a:pt x="0" y="505835"/>
                </a:lnTo>
                <a:lnTo>
                  <a:pt x="0" y="533937"/>
                </a:lnTo>
                <a:lnTo>
                  <a:pt x="0" y="562039"/>
                </a:lnTo>
                <a:lnTo>
                  <a:pt x="0" y="590141"/>
                </a:lnTo>
                <a:lnTo>
                  <a:pt x="0" y="618243"/>
                </a:lnTo>
                <a:lnTo>
                  <a:pt x="0" y="646345"/>
                </a:lnTo>
                <a:lnTo>
                  <a:pt x="0" y="674447"/>
                </a:lnTo>
              </a:path>
            </a:pathLst>
          </a:custGeom>
          <a:noFill xmlns:a="http://schemas.openxmlformats.org/drawingml/2006/main"/>
          <a:ln xmlns:a="http://schemas.openxmlformats.org/drawingml/2006/main" w="32297">
            <a:solidFill>
              <a:srgbClr val="34695B"/>
            </a:solidFill>
            <a:prstDash val="solid"/>
          </a:ln>
        </p:spPr>
      </p:sp>
      <p:sp>
        <p:nvSpPr>
          <p:cNvPr id="52" name="Route arrowhead">
            <a:extLst xmlns:a="http://schemas.openxmlformats.org/drawingml/2006/main">
              <a:ext uri="{FF2B5EF4-FFF2-40B4-BE49-F238E27FC236}">
                <a16:creationId xmlns:a16="http://schemas.microsoft.com/office/drawing/2014/main" id="{114F28AD-1B54-41EE-8D03-E7760A9D7CCB}"/>
              </a:ext>
            </a:extLst>
          </p:cNvPr>
          <p:cNvSpPr>
            <a:spLocks xmlns:a="http://schemas.openxmlformats.org/drawingml/2006/main" noGrp="1"/>
          </p:cNvSpPr>
          <p:nvPr/>
        </p:nvSpPr>
        <p:spPr>
          <a:xfrm xmlns:a="http://schemas.openxmlformats.org/drawingml/2006/main">
            <a:off x="11354423" y="6187923"/>
            <a:ext cx="193785" cy="193785"/>
          </a:xfrm>
          <a:custGeom xmlns:a="http://schemas.openxmlformats.org/drawingml/2006/main">
            <a:pathLst>
              <a:path w="193785" h="193785">
                <a:moveTo>
                  <a:pt x="193785" y="0"/>
                </a:moveTo>
                <a:lnTo>
                  <a:pt x="96892" y="193785"/>
                </a:lnTo>
                <a:lnTo>
                  <a:pt x="0" y="0"/>
                </a:lnTo>
              </a:path>
            </a:pathLst>
          </a:custGeom>
          <a:noFill xmlns:a="http://schemas.openxmlformats.org/drawingml/2006/main"/>
          <a:ln xmlns:a="http://schemas.openxmlformats.org/drawingml/2006/main" w="48446">
            <a:solidFill>
              <a:srgbClr val="34695B"/>
            </a:solidFill>
            <a:prstDash val="solid"/>
          </a:ln>
        </p:spPr>
      </p:sp>
      <p:sp>
        <p:nvSpPr>
          <p:cNvPr id="53" name="Diagram path">
            <a:extLst xmlns:a="http://schemas.openxmlformats.org/drawingml/2006/main">
              <a:ext uri="{FF2B5EF4-FFF2-40B4-BE49-F238E27FC236}">
                <a16:creationId xmlns:a16="http://schemas.microsoft.com/office/drawing/2014/main" id="{7DAF859D-2FAD-40D0-AC5A-E5C63BF22C2A}"/>
              </a:ext>
            </a:extLst>
          </p:cNvPr>
          <p:cNvSpPr>
            <a:spLocks xmlns:a="http://schemas.openxmlformats.org/drawingml/2006/main" noGrp="1"/>
          </p:cNvSpPr>
          <p:nvPr/>
        </p:nvSpPr>
        <p:spPr>
          <a:xfrm xmlns:a="http://schemas.openxmlformats.org/drawingml/2006/main">
            <a:off x="9456471" y="4054390"/>
            <a:ext cx="4426654" cy="284978"/>
          </a:xfrm>
          <a:custGeom xmlns:a="http://schemas.openxmlformats.org/drawingml/2006/main">
            <a:pathLst>
              <a:path w="4426654" h="284978">
                <a:moveTo>
                  <a:pt x="0" y="0"/>
                </a:moveTo>
                <a:lnTo>
                  <a:pt x="28369" y="2022"/>
                </a:lnTo>
                <a:lnTo>
                  <a:pt x="56738" y="4043"/>
                </a:lnTo>
                <a:lnTo>
                  <a:pt x="85107" y="6065"/>
                </a:lnTo>
                <a:lnTo>
                  <a:pt x="113476" y="8086"/>
                </a:lnTo>
                <a:lnTo>
                  <a:pt x="141845" y="10108"/>
                </a:lnTo>
                <a:lnTo>
                  <a:pt x="170214" y="12129"/>
                </a:lnTo>
                <a:lnTo>
                  <a:pt x="198583" y="14151"/>
                </a:lnTo>
                <a:lnTo>
                  <a:pt x="226952" y="16172"/>
                </a:lnTo>
                <a:lnTo>
                  <a:pt x="255321" y="18194"/>
                </a:lnTo>
                <a:lnTo>
                  <a:pt x="283690" y="20215"/>
                </a:lnTo>
                <a:lnTo>
                  <a:pt x="312059" y="22237"/>
                </a:lnTo>
                <a:lnTo>
                  <a:pt x="340429" y="24259"/>
                </a:lnTo>
                <a:lnTo>
                  <a:pt x="368798" y="26280"/>
                </a:lnTo>
                <a:lnTo>
                  <a:pt x="397167" y="28302"/>
                </a:lnTo>
                <a:lnTo>
                  <a:pt x="425536" y="30323"/>
                </a:lnTo>
                <a:lnTo>
                  <a:pt x="453905" y="32345"/>
                </a:lnTo>
                <a:lnTo>
                  <a:pt x="482274" y="34366"/>
                </a:lnTo>
                <a:lnTo>
                  <a:pt x="510643" y="36388"/>
                </a:lnTo>
                <a:lnTo>
                  <a:pt x="539012" y="38409"/>
                </a:lnTo>
                <a:lnTo>
                  <a:pt x="567381" y="40431"/>
                </a:lnTo>
                <a:lnTo>
                  <a:pt x="595750" y="42453"/>
                </a:lnTo>
                <a:lnTo>
                  <a:pt x="624119" y="44474"/>
                </a:lnTo>
                <a:lnTo>
                  <a:pt x="652488" y="46496"/>
                </a:lnTo>
                <a:lnTo>
                  <a:pt x="680857" y="48517"/>
                </a:lnTo>
                <a:lnTo>
                  <a:pt x="709226" y="50539"/>
                </a:lnTo>
                <a:lnTo>
                  <a:pt x="737595" y="52560"/>
                </a:lnTo>
                <a:lnTo>
                  <a:pt x="765965" y="54582"/>
                </a:lnTo>
                <a:lnTo>
                  <a:pt x="794334" y="56603"/>
                </a:lnTo>
                <a:lnTo>
                  <a:pt x="822702" y="58625"/>
                </a:lnTo>
                <a:lnTo>
                  <a:pt x="851071" y="60646"/>
                </a:lnTo>
                <a:lnTo>
                  <a:pt x="879440" y="62668"/>
                </a:lnTo>
                <a:lnTo>
                  <a:pt x="907810" y="64689"/>
                </a:lnTo>
                <a:lnTo>
                  <a:pt x="936179" y="66711"/>
                </a:lnTo>
                <a:lnTo>
                  <a:pt x="964548" y="68733"/>
                </a:lnTo>
                <a:lnTo>
                  <a:pt x="992917" y="70754"/>
                </a:lnTo>
                <a:lnTo>
                  <a:pt x="1021286" y="72776"/>
                </a:lnTo>
                <a:lnTo>
                  <a:pt x="1049655" y="74797"/>
                </a:lnTo>
                <a:lnTo>
                  <a:pt x="1078024" y="76819"/>
                </a:lnTo>
                <a:lnTo>
                  <a:pt x="1106393" y="78840"/>
                </a:lnTo>
                <a:lnTo>
                  <a:pt x="1134762" y="80862"/>
                </a:lnTo>
                <a:lnTo>
                  <a:pt x="1163131" y="82883"/>
                </a:lnTo>
                <a:lnTo>
                  <a:pt x="1191500" y="84905"/>
                </a:lnTo>
                <a:lnTo>
                  <a:pt x="1219869" y="86927"/>
                </a:lnTo>
                <a:lnTo>
                  <a:pt x="1248238" y="88948"/>
                </a:lnTo>
                <a:lnTo>
                  <a:pt x="1276607" y="90970"/>
                </a:lnTo>
                <a:lnTo>
                  <a:pt x="1304976" y="92991"/>
                </a:lnTo>
                <a:lnTo>
                  <a:pt x="1333346" y="95013"/>
                </a:lnTo>
                <a:lnTo>
                  <a:pt x="1361715" y="97034"/>
                </a:lnTo>
                <a:lnTo>
                  <a:pt x="1390084" y="99056"/>
                </a:lnTo>
                <a:lnTo>
                  <a:pt x="1418453" y="101077"/>
                </a:lnTo>
                <a:lnTo>
                  <a:pt x="1446822" y="103099"/>
                </a:lnTo>
                <a:lnTo>
                  <a:pt x="1475191" y="105120"/>
                </a:lnTo>
                <a:lnTo>
                  <a:pt x="1503560" y="107142"/>
                </a:lnTo>
                <a:lnTo>
                  <a:pt x="1531929" y="109164"/>
                </a:lnTo>
                <a:lnTo>
                  <a:pt x="1560298" y="111185"/>
                </a:lnTo>
                <a:lnTo>
                  <a:pt x="1588667" y="113207"/>
                </a:lnTo>
                <a:lnTo>
                  <a:pt x="1617036" y="115228"/>
                </a:lnTo>
                <a:lnTo>
                  <a:pt x="1645405" y="117250"/>
                </a:lnTo>
                <a:lnTo>
                  <a:pt x="1673774" y="119271"/>
                </a:lnTo>
                <a:lnTo>
                  <a:pt x="1702143" y="121293"/>
                </a:lnTo>
                <a:lnTo>
                  <a:pt x="1730512" y="123314"/>
                </a:lnTo>
                <a:lnTo>
                  <a:pt x="1758881" y="125336"/>
                </a:lnTo>
                <a:lnTo>
                  <a:pt x="1787250" y="127358"/>
                </a:lnTo>
                <a:lnTo>
                  <a:pt x="1815619" y="129379"/>
                </a:lnTo>
                <a:lnTo>
                  <a:pt x="1843989" y="131401"/>
                </a:lnTo>
                <a:lnTo>
                  <a:pt x="1872357" y="133422"/>
                </a:lnTo>
                <a:lnTo>
                  <a:pt x="1900727" y="135444"/>
                </a:lnTo>
                <a:lnTo>
                  <a:pt x="1929096" y="137465"/>
                </a:lnTo>
                <a:lnTo>
                  <a:pt x="1957465" y="139487"/>
                </a:lnTo>
                <a:lnTo>
                  <a:pt x="1985834" y="141508"/>
                </a:lnTo>
                <a:lnTo>
                  <a:pt x="2014203" y="143530"/>
                </a:lnTo>
                <a:lnTo>
                  <a:pt x="2042572" y="145551"/>
                </a:lnTo>
                <a:lnTo>
                  <a:pt x="2070941" y="147573"/>
                </a:lnTo>
                <a:lnTo>
                  <a:pt x="2099310" y="149595"/>
                </a:lnTo>
                <a:lnTo>
                  <a:pt x="2127679" y="151616"/>
                </a:lnTo>
                <a:lnTo>
                  <a:pt x="2156048" y="153638"/>
                </a:lnTo>
                <a:lnTo>
                  <a:pt x="2184417" y="155659"/>
                </a:lnTo>
                <a:lnTo>
                  <a:pt x="2212786" y="157681"/>
                </a:lnTo>
                <a:lnTo>
                  <a:pt x="2241155" y="159702"/>
                </a:lnTo>
                <a:lnTo>
                  <a:pt x="2269524" y="161724"/>
                </a:lnTo>
                <a:lnTo>
                  <a:pt x="2297893" y="163745"/>
                </a:lnTo>
                <a:lnTo>
                  <a:pt x="2326262" y="165767"/>
                </a:lnTo>
                <a:lnTo>
                  <a:pt x="2354631" y="167789"/>
                </a:lnTo>
                <a:lnTo>
                  <a:pt x="2383001" y="169810"/>
                </a:lnTo>
                <a:lnTo>
                  <a:pt x="2411370" y="171832"/>
                </a:lnTo>
                <a:lnTo>
                  <a:pt x="2439739" y="173853"/>
                </a:lnTo>
                <a:lnTo>
                  <a:pt x="2468108" y="175875"/>
                </a:lnTo>
                <a:lnTo>
                  <a:pt x="2496477" y="177896"/>
                </a:lnTo>
                <a:lnTo>
                  <a:pt x="2524846" y="179918"/>
                </a:lnTo>
                <a:lnTo>
                  <a:pt x="2553215" y="181939"/>
                </a:lnTo>
                <a:lnTo>
                  <a:pt x="2581584" y="183961"/>
                </a:lnTo>
                <a:lnTo>
                  <a:pt x="2609953" y="185982"/>
                </a:lnTo>
                <a:lnTo>
                  <a:pt x="2638322" y="188004"/>
                </a:lnTo>
                <a:lnTo>
                  <a:pt x="2666691" y="190025"/>
                </a:lnTo>
                <a:lnTo>
                  <a:pt x="2695060" y="192047"/>
                </a:lnTo>
                <a:lnTo>
                  <a:pt x="2723429" y="194069"/>
                </a:lnTo>
                <a:lnTo>
                  <a:pt x="2751798" y="196090"/>
                </a:lnTo>
                <a:lnTo>
                  <a:pt x="2780167" y="198112"/>
                </a:lnTo>
                <a:lnTo>
                  <a:pt x="2808536" y="200133"/>
                </a:lnTo>
                <a:lnTo>
                  <a:pt x="2836905" y="202155"/>
                </a:lnTo>
                <a:lnTo>
                  <a:pt x="2865274" y="204176"/>
                </a:lnTo>
                <a:lnTo>
                  <a:pt x="2893644" y="206198"/>
                </a:lnTo>
                <a:lnTo>
                  <a:pt x="2922013" y="208219"/>
                </a:lnTo>
                <a:lnTo>
                  <a:pt x="2950381" y="210241"/>
                </a:lnTo>
                <a:lnTo>
                  <a:pt x="2978750" y="212262"/>
                </a:lnTo>
                <a:lnTo>
                  <a:pt x="3007119" y="214284"/>
                </a:lnTo>
                <a:lnTo>
                  <a:pt x="3035489" y="216306"/>
                </a:lnTo>
                <a:lnTo>
                  <a:pt x="3063858" y="218327"/>
                </a:lnTo>
                <a:lnTo>
                  <a:pt x="3092227" y="220349"/>
                </a:lnTo>
                <a:lnTo>
                  <a:pt x="3120596" y="222370"/>
                </a:lnTo>
                <a:lnTo>
                  <a:pt x="3148965" y="224392"/>
                </a:lnTo>
                <a:lnTo>
                  <a:pt x="3177334" y="226413"/>
                </a:lnTo>
                <a:lnTo>
                  <a:pt x="3205703" y="228435"/>
                </a:lnTo>
                <a:lnTo>
                  <a:pt x="3234072" y="230456"/>
                </a:lnTo>
                <a:lnTo>
                  <a:pt x="3262441" y="232478"/>
                </a:lnTo>
                <a:lnTo>
                  <a:pt x="3290811" y="234500"/>
                </a:lnTo>
                <a:lnTo>
                  <a:pt x="3319180" y="236521"/>
                </a:lnTo>
                <a:lnTo>
                  <a:pt x="3347548" y="238543"/>
                </a:lnTo>
                <a:lnTo>
                  <a:pt x="3375917" y="240564"/>
                </a:lnTo>
                <a:lnTo>
                  <a:pt x="3404286" y="242586"/>
                </a:lnTo>
                <a:lnTo>
                  <a:pt x="3432655" y="244607"/>
                </a:lnTo>
                <a:lnTo>
                  <a:pt x="3461024" y="246629"/>
                </a:lnTo>
                <a:lnTo>
                  <a:pt x="3489394" y="248650"/>
                </a:lnTo>
                <a:lnTo>
                  <a:pt x="3517763" y="250672"/>
                </a:lnTo>
                <a:lnTo>
                  <a:pt x="3546132" y="252693"/>
                </a:lnTo>
                <a:lnTo>
                  <a:pt x="3574501" y="254715"/>
                </a:lnTo>
                <a:lnTo>
                  <a:pt x="3602870" y="256737"/>
                </a:lnTo>
                <a:lnTo>
                  <a:pt x="3631239" y="258758"/>
                </a:lnTo>
                <a:lnTo>
                  <a:pt x="3659608" y="260780"/>
                </a:lnTo>
                <a:lnTo>
                  <a:pt x="3687977" y="262801"/>
                </a:lnTo>
                <a:lnTo>
                  <a:pt x="3716346" y="264823"/>
                </a:lnTo>
                <a:lnTo>
                  <a:pt x="3744715" y="266844"/>
                </a:lnTo>
                <a:lnTo>
                  <a:pt x="3773084" y="268866"/>
                </a:lnTo>
                <a:lnTo>
                  <a:pt x="3801453" y="270887"/>
                </a:lnTo>
                <a:lnTo>
                  <a:pt x="3829822" y="272909"/>
                </a:lnTo>
                <a:lnTo>
                  <a:pt x="3858191" y="274931"/>
                </a:lnTo>
                <a:lnTo>
                  <a:pt x="3886560" y="276952"/>
                </a:lnTo>
                <a:lnTo>
                  <a:pt x="3914930" y="278974"/>
                </a:lnTo>
                <a:lnTo>
                  <a:pt x="3943298" y="280995"/>
                </a:lnTo>
                <a:lnTo>
                  <a:pt x="3971667" y="283017"/>
                </a:lnTo>
                <a:lnTo>
                  <a:pt x="4000039" y="284978"/>
                </a:lnTo>
                <a:lnTo>
                  <a:pt x="4028480" y="284978"/>
                </a:lnTo>
                <a:lnTo>
                  <a:pt x="4056921" y="284978"/>
                </a:lnTo>
                <a:lnTo>
                  <a:pt x="4085362" y="284978"/>
                </a:lnTo>
                <a:lnTo>
                  <a:pt x="4113803" y="284978"/>
                </a:lnTo>
                <a:lnTo>
                  <a:pt x="4142244" y="284978"/>
                </a:lnTo>
                <a:lnTo>
                  <a:pt x="4170685" y="284978"/>
                </a:lnTo>
                <a:lnTo>
                  <a:pt x="4199126" y="284978"/>
                </a:lnTo>
                <a:lnTo>
                  <a:pt x="4227567" y="284978"/>
                </a:lnTo>
                <a:lnTo>
                  <a:pt x="4256008" y="284978"/>
                </a:lnTo>
                <a:lnTo>
                  <a:pt x="4284449" y="284978"/>
                </a:lnTo>
                <a:lnTo>
                  <a:pt x="4312890" y="284978"/>
                </a:lnTo>
                <a:lnTo>
                  <a:pt x="4341331" y="284978"/>
                </a:lnTo>
                <a:lnTo>
                  <a:pt x="4369772" y="284978"/>
                </a:lnTo>
                <a:lnTo>
                  <a:pt x="4398213" y="284978"/>
                </a:lnTo>
                <a:lnTo>
                  <a:pt x="4426654" y="284978"/>
                </a:lnTo>
              </a:path>
            </a:pathLst>
          </a:custGeom>
          <a:noFill xmlns:a="http://schemas.openxmlformats.org/drawingml/2006/main"/>
          <a:ln xmlns:a="http://schemas.openxmlformats.org/drawingml/2006/main" w="13299">
            <a:solidFill>
              <a:srgbClr val="9CAAA0"/>
            </a:solidFill>
            <a:prstDash val="solid"/>
          </a:ln>
        </p:spPr>
      </p:sp>
      <p:sp>
        <p:nvSpPr>
          <p:cNvPr id="54" name="Diagram circle">
            <a:extLst xmlns:a="http://schemas.openxmlformats.org/drawingml/2006/main">
              <a:ext uri="{FF2B5EF4-FFF2-40B4-BE49-F238E27FC236}">
                <a16:creationId xmlns:a16="http://schemas.microsoft.com/office/drawing/2014/main" id="{477B5704-5E5F-4C6C-A8B0-6BAD0DE44593}"/>
              </a:ext>
            </a:extLst>
          </p:cNvPr>
          <p:cNvSpPr>
            <a:spLocks xmlns:a="http://schemas.openxmlformats.org/drawingml/2006/main" noGrp="1"/>
          </p:cNvSpPr>
          <p:nvPr/>
        </p:nvSpPr>
        <p:spPr>
          <a:xfrm xmlns:a="http://schemas.openxmlformats.org/drawingml/2006/main">
            <a:off x="9418475" y="4016393"/>
            <a:ext cx="75994" cy="75994"/>
          </a:xfrm>
          <a:prstGeom xmlns:a="http://schemas.openxmlformats.org/drawingml/2006/main" prst="ellipse">
            <a:avLst/>
          </a:prstGeom>
          <a:solidFill xmlns:a="http://schemas.openxmlformats.org/drawingml/2006/main">
            <a:srgbClr val="9CAAA0"/>
          </a:solidFill>
          <a:ln xmlns:a="http://schemas.openxmlformats.org/drawingml/2006/main" w="9499">
            <a:noFill/>
            <a:prstDash val="solid"/>
          </a:ln>
        </p:spPr>
      </p:sp>
      <p:sp>
        <p:nvSpPr>
          <p:cNvPr id="55" name="Distant target">
            <a:extLst xmlns:a="http://schemas.openxmlformats.org/drawingml/2006/main">
              <a:ext uri="{FF2B5EF4-FFF2-40B4-BE49-F238E27FC236}">
                <a16:creationId xmlns:a16="http://schemas.microsoft.com/office/drawing/2014/main" id="{95C8E585-E26D-4134-A0B3-350F94009D3D}"/>
              </a:ext>
            </a:extLst>
          </p:cNvPr>
          <p:cNvSpPr>
            <a:spLocks xmlns:a="http://schemas.openxmlformats.org/drawingml/2006/main" noGrp="1"/>
          </p:cNvSpPr>
          <p:nvPr/>
        </p:nvSpPr>
        <p:spPr>
          <a:xfrm xmlns:a="http://schemas.openxmlformats.org/drawingml/2006/main">
            <a:off x="13835629" y="3863658"/>
            <a:ext cx="2076865"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9CAAA0"/>
                </a:solidFill>
                <a:latin typeface="Arial"/>
                <a:ea typeface="Arial"/>
                <a:cs typeface="Arial"/>
              </a:defRPr>
            </a:pPr>
            <a:r>
              <a:rPr sz="2394" b="1">
                <a:solidFill>
                  <a:srgbClr val="9CAAA0"/>
                </a:solidFill>
                <a:latin typeface="Arial"/>
                <a:ea typeface="Arial"/>
                <a:cs typeface="Arial"/>
              </a:rPr>
              <a:t>Distant target</a:t>
            </a:r>
          </a:p>
        </p:txBody>
      </p:sp>
      <p:sp>
        <p:nvSpPr>
          <p:cNvPr id="56" name="Longer detour and alignment">
            <a:extLst xmlns:a="http://schemas.openxmlformats.org/drawingml/2006/main">
              <a:ext uri="{FF2B5EF4-FFF2-40B4-BE49-F238E27FC236}">
                <a16:creationId xmlns:a16="http://schemas.microsoft.com/office/drawing/2014/main" id="{85ECC2AA-2134-4427-A389-1C4754797FF6}"/>
              </a:ext>
            </a:extLst>
          </p:cNvPr>
          <p:cNvSpPr>
            <a:spLocks xmlns:a="http://schemas.openxmlformats.org/drawingml/2006/main" noGrp="1"/>
          </p:cNvSpPr>
          <p:nvPr/>
        </p:nvSpPr>
        <p:spPr>
          <a:xfrm xmlns:a="http://schemas.openxmlformats.org/drawingml/2006/main">
            <a:off x="13835629" y="4519288"/>
            <a:ext cx="3135907" cy="329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226"/>
              </a:lnSpc>
              <a:spcBef>
                <a:spcPts val="0"/>
              </a:spcBef>
              <a:spcAft>
                <a:spcPts val="0"/>
              </a:spcAft>
              <a:buNone/>
              <a:defRPr sz="1855" b="0">
                <a:solidFill>
                  <a:srgbClr val="75827C"/>
                </a:solidFill>
                <a:latin typeface="Arial"/>
                <a:ea typeface="Arial"/>
                <a:cs typeface="Arial"/>
              </a:defRPr>
            </a:pPr>
            <a:r>
              <a:rPr sz="1855" b="0">
                <a:solidFill>
                  <a:srgbClr val="75827C"/>
                </a:solidFill>
                <a:latin typeface="Arial"/>
                <a:ea typeface="Arial"/>
                <a:cs typeface="Arial"/>
              </a:rPr>
              <a:t>Longer detour and alignment</a:t>
            </a:r>
          </a:p>
        </p:txBody>
      </p:sp>
      <p:sp>
        <p:nvSpPr>
          <p:cNvPr id="57" name="Lower endgame priority">
            <a:extLst xmlns:a="http://schemas.openxmlformats.org/drawingml/2006/main">
              <a:ext uri="{FF2B5EF4-FFF2-40B4-BE49-F238E27FC236}">
                <a16:creationId xmlns:a16="http://schemas.microsoft.com/office/drawing/2014/main" id="{ECE36CFE-A75C-4C1D-AB51-91D3D21BE892}"/>
              </a:ext>
            </a:extLst>
          </p:cNvPr>
          <p:cNvSpPr>
            <a:spLocks xmlns:a="http://schemas.openxmlformats.org/drawingml/2006/main" noGrp="1"/>
          </p:cNvSpPr>
          <p:nvPr/>
        </p:nvSpPr>
        <p:spPr>
          <a:xfrm xmlns:a="http://schemas.openxmlformats.org/drawingml/2006/main">
            <a:off x="13835629" y="4889707"/>
            <a:ext cx="279888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Lower endgame priority</a:t>
            </a:r>
          </a:p>
        </p:txBody>
      </p:sp>
      <p:sp>
        <p:nvSpPr>
          <p:cNvPr id="58" name="Diagram path">
            <a:extLst xmlns:a="http://schemas.openxmlformats.org/drawingml/2006/main">
              <a:ext uri="{FF2B5EF4-FFF2-40B4-BE49-F238E27FC236}">
                <a16:creationId xmlns:a16="http://schemas.microsoft.com/office/drawing/2014/main" id="{D028E370-E48E-4E31-80C3-E354466B069A}"/>
              </a:ext>
            </a:extLst>
          </p:cNvPr>
          <p:cNvSpPr>
            <a:spLocks xmlns:a="http://schemas.openxmlformats.org/drawingml/2006/main" noGrp="1"/>
          </p:cNvSpPr>
          <p:nvPr/>
        </p:nvSpPr>
        <p:spPr>
          <a:xfrm xmlns:a="http://schemas.openxmlformats.org/drawingml/2006/main">
            <a:off x="11840785" y="6068233"/>
            <a:ext cx="2042340" cy="740942"/>
          </a:xfrm>
          <a:custGeom xmlns:a="http://schemas.openxmlformats.org/drawingml/2006/main">
            <a:pathLst>
              <a:path w="2042340" h="740942">
                <a:moveTo>
                  <a:pt x="0" y="0"/>
                </a:moveTo>
                <a:lnTo>
                  <a:pt x="25685" y="11785"/>
                </a:lnTo>
                <a:lnTo>
                  <a:pt x="51369" y="23570"/>
                </a:lnTo>
                <a:lnTo>
                  <a:pt x="77054" y="35354"/>
                </a:lnTo>
                <a:lnTo>
                  <a:pt x="102738" y="47139"/>
                </a:lnTo>
                <a:lnTo>
                  <a:pt x="128423" y="58923"/>
                </a:lnTo>
                <a:lnTo>
                  <a:pt x="154107" y="70708"/>
                </a:lnTo>
                <a:lnTo>
                  <a:pt x="179792" y="82493"/>
                </a:lnTo>
                <a:lnTo>
                  <a:pt x="205477" y="94277"/>
                </a:lnTo>
                <a:lnTo>
                  <a:pt x="231161" y="106062"/>
                </a:lnTo>
                <a:lnTo>
                  <a:pt x="256846" y="117847"/>
                </a:lnTo>
                <a:lnTo>
                  <a:pt x="282530" y="129631"/>
                </a:lnTo>
                <a:lnTo>
                  <a:pt x="308215" y="141416"/>
                </a:lnTo>
                <a:lnTo>
                  <a:pt x="333899" y="153201"/>
                </a:lnTo>
                <a:lnTo>
                  <a:pt x="359584" y="164986"/>
                </a:lnTo>
                <a:lnTo>
                  <a:pt x="385268" y="176770"/>
                </a:lnTo>
                <a:lnTo>
                  <a:pt x="410953" y="188555"/>
                </a:lnTo>
                <a:lnTo>
                  <a:pt x="436638" y="200340"/>
                </a:lnTo>
                <a:lnTo>
                  <a:pt x="462322" y="212124"/>
                </a:lnTo>
                <a:lnTo>
                  <a:pt x="488007" y="223909"/>
                </a:lnTo>
                <a:lnTo>
                  <a:pt x="513691" y="235694"/>
                </a:lnTo>
                <a:lnTo>
                  <a:pt x="539376" y="247478"/>
                </a:lnTo>
                <a:lnTo>
                  <a:pt x="565060" y="259263"/>
                </a:lnTo>
                <a:lnTo>
                  <a:pt x="590745" y="271048"/>
                </a:lnTo>
                <a:lnTo>
                  <a:pt x="616430" y="282832"/>
                </a:lnTo>
                <a:lnTo>
                  <a:pt x="642114" y="294617"/>
                </a:lnTo>
                <a:lnTo>
                  <a:pt x="667799" y="306402"/>
                </a:lnTo>
                <a:lnTo>
                  <a:pt x="693483" y="318187"/>
                </a:lnTo>
                <a:lnTo>
                  <a:pt x="719168" y="329971"/>
                </a:lnTo>
                <a:lnTo>
                  <a:pt x="744852" y="341756"/>
                </a:lnTo>
                <a:lnTo>
                  <a:pt x="770537" y="353541"/>
                </a:lnTo>
                <a:lnTo>
                  <a:pt x="796221" y="365325"/>
                </a:lnTo>
                <a:lnTo>
                  <a:pt x="821906" y="377110"/>
                </a:lnTo>
                <a:lnTo>
                  <a:pt x="847591" y="388895"/>
                </a:lnTo>
                <a:lnTo>
                  <a:pt x="873275" y="400679"/>
                </a:lnTo>
                <a:lnTo>
                  <a:pt x="898960" y="412464"/>
                </a:lnTo>
                <a:lnTo>
                  <a:pt x="924645" y="424249"/>
                </a:lnTo>
                <a:lnTo>
                  <a:pt x="950329" y="436033"/>
                </a:lnTo>
                <a:lnTo>
                  <a:pt x="976014" y="447818"/>
                </a:lnTo>
                <a:lnTo>
                  <a:pt x="1001698" y="459603"/>
                </a:lnTo>
                <a:lnTo>
                  <a:pt x="1027383" y="471387"/>
                </a:lnTo>
                <a:lnTo>
                  <a:pt x="1053067" y="483172"/>
                </a:lnTo>
                <a:lnTo>
                  <a:pt x="1078752" y="494957"/>
                </a:lnTo>
                <a:lnTo>
                  <a:pt x="1104436" y="506741"/>
                </a:lnTo>
                <a:lnTo>
                  <a:pt x="1130121" y="518526"/>
                </a:lnTo>
                <a:lnTo>
                  <a:pt x="1155806" y="530311"/>
                </a:lnTo>
                <a:lnTo>
                  <a:pt x="1181490" y="542095"/>
                </a:lnTo>
                <a:lnTo>
                  <a:pt x="1207174" y="553880"/>
                </a:lnTo>
                <a:lnTo>
                  <a:pt x="1232859" y="565665"/>
                </a:lnTo>
                <a:lnTo>
                  <a:pt x="1258544" y="577449"/>
                </a:lnTo>
                <a:lnTo>
                  <a:pt x="1284228" y="589234"/>
                </a:lnTo>
                <a:lnTo>
                  <a:pt x="1309913" y="601019"/>
                </a:lnTo>
                <a:lnTo>
                  <a:pt x="1335598" y="612804"/>
                </a:lnTo>
                <a:lnTo>
                  <a:pt x="1361282" y="624588"/>
                </a:lnTo>
                <a:lnTo>
                  <a:pt x="1386967" y="636373"/>
                </a:lnTo>
                <a:lnTo>
                  <a:pt x="1412651" y="648158"/>
                </a:lnTo>
                <a:lnTo>
                  <a:pt x="1438336" y="659942"/>
                </a:lnTo>
                <a:lnTo>
                  <a:pt x="1464020" y="671727"/>
                </a:lnTo>
                <a:lnTo>
                  <a:pt x="1489705" y="683512"/>
                </a:lnTo>
                <a:lnTo>
                  <a:pt x="1515389" y="695296"/>
                </a:lnTo>
                <a:lnTo>
                  <a:pt x="1541074" y="707081"/>
                </a:lnTo>
                <a:lnTo>
                  <a:pt x="1566759" y="718866"/>
                </a:lnTo>
                <a:lnTo>
                  <a:pt x="1592443" y="730650"/>
                </a:lnTo>
                <a:lnTo>
                  <a:pt x="1618454" y="740942"/>
                </a:lnTo>
                <a:lnTo>
                  <a:pt x="1646713" y="740942"/>
                </a:lnTo>
                <a:lnTo>
                  <a:pt x="1674972" y="740942"/>
                </a:lnTo>
                <a:lnTo>
                  <a:pt x="1703231" y="740942"/>
                </a:lnTo>
                <a:lnTo>
                  <a:pt x="1731490" y="740942"/>
                </a:lnTo>
                <a:lnTo>
                  <a:pt x="1759749" y="740942"/>
                </a:lnTo>
                <a:lnTo>
                  <a:pt x="1788008" y="740942"/>
                </a:lnTo>
                <a:lnTo>
                  <a:pt x="1816268" y="740942"/>
                </a:lnTo>
                <a:lnTo>
                  <a:pt x="1844527" y="740942"/>
                </a:lnTo>
                <a:lnTo>
                  <a:pt x="1872786" y="740942"/>
                </a:lnTo>
                <a:lnTo>
                  <a:pt x="1901045" y="740942"/>
                </a:lnTo>
                <a:lnTo>
                  <a:pt x="1929304" y="740942"/>
                </a:lnTo>
                <a:lnTo>
                  <a:pt x="1957563" y="740942"/>
                </a:lnTo>
                <a:lnTo>
                  <a:pt x="1985822" y="740942"/>
                </a:lnTo>
                <a:lnTo>
                  <a:pt x="2014081" y="740942"/>
                </a:lnTo>
                <a:lnTo>
                  <a:pt x="2042340" y="740942"/>
                </a:lnTo>
              </a:path>
            </a:pathLst>
          </a:custGeom>
          <a:noFill xmlns:a="http://schemas.openxmlformats.org/drawingml/2006/main"/>
          <a:ln xmlns:a="http://schemas.openxmlformats.org/drawingml/2006/main" w="13299">
            <a:solidFill>
              <a:srgbClr val="34695B"/>
            </a:solidFill>
            <a:prstDash val="solid"/>
          </a:ln>
        </p:spPr>
      </p:sp>
      <p:sp>
        <p:nvSpPr>
          <p:cNvPr id="59" name="Diagram circle">
            <a:extLst xmlns:a="http://schemas.openxmlformats.org/drawingml/2006/main">
              <a:ext uri="{FF2B5EF4-FFF2-40B4-BE49-F238E27FC236}">
                <a16:creationId xmlns:a16="http://schemas.microsoft.com/office/drawing/2014/main" id="{F4E55CCA-A6DA-4F41-9A99-0EA8652FC1C5}"/>
              </a:ext>
            </a:extLst>
          </p:cNvPr>
          <p:cNvSpPr>
            <a:spLocks xmlns:a="http://schemas.openxmlformats.org/drawingml/2006/main" noGrp="1"/>
          </p:cNvSpPr>
          <p:nvPr/>
        </p:nvSpPr>
        <p:spPr>
          <a:xfrm xmlns:a="http://schemas.openxmlformats.org/drawingml/2006/main">
            <a:off x="11802788" y="6030235"/>
            <a:ext cx="75994" cy="75994"/>
          </a:xfrm>
          <a:prstGeom xmlns:a="http://schemas.openxmlformats.org/drawingml/2006/main" prst="ellipse">
            <a:avLst/>
          </a:prstGeom>
          <a:solidFill xmlns:a="http://schemas.openxmlformats.org/drawingml/2006/main">
            <a:srgbClr val="34695B"/>
          </a:solidFill>
          <a:ln xmlns:a="http://schemas.openxmlformats.org/drawingml/2006/main" w="9499">
            <a:noFill/>
            <a:prstDash val="solid"/>
          </a:ln>
        </p:spPr>
      </p:sp>
      <p:sp>
        <p:nvSpPr>
          <p:cNvPr id="60" name="Near-line target">
            <a:extLst xmlns:a="http://schemas.openxmlformats.org/drawingml/2006/main">
              <a:ext uri="{FF2B5EF4-FFF2-40B4-BE49-F238E27FC236}">
                <a16:creationId xmlns:a16="http://schemas.microsoft.com/office/drawing/2014/main" id="{585E96A2-14BE-4E91-818E-A21299725B7F}"/>
              </a:ext>
            </a:extLst>
          </p:cNvPr>
          <p:cNvSpPr>
            <a:spLocks xmlns:a="http://schemas.openxmlformats.org/drawingml/2006/main" noGrp="1"/>
          </p:cNvSpPr>
          <p:nvPr/>
        </p:nvSpPr>
        <p:spPr>
          <a:xfrm xmlns:a="http://schemas.openxmlformats.org/drawingml/2006/main">
            <a:off x="13835629" y="6333465"/>
            <a:ext cx="2347415" cy="42556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72"/>
              </a:lnSpc>
              <a:spcBef>
                <a:spcPts val="0"/>
              </a:spcBef>
              <a:spcAft>
                <a:spcPts val="0"/>
              </a:spcAft>
              <a:buNone/>
              <a:defRPr sz="2394" b="1">
                <a:solidFill>
                  <a:srgbClr val="34695B"/>
                </a:solidFill>
                <a:latin typeface="Arial"/>
                <a:ea typeface="Arial"/>
                <a:cs typeface="Arial"/>
              </a:defRPr>
            </a:pPr>
            <a:r>
              <a:rPr sz="2394" b="1">
                <a:solidFill>
                  <a:srgbClr val="34695B"/>
                </a:solidFill>
                <a:latin typeface="Arial"/>
                <a:ea typeface="Arial"/>
                <a:cs typeface="Arial"/>
              </a:rPr>
              <a:t>Near-line target</a:t>
            </a:r>
          </a:p>
        </p:txBody>
      </p:sp>
      <p:sp>
        <p:nvSpPr>
          <p:cNvPr id="61" name="Cross the line and release">
            <a:extLst xmlns:a="http://schemas.openxmlformats.org/drawingml/2006/main">
              <a:ext uri="{FF2B5EF4-FFF2-40B4-BE49-F238E27FC236}">
                <a16:creationId xmlns:a16="http://schemas.microsoft.com/office/drawing/2014/main" id="{DF1F8769-9FAA-44C0-84FD-5B5D2A9BA403}"/>
              </a:ext>
            </a:extLst>
          </p:cNvPr>
          <p:cNvSpPr>
            <a:spLocks xmlns:a="http://schemas.openxmlformats.org/drawingml/2006/main" noGrp="1"/>
          </p:cNvSpPr>
          <p:nvPr/>
        </p:nvSpPr>
        <p:spPr>
          <a:xfrm xmlns:a="http://schemas.openxmlformats.org/drawingml/2006/main">
            <a:off x="13835629" y="6970044"/>
            <a:ext cx="3093494"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Cross the line and release</a:t>
            </a:r>
          </a:p>
        </p:txBody>
      </p:sp>
      <p:sp>
        <p:nvSpPr>
          <p:cNvPr id="62" name="Leave time to brake">
            <a:extLst xmlns:a="http://schemas.openxmlformats.org/drawingml/2006/main">
              <a:ext uri="{FF2B5EF4-FFF2-40B4-BE49-F238E27FC236}">
                <a16:creationId xmlns:a16="http://schemas.microsoft.com/office/drawing/2014/main" id="{E513DEBA-6F84-4E3D-A743-39431C36E5D0}"/>
              </a:ext>
            </a:extLst>
          </p:cNvPr>
          <p:cNvSpPr>
            <a:spLocks xmlns:a="http://schemas.openxmlformats.org/drawingml/2006/main" noGrp="1"/>
          </p:cNvSpPr>
          <p:nvPr/>
        </p:nvSpPr>
        <p:spPr>
          <a:xfrm xmlns:a="http://schemas.openxmlformats.org/drawingml/2006/main">
            <a:off x="13835629" y="7359514"/>
            <a:ext cx="2366572" cy="3590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423"/>
              </a:lnSpc>
              <a:spcBef>
                <a:spcPts val="0"/>
              </a:spcBef>
              <a:spcAft>
                <a:spcPts val="0"/>
              </a:spcAft>
              <a:buNone/>
              <a:defRPr sz="2020" b="0">
                <a:solidFill>
                  <a:srgbClr val="75827C"/>
                </a:solidFill>
                <a:latin typeface="Arial"/>
                <a:ea typeface="Arial"/>
                <a:cs typeface="Arial"/>
              </a:defRPr>
            </a:pPr>
            <a:r>
              <a:rPr sz="2020" b="0">
                <a:solidFill>
                  <a:srgbClr val="75827C"/>
                </a:solidFill>
                <a:latin typeface="Arial"/>
                <a:ea typeface="Arial"/>
                <a:cs typeface="Arial"/>
              </a:rPr>
              <a:t>Leave time to brake</a:t>
            </a:r>
          </a:p>
        </p:txBody>
      </p:sp>
    </p:spTree>
    <p:extLst>
      <p:ext uri="{BB962C8B-B14F-4D97-AF65-F5344CB8AC3E}">
        <p14:creationId xmlns:p14="http://schemas.microsoft.com/office/powerpoint/2010/main" val="1672884760"/>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33" name="Section rule">
            <a:extLst xmlns:a="http://schemas.openxmlformats.org/drawingml/2006/main">
              <a:ext uri="{FF2B5EF4-FFF2-40B4-BE49-F238E27FC236}">
                <a16:creationId xmlns:a16="http://schemas.microsoft.com/office/drawing/2014/main" id="{F17B1FF3-192F-4DDD-BF38-71EF06A79F6E}"/>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E98F47B3-4228-4C00-A342-B75CBE20B362}"/>
              </a:ext>
            </a:extLst>
          </p:cNvPr>
          <p:cNvSpPr>
            <a:spLocks xmlns:a="http://schemas.openxmlformats.org/drawingml/2006/main" noGrp="1"/>
          </p:cNvSpPr>
          <p:nvPr/>
        </p:nvSpPr>
        <p:spPr>
          <a:xfrm xmlns:a="http://schemas.openxmlformats.org/drawingml/2006/main">
            <a:off x="857250" y="768846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3" name="Slide title">
            <a:extLst xmlns:a="http://schemas.openxmlformats.org/drawingml/2006/main">
              <a:ext uri="{FF2B5EF4-FFF2-40B4-BE49-F238E27FC236}">
                <a16:creationId xmlns:a16="http://schemas.microsoft.com/office/drawing/2014/main" id="{3312CFDA-0226-4142-901A-F9956792A585}"/>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Implementation plan: one reliable push cycle first</a:t>
            </a:r>
          </a:p>
        </p:txBody>
      </p:sp>
      <p:sp>
        <p:nvSpPr>
          <p:cNvPr id="4" name="After agreeing on parameters and interfaces, develop control and ">
            <a:extLst xmlns:a="http://schemas.openxmlformats.org/drawingml/2006/main">
              <a:ext uri="{FF2B5EF4-FFF2-40B4-BE49-F238E27FC236}">
                <a16:creationId xmlns:a16="http://schemas.microsoft.com/office/drawing/2014/main" id="{8A805B08-72AD-4EB6-BABB-327E9D92307F}"/>
              </a:ext>
            </a:extLst>
          </p:cNvPr>
          <p:cNvSpPr>
            <a:spLocks xmlns:a="http://schemas.openxmlformats.org/drawingml/2006/main" noGrp="1"/>
          </p:cNvSpPr>
          <p:nvPr/>
        </p:nvSpPr>
        <p:spPr>
          <a:xfrm xmlns:a="http://schemas.openxmlformats.org/drawingml/2006/main">
            <a:off x="857250" y="2392561"/>
            <a:ext cx="16649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00"/>
              </a:lnSpc>
              <a:spcBef>
                <a:spcPts val="0"/>
              </a:spcBef>
              <a:spcAft>
                <a:spcPts val="0"/>
              </a:spcAft>
              <a:buNone/>
              <a:defRPr sz="2400" b="0">
                <a:solidFill>
                  <a:srgbClr val="718076"/>
                </a:solidFill>
                <a:latin typeface="Arial"/>
                <a:ea typeface="Arial"/>
                <a:cs typeface="Arial"/>
              </a:defRPr>
            </a:pPr>
            <a:r>
              <a:rPr sz="2400" b="0">
                <a:solidFill>
                  <a:srgbClr val="718076"/>
                </a:solidFill>
                <a:latin typeface="Arial"/>
                <a:ea typeface="Arial"/>
                <a:cs typeface="Arial"/>
              </a:rPr>
              <a:t>After agreeing on parameters and interfaces, develop control and vision in parallel.</a:t>
            </a:r>
          </a:p>
        </p:txBody>
      </p:sp>
      <p:sp>
        <p:nvSpPr>
          <p:cNvPr id="5" name="Module tests">
            <a:extLst xmlns:a="http://schemas.openxmlformats.org/drawingml/2006/main">
              <a:ext uri="{FF2B5EF4-FFF2-40B4-BE49-F238E27FC236}">
                <a16:creationId xmlns:a16="http://schemas.microsoft.com/office/drawing/2014/main" id="{A5774852-4749-46E5-8B9B-780427BA7237}"/>
              </a:ext>
            </a:extLst>
          </p:cNvPr>
          <p:cNvSpPr>
            <a:spLocks xmlns:a="http://schemas.openxmlformats.org/drawingml/2006/main" noGrp="1"/>
          </p:cNvSpPr>
          <p:nvPr/>
        </p:nvSpPr>
        <p:spPr>
          <a:xfrm xmlns:a="http://schemas.openxmlformats.org/drawingml/2006/main">
            <a:off x="857250" y="8050411"/>
            <a:ext cx="7886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Module tests</a:t>
            </a:r>
          </a:p>
        </p:txBody>
      </p:sp>
      <p:sp>
        <p:nvSpPr>
          <p:cNvPr id="6" name="Test speed control, detection and fault handling separately.">
            <a:extLst xmlns:a="http://schemas.openxmlformats.org/drawingml/2006/main">
              <a:ext uri="{FF2B5EF4-FFF2-40B4-BE49-F238E27FC236}">
                <a16:creationId xmlns:a16="http://schemas.microsoft.com/office/drawing/2014/main" id="{DF0C2A2B-2EF6-4EB6-9AF8-25D8760B1F37}"/>
              </a:ext>
            </a:extLst>
          </p:cNvPr>
          <p:cNvSpPr>
            <a:spLocks xmlns:a="http://schemas.openxmlformats.org/drawingml/2006/main" noGrp="1"/>
          </p:cNvSpPr>
          <p:nvPr/>
        </p:nvSpPr>
        <p:spPr>
          <a:xfrm xmlns:a="http://schemas.openxmlformats.org/drawingml/2006/main">
            <a:off x="857250" y="8688586"/>
            <a:ext cx="7886700" cy="3867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Test speed control, detection and fault handling separately.</a:t>
            </a:r>
          </a:p>
        </p:txBody>
      </p:sp>
      <p:sp>
        <p:nvSpPr>
          <p:cNvPr id="7" name="System tests">
            <a:extLst xmlns:a="http://schemas.openxmlformats.org/drawingml/2006/main">
              <a:ext uri="{FF2B5EF4-FFF2-40B4-BE49-F238E27FC236}">
                <a16:creationId xmlns:a16="http://schemas.microsoft.com/office/drawing/2014/main" id="{6782706F-A3B5-4E3B-B0A2-7AC894AC62FC}"/>
              </a:ext>
            </a:extLst>
          </p:cNvPr>
          <p:cNvSpPr>
            <a:spLocks xmlns:a="http://schemas.openxmlformats.org/drawingml/2006/main" noGrp="1"/>
          </p:cNvSpPr>
          <p:nvPr/>
        </p:nvSpPr>
        <p:spPr>
          <a:xfrm xmlns:a="http://schemas.openxmlformats.org/drawingml/2006/main">
            <a:off x="9620250" y="8050411"/>
            <a:ext cx="7886700" cy="4267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00"/>
              </a:lnSpc>
              <a:spcBef>
                <a:spcPts val="0"/>
              </a:spcBef>
              <a:spcAft>
                <a:spcPts val="0"/>
              </a:spcAft>
              <a:buNone/>
              <a:defRPr sz="2400" b="1">
                <a:solidFill>
                  <a:srgbClr val="34695B"/>
                </a:solidFill>
                <a:latin typeface="Arial"/>
                <a:ea typeface="Arial"/>
                <a:cs typeface="Arial"/>
              </a:defRPr>
            </a:pPr>
            <a:r>
              <a:rPr sz="2400" b="1">
                <a:solidFill>
                  <a:srgbClr val="34695B"/>
                </a:solidFill>
                <a:latin typeface="Arial"/>
                <a:ea typeface="Arial"/>
                <a:cs typeface="Arial"/>
              </a:rPr>
              <a:t>System tests</a:t>
            </a:r>
          </a:p>
        </p:txBody>
      </p:sp>
      <p:sp>
        <p:nvSpPr>
          <p:cNvPr id="8" name="Stabilize one full cycle, then add midgame and endgame decisions.">
            <a:extLst xmlns:a="http://schemas.openxmlformats.org/drawingml/2006/main">
              <a:ext uri="{FF2B5EF4-FFF2-40B4-BE49-F238E27FC236}">
                <a16:creationId xmlns:a16="http://schemas.microsoft.com/office/drawing/2014/main" id="{A81616DD-ACD1-4250-B7C3-9F8CCD78AFBC}"/>
              </a:ext>
            </a:extLst>
          </p:cNvPr>
          <p:cNvSpPr>
            <a:spLocks xmlns:a="http://schemas.openxmlformats.org/drawingml/2006/main" noGrp="1"/>
          </p:cNvSpPr>
          <p:nvPr/>
        </p:nvSpPr>
        <p:spPr>
          <a:xfrm xmlns:a="http://schemas.openxmlformats.org/drawingml/2006/main">
            <a:off x="9620250" y="8688586"/>
            <a:ext cx="7886700" cy="8701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Stabilize one full cycle, then add midgame and endgame</a:t>
            </a:r>
          </a:p>
          <a:p xmlns:a="http://schemas.openxmlformats.org/drawingml/2006/main">
            <a:pPr algn="l">
              <a:lnSpc>
                <a:spcPts val="3806"/>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decisions.</a:t>
            </a:r>
          </a:p>
        </p:txBody>
      </p:sp>
      <p:sp>
        <p:nvSpPr>
          <p:cNvPr id="9" name="Diagram path">
            <a:extLst xmlns:a="http://schemas.openxmlformats.org/drawingml/2006/main">
              <a:ext uri="{FF2B5EF4-FFF2-40B4-BE49-F238E27FC236}">
                <a16:creationId xmlns:a16="http://schemas.microsoft.com/office/drawing/2014/main" id="{EF022FD5-6132-4821-9BCD-92014C77910A}"/>
              </a:ext>
            </a:extLst>
          </p:cNvPr>
          <p:cNvSpPr>
            <a:spLocks xmlns:a="http://schemas.openxmlformats.org/drawingml/2006/main" noGrp="1"/>
          </p:cNvSpPr>
          <p:nvPr/>
        </p:nvSpPr>
        <p:spPr>
          <a:xfrm xmlns:a="http://schemas.openxmlformats.org/drawingml/2006/main">
            <a:off x="3238500" y="4183261"/>
            <a:ext cx="1323975" cy="904875"/>
          </a:xfrm>
          <a:custGeom xmlns:a="http://schemas.openxmlformats.org/drawingml/2006/main">
            <a:pathLst>
              <a:path w="1323975" h="904875">
                <a:moveTo>
                  <a:pt x="0" y="904875"/>
                </a:moveTo>
                <a:lnTo>
                  <a:pt x="28575" y="904875"/>
                </a:lnTo>
                <a:lnTo>
                  <a:pt x="57150" y="904875"/>
                </a:lnTo>
                <a:lnTo>
                  <a:pt x="85725" y="904875"/>
                </a:lnTo>
                <a:lnTo>
                  <a:pt x="114300" y="904875"/>
                </a:lnTo>
                <a:lnTo>
                  <a:pt x="142875" y="904875"/>
                </a:lnTo>
                <a:lnTo>
                  <a:pt x="171450" y="904875"/>
                </a:lnTo>
                <a:lnTo>
                  <a:pt x="200025" y="904875"/>
                </a:lnTo>
                <a:lnTo>
                  <a:pt x="228600" y="904875"/>
                </a:lnTo>
                <a:lnTo>
                  <a:pt x="257175" y="904875"/>
                </a:lnTo>
                <a:lnTo>
                  <a:pt x="285750" y="904875"/>
                </a:lnTo>
                <a:lnTo>
                  <a:pt x="314325" y="904875"/>
                </a:lnTo>
                <a:lnTo>
                  <a:pt x="342900" y="904875"/>
                </a:lnTo>
                <a:lnTo>
                  <a:pt x="371475" y="904875"/>
                </a:lnTo>
                <a:lnTo>
                  <a:pt x="400050" y="904875"/>
                </a:lnTo>
                <a:lnTo>
                  <a:pt x="428625" y="904875"/>
                </a:lnTo>
                <a:lnTo>
                  <a:pt x="457200" y="904875"/>
                </a:lnTo>
                <a:lnTo>
                  <a:pt x="485775" y="904875"/>
                </a:lnTo>
                <a:lnTo>
                  <a:pt x="514350" y="904875"/>
                </a:lnTo>
                <a:lnTo>
                  <a:pt x="542925" y="904875"/>
                </a:lnTo>
                <a:lnTo>
                  <a:pt x="571500" y="904875"/>
                </a:lnTo>
                <a:lnTo>
                  <a:pt x="600075" y="904875"/>
                </a:lnTo>
                <a:lnTo>
                  <a:pt x="628650" y="904875"/>
                </a:lnTo>
                <a:lnTo>
                  <a:pt x="657225" y="904875"/>
                </a:lnTo>
                <a:lnTo>
                  <a:pt x="685800" y="904875"/>
                </a:lnTo>
                <a:lnTo>
                  <a:pt x="714375" y="904875"/>
                </a:lnTo>
                <a:lnTo>
                  <a:pt x="723900" y="885825"/>
                </a:lnTo>
                <a:lnTo>
                  <a:pt x="723900" y="857250"/>
                </a:lnTo>
                <a:lnTo>
                  <a:pt x="723900" y="828675"/>
                </a:lnTo>
                <a:lnTo>
                  <a:pt x="723900" y="800100"/>
                </a:lnTo>
                <a:lnTo>
                  <a:pt x="723900" y="771525"/>
                </a:lnTo>
                <a:lnTo>
                  <a:pt x="723900" y="742950"/>
                </a:lnTo>
                <a:lnTo>
                  <a:pt x="723900" y="714375"/>
                </a:lnTo>
                <a:lnTo>
                  <a:pt x="723900" y="685800"/>
                </a:lnTo>
                <a:lnTo>
                  <a:pt x="723900" y="657225"/>
                </a:lnTo>
                <a:lnTo>
                  <a:pt x="723900" y="628650"/>
                </a:lnTo>
                <a:lnTo>
                  <a:pt x="723900" y="600075"/>
                </a:lnTo>
                <a:lnTo>
                  <a:pt x="723900" y="571500"/>
                </a:lnTo>
                <a:lnTo>
                  <a:pt x="723900" y="542925"/>
                </a:lnTo>
                <a:lnTo>
                  <a:pt x="723900" y="514350"/>
                </a:lnTo>
                <a:lnTo>
                  <a:pt x="723900" y="485775"/>
                </a:lnTo>
                <a:lnTo>
                  <a:pt x="723900" y="457200"/>
                </a:lnTo>
                <a:lnTo>
                  <a:pt x="723900" y="428625"/>
                </a:lnTo>
                <a:lnTo>
                  <a:pt x="723900" y="400050"/>
                </a:lnTo>
                <a:lnTo>
                  <a:pt x="723900" y="371475"/>
                </a:lnTo>
                <a:lnTo>
                  <a:pt x="723900" y="342900"/>
                </a:lnTo>
                <a:lnTo>
                  <a:pt x="723900" y="314325"/>
                </a:lnTo>
                <a:lnTo>
                  <a:pt x="723900" y="285750"/>
                </a:lnTo>
                <a:lnTo>
                  <a:pt x="723900" y="257175"/>
                </a:lnTo>
                <a:lnTo>
                  <a:pt x="723900" y="228600"/>
                </a:lnTo>
                <a:lnTo>
                  <a:pt x="723900" y="200025"/>
                </a:lnTo>
                <a:lnTo>
                  <a:pt x="723900" y="171450"/>
                </a:lnTo>
                <a:lnTo>
                  <a:pt x="723900" y="142875"/>
                </a:lnTo>
                <a:lnTo>
                  <a:pt x="723900" y="114300"/>
                </a:lnTo>
                <a:lnTo>
                  <a:pt x="723900" y="85725"/>
                </a:lnTo>
                <a:lnTo>
                  <a:pt x="723900" y="57150"/>
                </a:lnTo>
                <a:lnTo>
                  <a:pt x="723900" y="28575"/>
                </a:lnTo>
                <a:lnTo>
                  <a:pt x="723900" y="0"/>
                </a:lnTo>
                <a:lnTo>
                  <a:pt x="752475" y="0"/>
                </a:lnTo>
                <a:lnTo>
                  <a:pt x="781050" y="0"/>
                </a:lnTo>
                <a:lnTo>
                  <a:pt x="809625" y="0"/>
                </a:lnTo>
                <a:lnTo>
                  <a:pt x="838200" y="0"/>
                </a:lnTo>
                <a:lnTo>
                  <a:pt x="866775" y="0"/>
                </a:lnTo>
                <a:lnTo>
                  <a:pt x="895350" y="0"/>
                </a:lnTo>
                <a:lnTo>
                  <a:pt x="923925" y="0"/>
                </a:lnTo>
                <a:lnTo>
                  <a:pt x="952500" y="0"/>
                </a:lnTo>
                <a:lnTo>
                  <a:pt x="981075" y="0"/>
                </a:lnTo>
                <a:lnTo>
                  <a:pt x="1009650" y="0"/>
                </a:lnTo>
                <a:lnTo>
                  <a:pt x="1038225" y="0"/>
                </a:lnTo>
                <a:lnTo>
                  <a:pt x="1066800" y="0"/>
                </a:lnTo>
                <a:lnTo>
                  <a:pt x="1095375" y="0"/>
                </a:lnTo>
                <a:lnTo>
                  <a:pt x="1123950" y="0"/>
                </a:lnTo>
                <a:lnTo>
                  <a:pt x="1152525" y="0"/>
                </a:lnTo>
                <a:lnTo>
                  <a:pt x="1181100" y="0"/>
                </a:lnTo>
                <a:lnTo>
                  <a:pt x="1209675" y="0"/>
                </a:lnTo>
                <a:lnTo>
                  <a:pt x="1238250" y="0"/>
                </a:lnTo>
                <a:lnTo>
                  <a:pt x="1266825" y="0"/>
                </a:lnTo>
                <a:lnTo>
                  <a:pt x="1295400" y="0"/>
                </a:lnTo>
                <a:lnTo>
                  <a:pt x="1323975" y="0"/>
                </a:lnTo>
              </a:path>
            </a:pathLst>
          </a:custGeom>
          <a:noFill xmlns:a="http://schemas.openxmlformats.org/drawingml/2006/main"/>
          <a:ln xmlns:a="http://schemas.openxmlformats.org/drawingml/2006/main" w="19050">
            <a:solidFill>
              <a:srgbClr val="9BAB9C"/>
            </a:solidFill>
            <a:prstDash val="solid"/>
          </a:ln>
        </p:spPr>
      </p:sp>
      <p:sp>
        <p:nvSpPr>
          <p:cNvPr id="10" name="Route arrowhead">
            <a:extLst xmlns:a="http://schemas.openxmlformats.org/drawingml/2006/main">
              <a:ext uri="{FF2B5EF4-FFF2-40B4-BE49-F238E27FC236}">
                <a16:creationId xmlns:a16="http://schemas.microsoft.com/office/drawing/2014/main" id="{9E428266-D066-475F-9348-D82C38CE7325}"/>
              </a:ext>
            </a:extLst>
          </p:cNvPr>
          <p:cNvSpPr>
            <a:spLocks xmlns:a="http://schemas.openxmlformats.org/drawingml/2006/main" noGrp="1"/>
          </p:cNvSpPr>
          <p:nvPr/>
        </p:nvSpPr>
        <p:spPr>
          <a:xfrm xmlns:a="http://schemas.openxmlformats.org/drawingml/2006/main">
            <a:off x="4448175" y="4126111"/>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1" name="Diagram path">
            <a:extLst xmlns:a="http://schemas.openxmlformats.org/drawingml/2006/main">
              <a:ext uri="{FF2B5EF4-FFF2-40B4-BE49-F238E27FC236}">
                <a16:creationId xmlns:a16="http://schemas.microsoft.com/office/drawing/2014/main" id="{EF5B871B-1151-4617-9359-0339CDF62070}"/>
              </a:ext>
            </a:extLst>
          </p:cNvPr>
          <p:cNvSpPr>
            <a:spLocks xmlns:a="http://schemas.openxmlformats.org/drawingml/2006/main" noGrp="1"/>
          </p:cNvSpPr>
          <p:nvPr/>
        </p:nvSpPr>
        <p:spPr>
          <a:xfrm xmlns:a="http://schemas.openxmlformats.org/drawingml/2006/main">
            <a:off x="3962400" y="5088136"/>
            <a:ext cx="600075" cy="952500"/>
          </a:xfrm>
          <a:custGeom xmlns:a="http://schemas.openxmlformats.org/drawingml/2006/main">
            <a:pathLst>
              <a:path w="600075" h="952500">
                <a:moveTo>
                  <a:pt x="0" y="0"/>
                </a:moveTo>
                <a:lnTo>
                  <a:pt x="0" y="28229"/>
                </a:lnTo>
                <a:lnTo>
                  <a:pt x="0" y="56457"/>
                </a:lnTo>
                <a:lnTo>
                  <a:pt x="0" y="84686"/>
                </a:lnTo>
                <a:lnTo>
                  <a:pt x="0" y="112915"/>
                </a:lnTo>
                <a:lnTo>
                  <a:pt x="0" y="141143"/>
                </a:lnTo>
                <a:lnTo>
                  <a:pt x="0" y="169372"/>
                </a:lnTo>
                <a:lnTo>
                  <a:pt x="0" y="197600"/>
                </a:lnTo>
                <a:lnTo>
                  <a:pt x="0" y="225829"/>
                </a:lnTo>
                <a:lnTo>
                  <a:pt x="0" y="254058"/>
                </a:lnTo>
                <a:lnTo>
                  <a:pt x="0" y="282286"/>
                </a:lnTo>
                <a:lnTo>
                  <a:pt x="0" y="310515"/>
                </a:lnTo>
                <a:lnTo>
                  <a:pt x="0" y="338744"/>
                </a:lnTo>
                <a:lnTo>
                  <a:pt x="0" y="366972"/>
                </a:lnTo>
                <a:lnTo>
                  <a:pt x="0" y="395201"/>
                </a:lnTo>
                <a:lnTo>
                  <a:pt x="0" y="423430"/>
                </a:lnTo>
                <a:lnTo>
                  <a:pt x="0" y="451658"/>
                </a:lnTo>
                <a:lnTo>
                  <a:pt x="0" y="479887"/>
                </a:lnTo>
                <a:lnTo>
                  <a:pt x="0" y="508115"/>
                </a:lnTo>
                <a:lnTo>
                  <a:pt x="0" y="536344"/>
                </a:lnTo>
                <a:lnTo>
                  <a:pt x="0" y="564573"/>
                </a:lnTo>
                <a:lnTo>
                  <a:pt x="0" y="592801"/>
                </a:lnTo>
                <a:lnTo>
                  <a:pt x="0" y="621030"/>
                </a:lnTo>
                <a:lnTo>
                  <a:pt x="0" y="649259"/>
                </a:lnTo>
                <a:lnTo>
                  <a:pt x="0" y="677487"/>
                </a:lnTo>
                <a:lnTo>
                  <a:pt x="0" y="705716"/>
                </a:lnTo>
                <a:lnTo>
                  <a:pt x="0" y="733944"/>
                </a:lnTo>
                <a:lnTo>
                  <a:pt x="0" y="762173"/>
                </a:lnTo>
                <a:lnTo>
                  <a:pt x="0" y="790402"/>
                </a:lnTo>
                <a:lnTo>
                  <a:pt x="0" y="818631"/>
                </a:lnTo>
                <a:lnTo>
                  <a:pt x="0" y="846859"/>
                </a:lnTo>
                <a:lnTo>
                  <a:pt x="0" y="875088"/>
                </a:lnTo>
                <a:lnTo>
                  <a:pt x="0" y="903316"/>
                </a:lnTo>
                <a:lnTo>
                  <a:pt x="0" y="931545"/>
                </a:lnTo>
                <a:lnTo>
                  <a:pt x="7274" y="952500"/>
                </a:lnTo>
                <a:lnTo>
                  <a:pt x="35502" y="952500"/>
                </a:lnTo>
                <a:lnTo>
                  <a:pt x="63731" y="952500"/>
                </a:lnTo>
                <a:lnTo>
                  <a:pt x="91960" y="952500"/>
                </a:lnTo>
                <a:lnTo>
                  <a:pt x="120188" y="952500"/>
                </a:lnTo>
                <a:lnTo>
                  <a:pt x="148417" y="952500"/>
                </a:lnTo>
                <a:lnTo>
                  <a:pt x="176646" y="952500"/>
                </a:lnTo>
                <a:lnTo>
                  <a:pt x="204874" y="952500"/>
                </a:lnTo>
                <a:lnTo>
                  <a:pt x="233103" y="952500"/>
                </a:lnTo>
                <a:lnTo>
                  <a:pt x="261331" y="952500"/>
                </a:lnTo>
                <a:lnTo>
                  <a:pt x="289560" y="952500"/>
                </a:lnTo>
                <a:lnTo>
                  <a:pt x="317789" y="952500"/>
                </a:lnTo>
                <a:lnTo>
                  <a:pt x="346017" y="952500"/>
                </a:lnTo>
                <a:lnTo>
                  <a:pt x="374246" y="952500"/>
                </a:lnTo>
                <a:lnTo>
                  <a:pt x="402475" y="952500"/>
                </a:lnTo>
                <a:lnTo>
                  <a:pt x="430703" y="952500"/>
                </a:lnTo>
                <a:lnTo>
                  <a:pt x="458932" y="952500"/>
                </a:lnTo>
                <a:lnTo>
                  <a:pt x="487160" y="952500"/>
                </a:lnTo>
                <a:lnTo>
                  <a:pt x="515389" y="952500"/>
                </a:lnTo>
                <a:lnTo>
                  <a:pt x="543618" y="952500"/>
                </a:lnTo>
                <a:lnTo>
                  <a:pt x="571846" y="952500"/>
                </a:lnTo>
                <a:lnTo>
                  <a:pt x="600075" y="952500"/>
                </a:lnTo>
              </a:path>
            </a:pathLst>
          </a:custGeom>
          <a:noFill xmlns:a="http://schemas.openxmlformats.org/drawingml/2006/main"/>
          <a:ln xmlns:a="http://schemas.openxmlformats.org/drawingml/2006/main" w="19050">
            <a:solidFill>
              <a:srgbClr val="9BAB9C"/>
            </a:solidFill>
            <a:prstDash val="solid"/>
          </a:ln>
        </p:spPr>
      </p:sp>
      <p:sp>
        <p:nvSpPr>
          <p:cNvPr id="12" name="Route arrowhead">
            <a:extLst xmlns:a="http://schemas.openxmlformats.org/drawingml/2006/main">
              <a:ext uri="{FF2B5EF4-FFF2-40B4-BE49-F238E27FC236}">
                <a16:creationId xmlns:a16="http://schemas.microsoft.com/office/drawing/2014/main" id="{6A897C31-8227-4ECA-9E88-15F781203B5F}"/>
              </a:ext>
            </a:extLst>
          </p:cNvPr>
          <p:cNvSpPr>
            <a:spLocks xmlns:a="http://schemas.openxmlformats.org/drawingml/2006/main" noGrp="1"/>
          </p:cNvSpPr>
          <p:nvPr/>
        </p:nvSpPr>
        <p:spPr>
          <a:xfrm xmlns:a="http://schemas.openxmlformats.org/drawingml/2006/main">
            <a:off x="4448175" y="59834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3" name="Diagram path">
            <a:extLst xmlns:a="http://schemas.openxmlformats.org/drawingml/2006/main">
              <a:ext uri="{FF2B5EF4-FFF2-40B4-BE49-F238E27FC236}">
                <a16:creationId xmlns:a16="http://schemas.microsoft.com/office/drawing/2014/main" id="{2DBE8370-6C6C-4956-AFCD-A5BAB0798B24}"/>
              </a:ext>
            </a:extLst>
          </p:cNvPr>
          <p:cNvSpPr>
            <a:spLocks xmlns:a="http://schemas.openxmlformats.org/drawingml/2006/main" noGrp="1"/>
          </p:cNvSpPr>
          <p:nvPr/>
        </p:nvSpPr>
        <p:spPr>
          <a:xfrm xmlns:a="http://schemas.openxmlformats.org/drawingml/2006/main">
            <a:off x="8067675" y="4183261"/>
            <a:ext cx="666750" cy="1857375"/>
          </a:xfrm>
          <a:custGeom xmlns:a="http://schemas.openxmlformats.org/drawingml/2006/main">
            <a:pathLst>
              <a:path w="666750" h="1857375">
                <a:moveTo>
                  <a:pt x="0" y="0"/>
                </a:moveTo>
                <a:lnTo>
                  <a:pt x="28490" y="0"/>
                </a:lnTo>
                <a:lnTo>
                  <a:pt x="56980" y="0"/>
                </a:lnTo>
                <a:lnTo>
                  <a:pt x="85470" y="0"/>
                </a:lnTo>
                <a:lnTo>
                  <a:pt x="113960" y="0"/>
                </a:lnTo>
                <a:lnTo>
                  <a:pt x="142450" y="0"/>
                </a:lnTo>
                <a:lnTo>
                  <a:pt x="170940" y="0"/>
                </a:lnTo>
                <a:lnTo>
                  <a:pt x="199430" y="0"/>
                </a:lnTo>
                <a:lnTo>
                  <a:pt x="227920" y="0"/>
                </a:lnTo>
                <a:lnTo>
                  <a:pt x="256409" y="0"/>
                </a:lnTo>
                <a:lnTo>
                  <a:pt x="284899" y="0"/>
                </a:lnTo>
                <a:lnTo>
                  <a:pt x="313390" y="0"/>
                </a:lnTo>
                <a:lnTo>
                  <a:pt x="341880" y="0"/>
                </a:lnTo>
                <a:lnTo>
                  <a:pt x="370369" y="0"/>
                </a:lnTo>
                <a:lnTo>
                  <a:pt x="398859" y="0"/>
                </a:lnTo>
                <a:lnTo>
                  <a:pt x="427349" y="0"/>
                </a:lnTo>
                <a:lnTo>
                  <a:pt x="455839" y="0"/>
                </a:lnTo>
                <a:lnTo>
                  <a:pt x="484329" y="0"/>
                </a:lnTo>
                <a:lnTo>
                  <a:pt x="512819" y="0"/>
                </a:lnTo>
                <a:lnTo>
                  <a:pt x="541309" y="0"/>
                </a:lnTo>
                <a:lnTo>
                  <a:pt x="569799" y="0"/>
                </a:lnTo>
                <a:lnTo>
                  <a:pt x="598289" y="0"/>
                </a:lnTo>
                <a:lnTo>
                  <a:pt x="626779" y="0"/>
                </a:lnTo>
                <a:lnTo>
                  <a:pt x="655269" y="0"/>
                </a:lnTo>
                <a:lnTo>
                  <a:pt x="666750" y="17009"/>
                </a:lnTo>
                <a:lnTo>
                  <a:pt x="666750" y="45499"/>
                </a:lnTo>
                <a:lnTo>
                  <a:pt x="666750" y="73989"/>
                </a:lnTo>
                <a:lnTo>
                  <a:pt x="666750" y="102479"/>
                </a:lnTo>
                <a:lnTo>
                  <a:pt x="666750" y="130969"/>
                </a:lnTo>
                <a:lnTo>
                  <a:pt x="666750" y="159459"/>
                </a:lnTo>
                <a:lnTo>
                  <a:pt x="666750" y="187949"/>
                </a:lnTo>
                <a:lnTo>
                  <a:pt x="666750" y="216439"/>
                </a:lnTo>
                <a:lnTo>
                  <a:pt x="666750" y="244929"/>
                </a:lnTo>
                <a:lnTo>
                  <a:pt x="666750" y="273418"/>
                </a:lnTo>
                <a:lnTo>
                  <a:pt x="666750" y="301908"/>
                </a:lnTo>
                <a:lnTo>
                  <a:pt x="666750" y="330398"/>
                </a:lnTo>
                <a:lnTo>
                  <a:pt x="666750" y="358888"/>
                </a:lnTo>
                <a:lnTo>
                  <a:pt x="666750" y="387378"/>
                </a:lnTo>
                <a:lnTo>
                  <a:pt x="666750" y="415868"/>
                </a:lnTo>
                <a:lnTo>
                  <a:pt x="666750" y="444358"/>
                </a:lnTo>
                <a:lnTo>
                  <a:pt x="666750" y="472848"/>
                </a:lnTo>
                <a:lnTo>
                  <a:pt x="666750" y="501338"/>
                </a:lnTo>
                <a:lnTo>
                  <a:pt x="666750" y="529828"/>
                </a:lnTo>
                <a:lnTo>
                  <a:pt x="666750" y="558318"/>
                </a:lnTo>
                <a:lnTo>
                  <a:pt x="666750" y="586808"/>
                </a:lnTo>
                <a:lnTo>
                  <a:pt x="666750" y="615298"/>
                </a:lnTo>
                <a:lnTo>
                  <a:pt x="666750" y="643788"/>
                </a:lnTo>
                <a:lnTo>
                  <a:pt x="666750" y="672278"/>
                </a:lnTo>
                <a:lnTo>
                  <a:pt x="666750" y="700768"/>
                </a:lnTo>
                <a:lnTo>
                  <a:pt x="666750" y="729258"/>
                </a:lnTo>
                <a:lnTo>
                  <a:pt x="666750" y="757748"/>
                </a:lnTo>
                <a:lnTo>
                  <a:pt x="666750" y="786238"/>
                </a:lnTo>
                <a:lnTo>
                  <a:pt x="666750" y="814728"/>
                </a:lnTo>
                <a:lnTo>
                  <a:pt x="666750" y="843218"/>
                </a:lnTo>
                <a:lnTo>
                  <a:pt x="666750" y="871708"/>
                </a:lnTo>
                <a:lnTo>
                  <a:pt x="666750" y="900198"/>
                </a:lnTo>
                <a:lnTo>
                  <a:pt x="666750" y="928688"/>
                </a:lnTo>
                <a:lnTo>
                  <a:pt x="666750" y="957177"/>
                </a:lnTo>
                <a:lnTo>
                  <a:pt x="666750" y="985667"/>
                </a:lnTo>
                <a:lnTo>
                  <a:pt x="666750" y="1014157"/>
                </a:lnTo>
                <a:lnTo>
                  <a:pt x="666750" y="1042647"/>
                </a:lnTo>
                <a:lnTo>
                  <a:pt x="666750" y="1071137"/>
                </a:lnTo>
                <a:lnTo>
                  <a:pt x="666750" y="1099627"/>
                </a:lnTo>
                <a:lnTo>
                  <a:pt x="666750" y="1128117"/>
                </a:lnTo>
                <a:lnTo>
                  <a:pt x="666750" y="1156607"/>
                </a:lnTo>
                <a:lnTo>
                  <a:pt x="666750" y="1185097"/>
                </a:lnTo>
                <a:lnTo>
                  <a:pt x="666750" y="1213587"/>
                </a:lnTo>
                <a:lnTo>
                  <a:pt x="666750" y="1242077"/>
                </a:lnTo>
                <a:lnTo>
                  <a:pt x="666750" y="1270567"/>
                </a:lnTo>
                <a:lnTo>
                  <a:pt x="666750" y="1299057"/>
                </a:lnTo>
                <a:lnTo>
                  <a:pt x="666750" y="1327547"/>
                </a:lnTo>
                <a:lnTo>
                  <a:pt x="666750" y="1356037"/>
                </a:lnTo>
                <a:lnTo>
                  <a:pt x="666750" y="1384527"/>
                </a:lnTo>
                <a:lnTo>
                  <a:pt x="666750" y="1413017"/>
                </a:lnTo>
                <a:lnTo>
                  <a:pt x="666750" y="1441507"/>
                </a:lnTo>
                <a:lnTo>
                  <a:pt x="666750" y="1469997"/>
                </a:lnTo>
                <a:lnTo>
                  <a:pt x="666750" y="1498486"/>
                </a:lnTo>
                <a:lnTo>
                  <a:pt x="666750" y="1526977"/>
                </a:lnTo>
                <a:lnTo>
                  <a:pt x="666750" y="1555467"/>
                </a:lnTo>
                <a:lnTo>
                  <a:pt x="666750" y="1583957"/>
                </a:lnTo>
                <a:lnTo>
                  <a:pt x="666750" y="1612446"/>
                </a:lnTo>
                <a:lnTo>
                  <a:pt x="666750" y="1640936"/>
                </a:lnTo>
                <a:lnTo>
                  <a:pt x="666750" y="1669426"/>
                </a:lnTo>
                <a:lnTo>
                  <a:pt x="666750" y="1697916"/>
                </a:lnTo>
                <a:lnTo>
                  <a:pt x="666750" y="1726406"/>
                </a:lnTo>
                <a:lnTo>
                  <a:pt x="666750" y="1754896"/>
                </a:lnTo>
                <a:lnTo>
                  <a:pt x="666750" y="1783386"/>
                </a:lnTo>
                <a:lnTo>
                  <a:pt x="666750" y="1811876"/>
                </a:lnTo>
                <a:lnTo>
                  <a:pt x="666750" y="1840366"/>
                </a:lnTo>
                <a:lnTo>
                  <a:pt x="655269" y="1857375"/>
                </a:lnTo>
                <a:lnTo>
                  <a:pt x="626779" y="1857375"/>
                </a:lnTo>
                <a:lnTo>
                  <a:pt x="598289" y="1857375"/>
                </a:lnTo>
                <a:lnTo>
                  <a:pt x="569799" y="1857375"/>
                </a:lnTo>
                <a:lnTo>
                  <a:pt x="541309" y="1857375"/>
                </a:lnTo>
                <a:lnTo>
                  <a:pt x="512819" y="1857375"/>
                </a:lnTo>
                <a:lnTo>
                  <a:pt x="484329" y="1857375"/>
                </a:lnTo>
                <a:lnTo>
                  <a:pt x="455840" y="1857375"/>
                </a:lnTo>
                <a:lnTo>
                  <a:pt x="427349" y="1857375"/>
                </a:lnTo>
                <a:lnTo>
                  <a:pt x="398859" y="1857375"/>
                </a:lnTo>
                <a:lnTo>
                  <a:pt x="370369" y="1857375"/>
                </a:lnTo>
                <a:lnTo>
                  <a:pt x="341879" y="1857375"/>
                </a:lnTo>
                <a:lnTo>
                  <a:pt x="313390" y="1857375"/>
                </a:lnTo>
                <a:lnTo>
                  <a:pt x="284899" y="1857375"/>
                </a:lnTo>
                <a:lnTo>
                  <a:pt x="256410" y="1857375"/>
                </a:lnTo>
                <a:lnTo>
                  <a:pt x="227920" y="1857375"/>
                </a:lnTo>
                <a:lnTo>
                  <a:pt x="199430" y="1857375"/>
                </a:lnTo>
                <a:lnTo>
                  <a:pt x="170940" y="1857375"/>
                </a:lnTo>
                <a:lnTo>
                  <a:pt x="142449" y="1857375"/>
                </a:lnTo>
                <a:lnTo>
                  <a:pt x="113960" y="1857375"/>
                </a:lnTo>
                <a:lnTo>
                  <a:pt x="85470" y="1857375"/>
                </a:lnTo>
                <a:lnTo>
                  <a:pt x="56980" y="1857375"/>
                </a:lnTo>
                <a:lnTo>
                  <a:pt x="28490" y="1857375"/>
                </a:lnTo>
                <a:lnTo>
                  <a:pt x="0" y="1857375"/>
                </a:lnTo>
              </a:path>
            </a:pathLst>
          </a:custGeom>
          <a:noFill xmlns:a="http://schemas.openxmlformats.org/drawingml/2006/main"/>
          <a:ln xmlns:a="http://schemas.openxmlformats.org/drawingml/2006/main" w="19050">
            <a:solidFill>
              <a:srgbClr val="9BAB9C"/>
            </a:solidFill>
            <a:prstDash val="solid"/>
          </a:ln>
        </p:spPr>
      </p:sp>
      <p:sp>
        <p:nvSpPr>
          <p:cNvPr id="14" name="Diagram path">
            <a:extLst xmlns:a="http://schemas.openxmlformats.org/drawingml/2006/main">
              <a:ext uri="{FF2B5EF4-FFF2-40B4-BE49-F238E27FC236}">
                <a16:creationId xmlns:a16="http://schemas.microsoft.com/office/drawing/2014/main" id="{F06A4340-223B-4E68-8311-A7657437A5EE}"/>
              </a:ext>
            </a:extLst>
          </p:cNvPr>
          <p:cNvSpPr>
            <a:spLocks xmlns:a="http://schemas.openxmlformats.org/drawingml/2006/main" noGrp="1"/>
          </p:cNvSpPr>
          <p:nvPr/>
        </p:nvSpPr>
        <p:spPr>
          <a:xfrm xmlns:a="http://schemas.openxmlformats.org/drawingml/2006/main">
            <a:off x="8734425" y="5088136"/>
            <a:ext cx="762000" cy="9525"/>
          </a:xfrm>
          <a:custGeom xmlns:a="http://schemas.openxmlformats.org/drawingml/2006/main">
            <a:pathLst>
              <a:path w="762000" h="9525">
                <a:moveTo>
                  <a:pt x="0" y="0"/>
                </a:moveTo>
                <a:lnTo>
                  <a:pt x="28222" y="0"/>
                </a:lnTo>
                <a:lnTo>
                  <a:pt x="56444" y="0"/>
                </a:lnTo>
                <a:lnTo>
                  <a:pt x="84667" y="0"/>
                </a:lnTo>
                <a:lnTo>
                  <a:pt x="112889" y="0"/>
                </a:lnTo>
                <a:lnTo>
                  <a:pt x="141111" y="0"/>
                </a:lnTo>
                <a:lnTo>
                  <a:pt x="169333" y="0"/>
                </a:lnTo>
                <a:lnTo>
                  <a:pt x="197555" y="0"/>
                </a:lnTo>
                <a:lnTo>
                  <a:pt x="225778" y="0"/>
                </a:lnTo>
                <a:lnTo>
                  <a:pt x="254000" y="0"/>
                </a:lnTo>
                <a:lnTo>
                  <a:pt x="282222" y="0"/>
                </a:lnTo>
                <a:lnTo>
                  <a:pt x="310444" y="0"/>
                </a:lnTo>
                <a:lnTo>
                  <a:pt x="338667" y="0"/>
                </a:lnTo>
                <a:lnTo>
                  <a:pt x="366889" y="0"/>
                </a:lnTo>
                <a:lnTo>
                  <a:pt x="395111" y="0"/>
                </a:lnTo>
                <a:lnTo>
                  <a:pt x="423333" y="0"/>
                </a:lnTo>
                <a:lnTo>
                  <a:pt x="451556" y="0"/>
                </a:lnTo>
                <a:lnTo>
                  <a:pt x="479778" y="0"/>
                </a:lnTo>
                <a:lnTo>
                  <a:pt x="508000" y="0"/>
                </a:lnTo>
                <a:lnTo>
                  <a:pt x="536222" y="0"/>
                </a:lnTo>
                <a:lnTo>
                  <a:pt x="564445" y="0"/>
                </a:lnTo>
                <a:lnTo>
                  <a:pt x="592667" y="0"/>
                </a:lnTo>
                <a:lnTo>
                  <a:pt x="620889" y="0"/>
                </a:lnTo>
                <a:lnTo>
                  <a:pt x="649111" y="0"/>
                </a:lnTo>
                <a:lnTo>
                  <a:pt x="677333" y="0"/>
                </a:lnTo>
                <a:lnTo>
                  <a:pt x="705556" y="0"/>
                </a:lnTo>
                <a:lnTo>
                  <a:pt x="733778" y="0"/>
                </a:lnTo>
                <a:lnTo>
                  <a:pt x="762000" y="0"/>
                </a:lnTo>
              </a:path>
            </a:pathLst>
          </a:custGeom>
          <a:noFill xmlns:a="http://schemas.openxmlformats.org/drawingml/2006/main"/>
          <a:ln xmlns:a="http://schemas.openxmlformats.org/drawingml/2006/main" w="19050">
            <a:solidFill>
              <a:srgbClr val="9BAB9C"/>
            </a:solidFill>
            <a:prstDash val="solid"/>
          </a:ln>
        </p:spPr>
      </p:sp>
      <p:sp>
        <p:nvSpPr>
          <p:cNvPr id="15" name="Route arrowhead">
            <a:extLst xmlns:a="http://schemas.openxmlformats.org/drawingml/2006/main">
              <a:ext uri="{FF2B5EF4-FFF2-40B4-BE49-F238E27FC236}">
                <a16:creationId xmlns:a16="http://schemas.microsoft.com/office/drawing/2014/main" id="{BC10D997-57C7-42A3-85FC-602EC84E2C5F}"/>
              </a:ext>
            </a:extLst>
          </p:cNvPr>
          <p:cNvSpPr>
            <a:spLocks xmlns:a="http://schemas.openxmlformats.org/drawingml/2006/main" noGrp="1"/>
          </p:cNvSpPr>
          <p:nvPr/>
        </p:nvSpPr>
        <p:spPr>
          <a:xfrm xmlns:a="http://schemas.openxmlformats.org/drawingml/2006/main">
            <a:off x="9382125" y="50309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6" name="Diagram path">
            <a:extLst xmlns:a="http://schemas.openxmlformats.org/drawingml/2006/main">
              <a:ext uri="{FF2B5EF4-FFF2-40B4-BE49-F238E27FC236}">
                <a16:creationId xmlns:a16="http://schemas.microsoft.com/office/drawing/2014/main" id="{C42F5B6A-82CC-42E0-AA66-6CE4BCDD085B}"/>
              </a:ext>
            </a:extLst>
          </p:cNvPr>
          <p:cNvSpPr>
            <a:spLocks xmlns:a="http://schemas.openxmlformats.org/drawingml/2006/main" noGrp="1"/>
          </p:cNvSpPr>
          <p:nvPr/>
        </p:nvSpPr>
        <p:spPr>
          <a:xfrm xmlns:a="http://schemas.openxmlformats.org/drawingml/2006/main">
            <a:off x="12801600" y="5088136"/>
            <a:ext cx="762000" cy="9525"/>
          </a:xfrm>
          <a:custGeom xmlns:a="http://schemas.openxmlformats.org/drawingml/2006/main">
            <a:pathLst>
              <a:path w="762000" h="9525">
                <a:moveTo>
                  <a:pt x="0" y="0"/>
                </a:moveTo>
                <a:lnTo>
                  <a:pt x="28223" y="0"/>
                </a:lnTo>
                <a:lnTo>
                  <a:pt x="56444" y="0"/>
                </a:lnTo>
                <a:lnTo>
                  <a:pt x="84667" y="0"/>
                </a:lnTo>
                <a:lnTo>
                  <a:pt x="112888" y="0"/>
                </a:lnTo>
                <a:lnTo>
                  <a:pt x="141111" y="0"/>
                </a:lnTo>
                <a:lnTo>
                  <a:pt x="169334" y="0"/>
                </a:lnTo>
                <a:lnTo>
                  <a:pt x="197555" y="0"/>
                </a:lnTo>
                <a:lnTo>
                  <a:pt x="225778" y="0"/>
                </a:lnTo>
                <a:lnTo>
                  <a:pt x="254000" y="0"/>
                </a:lnTo>
                <a:lnTo>
                  <a:pt x="282222" y="0"/>
                </a:lnTo>
                <a:lnTo>
                  <a:pt x="310445" y="0"/>
                </a:lnTo>
                <a:lnTo>
                  <a:pt x="338667" y="0"/>
                </a:lnTo>
                <a:lnTo>
                  <a:pt x="366889" y="0"/>
                </a:lnTo>
                <a:lnTo>
                  <a:pt x="395111" y="0"/>
                </a:lnTo>
                <a:lnTo>
                  <a:pt x="423333" y="0"/>
                </a:lnTo>
                <a:lnTo>
                  <a:pt x="451555" y="0"/>
                </a:lnTo>
                <a:lnTo>
                  <a:pt x="479778" y="0"/>
                </a:lnTo>
                <a:lnTo>
                  <a:pt x="508000" y="0"/>
                </a:lnTo>
                <a:lnTo>
                  <a:pt x="536222" y="0"/>
                </a:lnTo>
                <a:lnTo>
                  <a:pt x="564445" y="0"/>
                </a:lnTo>
                <a:lnTo>
                  <a:pt x="592666" y="0"/>
                </a:lnTo>
                <a:lnTo>
                  <a:pt x="620889" y="0"/>
                </a:lnTo>
                <a:lnTo>
                  <a:pt x="649112" y="0"/>
                </a:lnTo>
                <a:lnTo>
                  <a:pt x="677333" y="0"/>
                </a:lnTo>
                <a:lnTo>
                  <a:pt x="705556" y="0"/>
                </a:lnTo>
                <a:lnTo>
                  <a:pt x="733777" y="0"/>
                </a:lnTo>
                <a:lnTo>
                  <a:pt x="762000" y="0"/>
                </a:lnTo>
              </a:path>
            </a:pathLst>
          </a:custGeom>
          <a:noFill xmlns:a="http://schemas.openxmlformats.org/drawingml/2006/main"/>
          <a:ln xmlns:a="http://schemas.openxmlformats.org/drawingml/2006/main" w="19050">
            <a:solidFill>
              <a:srgbClr val="9BAB9C"/>
            </a:solidFill>
            <a:prstDash val="solid"/>
          </a:ln>
        </p:spPr>
      </p:sp>
      <p:sp>
        <p:nvSpPr>
          <p:cNvPr id="17" name="Route arrowhead">
            <a:extLst xmlns:a="http://schemas.openxmlformats.org/drawingml/2006/main">
              <a:ext uri="{FF2B5EF4-FFF2-40B4-BE49-F238E27FC236}">
                <a16:creationId xmlns:a16="http://schemas.microsoft.com/office/drawing/2014/main" id="{62D36369-10FC-4260-93DF-15234F906DEB}"/>
              </a:ext>
            </a:extLst>
          </p:cNvPr>
          <p:cNvSpPr>
            <a:spLocks xmlns:a="http://schemas.openxmlformats.org/drawingml/2006/main" noGrp="1"/>
          </p:cNvSpPr>
          <p:nvPr/>
        </p:nvSpPr>
        <p:spPr>
          <a:xfrm xmlns:a="http://schemas.openxmlformats.org/drawingml/2006/main">
            <a:off x="13449300" y="5030986"/>
            <a:ext cx="114300" cy="114300"/>
          </a:xfrm>
          <a:custGeom xmlns:a="http://schemas.openxmlformats.org/drawingml/2006/main">
            <a:pathLst>
              <a:path w="114300" h="114300">
                <a:moveTo>
                  <a:pt x="0" y="0"/>
                </a:moveTo>
                <a:lnTo>
                  <a:pt x="114300" y="57150"/>
                </a:lnTo>
                <a:lnTo>
                  <a:pt x="0" y="114300"/>
                </a:lnTo>
              </a:path>
            </a:pathLst>
          </a:custGeom>
          <a:noFill xmlns:a="http://schemas.openxmlformats.org/drawingml/2006/main"/>
          <a:ln xmlns:a="http://schemas.openxmlformats.org/drawingml/2006/main" w="28575">
            <a:solidFill>
              <a:srgbClr val="9BAB9C"/>
            </a:solidFill>
            <a:prstDash val="solid"/>
          </a:ln>
        </p:spPr>
      </p:sp>
      <p:sp>
        <p:nvSpPr>
          <p:cNvPr id="18" name="Diagram rect">
            <a:extLst xmlns:a="http://schemas.openxmlformats.org/drawingml/2006/main">
              <a:ext uri="{FF2B5EF4-FFF2-40B4-BE49-F238E27FC236}">
                <a16:creationId xmlns:a16="http://schemas.microsoft.com/office/drawing/2014/main" id="{8B976015-EA86-4A22-8E6F-57E585CB6DB9}"/>
              </a:ext>
            </a:extLst>
          </p:cNvPr>
          <p:cNvSpPr>
            <a:spLocks xmlns:a="http://schemas.openxmlformats.org/drawingml/2006/main" noGrp="1"/>
          </p:cNvSpPr>
          <p:nvPr/>
        </p:nvSpPr>
        <p:spPr>
          <a:xfrm xmlns:a="http://schemas.openxmlformats.org/drawingml/2006/main">
            <a:off x="876300" y="4402336"/>
            <a:ext cx="2362200" cy="1390650"/>
          </a:xfrm>
          <a:prstGeom xmlns:a="http://schemas.openxmlformats.org/drawingml/2006/main" prst="rect">
            <a:avLst/>
          </a:prstGeom>
          <a:solidFill xmlns:a="http://schemas.openxmlformats.org/drawingml/2006/main">
            <a:srgbClr val="EDF1E8"/>
          </a:solidFill>
          <a:ln xmlns:a="http://schemas.openxmlformats.org/drawingml/2006/main" w="9525">
            <a:solidFill>
              <a:srgbClr val="BCC8B9"/>
            </a:solidFill>
            <a:prstDash val="solid"/>
          </a:ln>
        </p:spPr>
      </p:sp>
      <p:sp>
        <p:nvSpPr>
          <p:cNvPr id="19" name="Diagram rect">
            <a:extLst xmlns:a="http://schemas.openxmlformats.org/drawingml/2006/main">
              <a:ext uri="{FF2B5EF4-FFF2-40B4-BE49-F238E27FC236}">
                <a16:creationId xmlns:a16="http://schemas.microsoft.com/office/drawing/2014/main" id="{682D6CF6-9895-446C-A701-7333B5A1DB93}"/>
              </a:ext>
            </a:extLst>
          </p:cNvPr>
          <p:cNvSpPr>
            <a:spLocks xmlns:a="http://schemas.openxmlformats.org/drawingml/2006/main" noGrp="1"/>
          </p:cNvSpPr>
          <p:nvPr/>
        </p:nvSpPr>
        <p:spPr>
          <a:xfrm xmlns:a="http://schemas.openxmlformats.org/drawingml/2006/main">
            <a:off x="4667250" y="3516511"/>
            <a:ext cx="3400425" cy="1333500"/>
          </a:xfrm>
          <a:prstGeom xmlns:a="http://schemas.openxmlformats.org/drawingml/2006/main" prst="rect">
            <a:avLst/>
          </a:prstGeom>
          <a:noFill xmlns:a="http://schemas.openxmlformats.org/drawingml/2006/main"/>
          <a:ln xmlns:a="http://schemas.openxmlformats.org/drawingml/2006/main" w="9525">
            <a:solidFill>
              <a:srgbClr val="BCC8B9"/>
            </a:solidFill>
            <a:prstDash val="solid"/>
          </a:ln>
        </p:spPr>
      </p:sp>
      <p:sp>
        <p:nvSpPr>
          <p:cNvPr id="20" name="Diagram rect">
            <a:extLst xmlns:a="http://schemas.openxmlformats.org/drawingml/2006/main">
              <a:ext uri="{FF2B5EF4-FFF2-40B4-BE49-F238E27FC236}">
                <a16:creationId xmlns:a16="http://schemas.microsoft.com/office/drawing/2014/main" id="{F6007EEC-B027-4B00-905C-4A3FCD5D0919}"/>
              </a:ext>
            </a:extLst>
          </p:cNvPr>
          <p:cNvSpPr>
            <a:spLocks xmlns:a="http://schemas.openxmlformats.org/drawingml/2006/main" noGrp="1"/>
          </p:cNvSpPr>
          <p:nvPr/>
        </p:nvSpPr>
        <p:spPr>
          <a:xfrm xmlns:a="http://schemas.openxmlformats.org/drawingml/2006/main">
            <a:off x="4667250" y="5373886"/>
            <a:ext cx="3400425" cy="1333500"/>
          </a:xfrm>
          <a:prstGeom xmlns:a="http://schemas.openxmlformats.org/drawingml/2006/main" prst="rect">
            <a:avLst/>
          </a:prstGeom>
          <a:noFill xmlns:a="http://schemas.openxmlformats.org/drawingml/2006/main"/>
          <a:ln xmlns:a="http://schemas.openxmlformats.org/drawingml/2006/main" w="9525">
            <a:solidFill>
              <a:srgbClr val="BCC8B9"/>
            </a:solidFill>
            <a:prstDash val="solid"/>
          </a:ln>
        </p:spPr>
      </p:sp>
      <p:sp>
        <p:nvSpPr>
          <p:cNvPr id="21" name="Diagram rect">
            <a:extLst xmlns:a="http://schemas.openxmlformats.org/drawingml/2006/main">
              <a:ext uri="{FF2B5EF4-FFF2-40B4-BE49-F238E27FC236}">
                <a16:creationId xmlns:a16="http://schemas.microsoft.com/office/drawing/2014/main" id="{780F1ECC-D641-4BBD-A346-B41BDD49B792}"/>
              </a:ext>
            </a:extLst>
          </p:cNvPr>
          <p:cNvSpPr>
            <a:spLocks xmlns:a="http://schemas.openxmlformats.org/drawingml/2006/main" noGrp="1"/>
          </p:cNvSpPr>
          <p:nvPr/>
        </p:nvSpPr>
        <p:spPr>
          <a:xfrm xmlns:a="http://schemas.openxmlformats.org/drawingml/2006/main">
            <a:off x="9620250" y="4402336"/>
            <a:ext cx="3181350" cy="1390650"/>
          </a:xfrm>
          <a:prstGeom xmlns:a="http://schemas.openxmlformats.org/drawingml/2006/main" prst="rect">
            <a:avLst/>
          </a:prstGeom>
          <a:solidFill xmlns:a="http://schemas.openxmlformats.org/drawingml/2006/main">
            <a:srgbClr val="34695B"/>
          </a:solidFill>
          <a:ln xmlns:a="http://schemas.openxmlformats.org/drawingml/2006/main" w="9525">
            <a:noFill/>
            <a:prstDash val="solid"/>
          </a:ln>
        </p:spPr>
      </p:sp>
      <p:sp>
        <p:nvSpPr>
          <p:cNvPr id="22" name="Diagram rect">
            <a:extLst xmlns:a="http://schemas.openxmlformats.org/drawingml/2006/main">
              <a:ext uri="{FF2B5EF4-FFF2-40B4-BE49-F238E27FC236}">
                <a16:creationId xmlns:a16="http://schemas.microsoft.com/office/drawing/2014/main" id="{14BBBDE6-FC65-4914-93AF-97FD06446A8A}"/>
              </a:ext>
            </a:extLst>
          </p:cNvPr>
          <p:cNvSpPr>
            <a:spLocks xmlns:a="http://schemas.openxmlformats.org/drawingml/2006/main" noGrp="1"/>
          </p:cNvSpPr>
          <p:nvPr/>
        </p:nvSpPr>
        <p:spPr>
          <a:xfrm xmlns:a="http://schemas.openxmlformats.org/drawingml/2006/main">
            <a:off x="13687425" y="4402336"/>
            <a:ext cx="3676650" cy="1390650"/>
          </a:xfrm>
          <a:prstGeom xmlns:a="http://schemas.openxmlformats.org/drawingml/2006/main" prst="rect">
            <a:avLst/>
          </a:prstGeom>
          <a:solidFill xmlns:a="http://schemas.openxmlformats.org/drawingml/2006/main">
            <a:srgbClr val="EDF1E8"/>
          </a:solidFill>
          <a:ln xmlns:a="http://schemas.openxmlformats.org/drawingml/2006/main" w="9525">
            <a:solidFill>
              <a:srgbClr val="BCC8B9"/>
            </a:solidFill>
            <a:prstDash val="solid"/>
          </a:ln>
        </p:spPr>
      </p:sp>
      <p:sp>
        <p:nvSpPr>
          <p:cNvPr id="23" name="Confirm inputs">
            <a:extLst xmlns:a="http://schemas.openxmlformats.org/drawingml/2006/main">
              <a:ext uri="{FF2B5EF4-FFF2-40B4-BE49-F238E27FC236}">
                <a16:creationId xmlns:a16="http://schemas.microsoft.com/office/drawing/2014/main" id="{91E92D9F-FFB3-4372-BA5B-C39F4CBAF3B9}"/>
              </a:ext>
            </a:extLst>
          </p:cNvPr>
          <p:cNvSpPr>
            <a:spLocks xmlns:a="http://schemas.openxmlformats.org/drawingml/2006/main" noGrp="1"/>
          </p:cNvSpPr>
          <p:nvPr/>
        </p:nvSpPr>
        <p:spPr>
          <a:xfrm xmlns:a="http://schemas.openxmlformats.org/drawingml/2006/main">
            <a:off x="1028849" y="4697611"/>
            <a:ext cx="2171402" cy="4467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15"/>
              </a:lnSpc>
              <a:spcBef>
                <a:spcPts val="0"/>
              </a:spcBef>
              <a:spcAft>
                <a:spcPts val="0"/>
              </a:spcAft>
              <a:buNone/>
              <a:defRPr sz="2513" b="0">
                <a:solidFill>
                  <a:srgbClr val="28332F"/>
                </a:solidFill>
                <a:latin typeface="Arial"/>
                <a:ea typeface="Arial"/>
                <a:cs typeface="Arial"/>
              </a:defRPr>
            </a:pPr>
            <a:r>
              <a:rPr sz="2513" b="0">
                <a:solidFill>
                  <a:srgbClr val="28332F"/>
                </a:solidFill>
                <a:latin typeface="Arial"/>
                <a:ea typeface="Arial"/>
                <a:cs typeface="Arial"/>
              </a:rPr>
              <a:t>Confirm inputs</a:t>
            </a:r>
          </a:p>
        </p:txBody>
      </p:sp>
      <p:sp>
        <p:nvSpPr>
          <p:cNvPr id="24" name="Motion control">
            <a:extLst xmlns:a="http://schemas.openxmlformats.org/drawingml/2006/main">
              <a:ext uri="{FF2B5EF4-FFF2-40B4-BE49-F238E27FC236}">
                <a16:creationId xmlns:a16="http://schemas.microsoft.com/office/drawing/2014/main" id="{41497242-172B-4A98-A38D-8B05BBF7C332}"/>
              </a:ext>
            </a:extLst>
          </p:cNvPr>
          <p:cNvSpPr>
            <a:spLocks xmlns:a="http://schemas.openxmlformats.org/drawingml/2006/main" noGrp="1"/>
          </p:cNvSpPr>
          <p:nvPr/>
        </p:nvSpPr>
        <p:spPr>
          <a:xfrm xmlns:a="http://schemas.openxmlformats.org/drawingml/2006/main">
            <a:off x="5345683" y="3783211"/>
            <a:ext cx="2148334"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Motion control</a:t>
            </a:r>
          </a:p>
        </p:txBody>
      </p:sp>
      <p:sp>
        <p:nvSpPr>
          <p:cNvPr id="25" name="Vision prototype">
            <a:extLst xmlns:a="http://schemas.openxmlformats.org/drawingml/2006/main">
              <a:ext uri="{FF2B5EF4-FFF2-40B4-BE49-F238E27FC236}">
                <a16:creationId xmlns:a16="http://schemas.microsoft.com/office/drawing/2014/main" id="{E42E1238-4585-4636-A846-1714635C9DCB}"/>
              </a:ext>
            </a:extLst>
          </p:cNvPr>
          <p:cNvSpPr>
            <a:spLocks xmlns:a="http://schemas.openxmlformats.org/drawingml/2006/main" noGrp="1"/>
          </p:cNvSpPr>
          <p:nvPr/>
        </p:nvSpPr>
        <p:spPr>
          <a:xfrm xmlns:a="http://schemas.openxmlformats.org/drawingml/2006/main">
            <a:off x="5194920" y="5640586"/>
            <a:ext cx="244033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Vision prototype</a:t>
            </a:r>
          </a:p>
        </p:txBody>
      </p:sp>
      <p:sp>
        <p:nvSpPr>
          <p:cNvPr id="26" name="Push-cycle integration">
            <a:extLst xmlns:a="http://schemas.openxmlformats.org/drawingml/2006/main">
              <a:ext uri="{FF2B5EF4-FFF2-40B4-BE49-F238E27FC236}">
                <a16:creationId xmlns:a16="http://schemas.microsoft.com/office/drawing/2014/main" id="{5DE4DBFD-4F22-46DD-B865-78EB5C99F2E9}"/>
              </a:ext>
            </a:extLst>
          </p:cNvPr>
          <p:cNvSpPr>
            <a:spLocks xmlns:a="http://schemas.openxmlformats.org/drawingml/2006/main" noGrp="1"/>
          </p:cNvSpPr>
          <p:nvPr/>
        </p:nvSpPr>
        <p:spPr>
          <a:xfrm xmlns:a="http://schemas.openxmlformats.org/drawingml/2006/main">
            <a:off x="9748986" y="4716661"/>
            <a:ext cx="3038177" cy="4160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808"/>
              </a:lnSpc>
              <a:spcBef>
                <a:spcPts val="0"/>
              </a:spcBef>
              <a:spcAft>
                <a:spcPts val="0"/>
              </a:spcAft>
              <a:buNone/>
              <a:defRPr sz="2340" b="0">
                <a:solidFill>
                  <a:srgbClr val="FFFFFF"/>
                </a:solidFill>
                <a:latin typeface="Arial"/>
                <a:ea typeface="Arial"/>
                <a:cs typeface="Arial"/>
              </a:defRPr>
            </a:pPr>
            <a:r>
              <a:rPr sz="2340" b="0">
                <a:solidFill>
                  <a:srgbClr val="FFFFFF"/>
                </a:solidFill>
                <a:latin typeface="Arial"/>
                <a:ea typeface="Arial"/>
                <a:cs typeface="Arial"/>
              </a:rPr>
              <a:t>Push-cycle integration</a:t>
            </a:r>
          </a:p>
        </p:txBody>
      </p:sp>
      <p:sp>
        <p:nvSpPr>
          <p:cNvPr id="27" name="Practice matches">
            <a:extLst xmlns:a="http://schemas.openxmlformats.org/drawingml/2006/main">
              <a:ext uri="{FF2B5EF4-FFF2-40B4-BE49-F238E27FC236}">
                <a16:creationId xmlns:a16="http://schemas.microsoft.com/office/drawing/2014/main" id="{C9A7F4D9-4719-444A-BEC5-2C645D035EF1}"/>
              </a:ext>
            </a:extLst>
          </p:cNvPr>
          <p:cNvSpPr>
            <a:spLocks xmlns:a="http://schemas.openxmlformats.org/drawingml/2006/main" noGrp="1"/>
          </p:cNvSpPr>
          <p:nvPr/>
        </p:nvSpPr>
        <p:spPr>
          <a:xfrm xmlns:a="http://schemas.openxmlformats.org/drawingml/2006/main">
            <a:off x="14283854" y="4688086"/>
            <a:ext cx="2598093"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060"/>
              </a:lnSpc>
              <a:spcBef>
                <a:spcPts val="0"/>
              </a:spcBef>
              <a:spcAft>
                <a:spcPts val="0"/>
              </a:spcAft>
              <a:buNone/>
              <a:defRPr sz="2550" b="0">
                <a:solidFill>
                  <a:srgbClr val="28332F"/>
                </a:solidFill>
                <a:latin typeface="Arial"/>
                <a:ea typeface="Arial"/>
                <a:cs typeface="Arial"/>
              </a:defRPr>
            </a:pPr>
            <a:r>
              <a:rPr sz="2550" b="0">
                <a:solidFill>
                  <a:srgbClr val="28332F"/>
                </a:solidFill>
                <a:latin typeface="Arial"/>
                <a:ea typeface="Arial"/>
                <a:cs typeface="Arial"/>
              </a:rPr>
              <a:t>Practice matches</a:t>
            </a:r>
          </a:p>
        </p:txBody>
      </p:sp>
      <p:sp>
        <p:nvSpPr>
          <p:cNvPr id="28" name="Rules and interfaces">
            <a:extLst xmlns:a="http://schemas.openxmlformats.org/drawingml/2006/main">
              <a:ext uri="{FF2B5EF4-FFF2-40B4-BE49-F238E27FC236}">
                <a16:creationId xmlns:a16="http://schemas.microsoft.com/office/drawing/2014/main" id="{64A25026-82A7-43EB-83BF-2DC53E1D2E57}"/>
              </a:ext>
            </a:extLst>
          </p:cNvPr>
          <p:cNvSpPr>
            <a:spLocks xmlns:a="http://schemas.openxmlformats.org/drawingml/2006/main" noGrp="1"/>
          </p:cNvSpPr>
          <p:nvPr/>
        </p:nvSpPr>
        <p:spPr>
          <a:xfrm xmlns:a="http://schemas.openxmlformats.org/drawingml/2006/main">
            <a:off x="1028849" y="5250061"/>
            <a:ext cx="2172823" cy="3159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132"/>
              </a:lnSpc>
              <a:spcBef>
                <a:spcPts val="0"/>
              </a:spcBef>
              <a:spcAft>
                <a:spcPts val="0"/>
              </a:spcAft>
              <a:buNone/>
              <a:defRPr sz="1777" b="0">
                <a:solidFill>
                  <a:srgbClr val="718076"/>
                </a:solidFill>
                <a:latin typeface="Arial"/>
                <a:ea typeface="Arial"/>
                <a:cs typeface="Arial"/>
              </a:defRPr>
            </a:pPr>
            <a:r>
              <a:rPr sz="1777" b="0">
                <a:solidFill>
                  <a:srgbClr val="718076"/>
                </a:solidFill>
                <a:latin typeface="Arial"/>
                <a:ea typeface="Arial"/>
                <a:cs typeface="Arial"/>
              </a:rPr>
              <a:t>Rules and interfaces</a:t>
            </a:r>
          </a:p>
        </p:txBody>
      </p:sp>
      <p:sp>
        <p:nvSpPr>
          <p:cNvPr id="29" name="Speed loop and wireless control">
            <a:extLst xmlns:a="http://schemas.openxmlformats.org/drawingml/2006/main">
              <a:ext uri="{FF2B5EF4-FFF2-40B4-BE49-F238E27FC236}">
                <a16:creationId xmlns:a16="http://schemas.microsoft.com/office/drawing/2014/main" id="{599D119C-4D32-461C-822F-4BF8DF933ADC}"/>
              </a:ext>
            </a:extLst>
          </p:cNvPr>
          <p:cNvSpPr>
            <a:spLocks xmlns:a="http://schemas.openxmlformats.org/drawingml/2006/main" noGrp="1"/>
          </p:cNvSpPr>
          <p:nvPr/>
        </p:nvSpPr>
        <p:spPr>
          <a:xfrm xmlns:a="http://schemas.openxmlformats.org/drawingml/2006/main">
            <a:off x="4810646" y="4326136"/>
            <a:ext cx="3218408" cy="30667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70"/>
              </a:lnSpc>
              <a:spcBef>
                <a:spcPts val="0"/>
              </a:spcBef>
              <a:spcAft>
                <a:spcPts val="0"/>
              </a:spcAft>
              <a:buNone/>
              <a:defRPr sz="1725" b="0">
                <a:solidFill>
                  <a:srgbClr val="718076"/>
                </a:solidFill>
                <a:latin typeface="Arial"/>
                <a:ea typeface="Arial"/>
                <a:cs typeface="Arial"/>
              </a:defRPr>
            </a:pPr>
            <a:r>
              <a:rPr sz="1725" b="0">
                <a:solidFill>
                  <a:srgbClr val="718076"/>
                </a:solidFill>
                <a:latin typeface="Arial"/>
                <a:ea typeface="Arial"/>
                <a:cs typeface="Arial"/>
              </a:rPr>
              <a:t>Speed loop and wireless control</a:t>
            </a:r>
          </a:p>
        </p:txBody>
      </p:sp>
      <p:sp>
        <p:nvSpPr>
          <p:cNvPr id="30" name="Calibration and detection">
            <a:extLst xmlns:a="http://schemas.openxmlformats.org/drawingml/2006/main">
              <a:ext uri="{FF2B5EF4-FFF2-40B4-BE49-F238E27FC236}">
                <a16:creationId xmlns:a16="http://schemas.microsoft.com/office/drawing/2014/main" id="{EC808061-C26E-4801-B726-8A00C4B1318F}"/>
              </a:ext>
            </a:extLst>
          </p:cNvPr>
          <p:cNvSpPr>
            <a:spLocks xmlns:a="http://schemas.openxmlformats.org/drawingml/2006/main" noGrp="1"/>
          </p:cNvSpPr>
          <p:nvPr/>
        </p:nvSpPr>
        <p:spPr>
          <a:xfrm xmlns:a="http://schemas.openxmlformats.org/drawingml/2006/main">
            <a:off x="4992812" y="6154936"/>
            <a:ext cx="2854077"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4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Calibration and detection</a:t>
            </a:r>
          </a:p>
        </p:txBody>
      </p:sp>
      <p:sp>
        <p:nvSpPr>
          <p:cNvPr id="31" name="Push, release, return">
            <a:extLst xmlns:a="http://schemas.openxmlformats.org/drawingml/2006/main">
              <a:ext uri="{FF2B5EF4-FFF2-40B4-BE49-F238E27FC236}">
                <a16:creationId xmlns:a16="http://schemas.microsoft.com/office/drawing/2014/main" id="{3A0CAD8B-7D62-428E-A3D2-BFF480D727DB}"/>
              </a:ext>
            </a:extLst>
          </p:cNvPr>
          <p:cNvSpPr>
            <a:spLocks xmlns:a="http://schemas.openxmlformats.org/drawingml/2006/main" noGrp="1"/>
          </p:cNvSpPr>
          <p:nvPr/>
        </p:nvSpPr>
        <p:spPr>
          <a:xfrm xmlns:a="http://schemas.openxmlformats.org/drawingml/2006/main">
            <a:off x="10061451" y="5221486"/>
            <a:ext cx="2413248"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40"/>
              </a:lnSpc>
              <a:spcBef>
                <a:spcPts val="0"/>
              </a:spcBef>
              <a:spcAft>
                <a:spcPts val="0"/>
              </a:spcAft>
              <a:buNone/>
              <a:defRPr sz="1950" b="0">
                <a:solidFill>
                  <a:srgbClr val="E0EBE2"/>
                </a:solidFill>
                <a:latin typeface="Arial"/>
                <a:ea typeface="Arial"/>
                <a:cs typeface="Arial"/>
              </a:defRPr>
            </a:pPr>
            <a:r>
              <a:rPr sz="1950" b="0">
                <a:solidFill>
                  <a:srgbClr val="E0EBE2"/>
                </a:solidFill>
                <a:latin typeface="Arial"/>
                <a:ea typeface="Arial"/>
                <a:cs typeface="Arial"/>
              </a:rPr>
              <a:t>Push, release, return</a:t>
            </a:r>
          </a:p>
        </p:txBody>
      </p:sp>
      <p:sp>
        <p:nvSpPr>
          <p:cNvPr id="32" name="Repeated cycles and strategy">
            <a:extLst xmlns:a="http://schemas.openxmlformats.org/drawingml/2006/main">
              <a:ext uri="{FF2B5EF4-FFF2-40B4-BE49-F238E27FC236}">
                <a16:creationId xmlns:a16="http://schemas.microsoft.com/office/drawing/2014/main" id="{6FA8FA7E-E5F6-4E84-AA30-3786972951AB}"/>
              </a:ext>
            </a:extLst>
          </p:cNvPr>
          <p:cNvSpPr>
            <a:spLocks xmlns:a="http://schemas.openxmlformats.org/drawingml/2006/main" noGrp="1"/>
          </p:cNvSpPr>
          <p:nvPr/>
        </p:nvSpPr>
        <p:spPr>
          <a:xfrm xmlns:a="http://schemas.openxmlformats.org/drawingml/2006/main">
            <a:off x="13894371" y="5221486"/>
            <a:ext cx="3386444" cy="3467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340"/>
              </a:lnSpc>
              <a:spcBef>
                <a:spcPts val="0"/>
              </a:spcBef>
              <a:spcAft>
                <a:spcPts val="0"/>
              </a:spcAft>
              <a:buNone/>
              <a:defRPr sz="1950" b="0">
                <a:solidFill>
                  <a:srgbClr val="718076"/>
                </a:solidFill>
                <a:latin typeface="Arial"/>
                <a:ea typeface="Arial"/>
                <a:cs typeface="Arial"/>
              </a:defRPr>
            </a:pPr>
            <a:r>
              <a:rPr sz="1950" b="0">
                <a:solidFill>
                  <a:srgbClr val="718076"/>
                </a:solidFill>
                <a:latin typeface="Arial"/>
                <a:ea typeface="Arial"/>
                <a:cs typeface="Arial"/>
              </a:rPr>
              <a:t>Repeated cycles and strategy</a:t>
            </a:r>
          </a:p>
        </p:txBody>
      </p:sp>
    </p:spTree>
    <p:extLst>
      <p:ext uri="{BB962C8B-B14F-4D97-AF65-F5344CB8AC3E}">
        <p14:creationId xmlns:p14="http://schemas.microsoft.com/office/powerpoint/2010/main" val="1733046222"/>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1" name="Section rule">
            <a:extLst xmlns:a="http://schemas.openxmlformats.org/drawingml/2006/main">
              <a:ext uri="{FF2B5EF4-FFF2-40B4-BE49-F238E27FC236}">
                <a16:creationId xmlns:a16="http://schemas.microsoft.com/office/drawing/2014/main" id="{5B77AC8A-579F-4C47-87C7-729B4959A7A7}"/>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lide title">
            <a:extLst xmlns:a="http://schemas.openxmlformats.org/drawingml/2006/main">
              <a:ext uri="{FF2B5EF4-FFF2-40B4-BE49-F238E27FC236}">
                <a16:creationId xmlns:a16="http://schemas.microsoft.com/office/drawing/2014/main" id="{8EB0332E-EFEC-4252-8E2A-98FD6D30145D}"/>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Team roles: parallel work, shared system testing</a:t>
            </a:r>
          </a:p>
        </p:txBody>
      </p:sp>
      <p:sp>
        <p:nvSpPr>
          <p:cNvPr id="3" name="Shared work">
            <a:extLst xmlns:a="http://schemas.openxmlformats.org/drawingml/2006/main">
              <a:ext uri="{FF2B5EF4-FFF2-40B4-BE49-F238E27FC236}">
                <a16:creationId xmlns:a16="http://schemas.microsoft.com/office/drawing/2014/main" id="{578E1214-909B-4ACC-977F-E47A1B236BAB}"/>
              </a:ext>
            </a:extLst>
          </p:cNvPr>
          <p:cNvSpPr>
            <a:spLocks xmlns:a="http://schemas.openxmlformats.org/drawingml/2006/main" noGrp="1"/>
          </p:cNvSpPr>
          <p:nvPr/>
        </p:nvSpPr>
        <p:spPr>
          <a:xfrm xmlns:a="http://schemas.openxmlformats.org/drawingml/2006/main">
            <a:off x="857250" y="8875216"/>
            <a:ext cx="179129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375"/>
              </a:lnSpc>
              <a:spcBef>
                <a:spcPts val="0"/>
              </a:spcBef>
              <a:spcAft>
                <a:spcPts val="0"/>
              </a:spcAft>
              <a:buNone/>
              <a:defRPr sz="2250" b="1">
                <a:solidFill>
                  <a:srgbClr val="34695B"/>
                </a:solidFill>
                <a:latin typeface="Arial"/>
                <a:ea typeface="Arial"/>
                <a:cs typeface="Arial"/>
              </a:defRPr>
            </a:pPr>
            <a:r>
              <a:rPr sz="2250" b="1">
                <a:solidFill>
                  <a:srgbClr val="34695B"/>
                </a:solidFill>
                <a:latin typeface="Arial"/>
                <a:ea typeface="Arial"/>
                <a:cs typeface="Arial"/>
              </a:rPr>
              <a:t>Shared work</a:t>
            </a:r>
          </a:p>
        </p:txBody>
      </p:sp>
      <p:sp>
        <p:nvSpPr>
          <p:cNvPr id="4" name="Strategy, interfaces, integration, practice matches and reporting">
            <a:extLst xmlns:a="http://schemas.openxmlformats.org/drawingml/2006/main">
              <a:ext uri="{FF2B5EF4-FFF2-40B4-BE49-F238E27FC236}">
                <a16:creationId xmlns:a16="http://schemas.microsoft.com/office/drawing/2014/main" id="{0DC3A553-ABFF-46CE-9A30-12E562358062}"/>
              </a:ext>
            </a:extLst>
          </p:cNvPr>
          <p:cNvSpPr>
            <a:spLocks xmlns:a="http://schemas.openxmlformats.org/drawingml/2006/main" noGrp="1"/>
          </p:cNvSpPr>
          <p:nvPr/>
        </p:nvSpPr>
        <p:spPr>
          <a:xfrm xmlns:a="http://schemas.openxmlformats.org/drawingml/2006/main">
            <a:off x="3000970" y="8884741"/>
            <a:ext cx="7631757" cy="3733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75"/>
              </a:lnSpc>
              <a:spcBef>
                <a:spcPts val="0"/>
              </a:spcBef>
              <a:spcAft>
                <a:spcPts val="0"/>
              </a:spcAft>
              <a:buNone/>
              <a:defRPr sz="2100" b="0">
                <a:solidFill>
                  <a:srgbClr val="718076"/>
                </a:solidFill>
                <a:latin typeface="Arial"/>
                <a:ea typeface="Arial"/>
                <a:cs typeface="Arial"/>
              </a:defRPr>
            </a:pPr>
            <a:r>
              <a:rPr sz="2100" b="0">
                <a:solidFill>
                  <a:srgbClr val="718076"/>
                </a:solidFill>
                <a:latin typeface="Arial"/>
                <a:ea typeface="Arial"/>
                <a:cs typeface="Arial"/>
              </a:rPr>
              <a:t>Strategy, interfaces, integration, practice matches and reporting.</a:t>
            </a:r>
          </a:p>
        </p:txBody>
      </p:sp>
      <p:graphicFrame>
        <p:nvGraphicFramePr>
          <p:cNvPr id="17" name=""/>
          <p:cNvGraphicFramePr/>
          <p:nvPr/>
        </p:nvGraphicFramePr>
        <p:xfrm>
          <a:off xmlns:a="http://schemas.openxmlformats.org/drawingml/2006/main" x="857250" y="2354461"/>
          <a:ext xmlns:a="http://schemas.openxmlformats.org/drawingml/2006/main" cx="16573500" cy="6015930"/>
        </p:xfrm>
        <a:graphic xmlns:a="http://schemas.openxmlformats.org/drawingml/2006/main">
          <a:graphicData uri="http://schemas.openxmlformats.org/drawingml/2006/table">
            <a:tbl>
              <a:tblPr firstRow="0" firstCol="0" bandRow="0" bandCol="0"/>
              <a:tblGrid>
                <a:gridCol w="3314700"/>
                <a:gridCol w="6760369"/>
                <a:gridCol w="6498431"/>
              </a:tblGrid>
              <a:tr h="898624">
                <a:tc>
                  <a:txBody>
                    <a:bodyPr wrap="square" lIns="209550" tIns="0" rIns="209550" bIns="0">
                      <a:noAutofit/>
                    </a:bodyPr>
                    <a:lstStyle/>
                    <a:p>
                      <a:pPr algn="l">
                        <a:lnSpc>
                          <a:spcPts val="3589"/>
                        </a:lnSpc>
                        <a:buNone/>
                      </a:pPr>
                      <a:r>
                        <a:rPr sz="2175" b="0">
                          <a:solidFill>
                            <a:srgbClr val="34695B"/>
                          </a:solidFill>
                          <a:latin typeface="Arial"/>
                          <a:ea typeface="Arial"/>
                          <a:cs typeface="Arial"/>
                        </a:rPr>
                        <a:t>Work area</a:t>
                      </a:r>
                    </a:p>
                  </a:txBody>
                  <a:tcPr marL="209550" marR="209550" marT="0" marB="0" anchor="ctr">
                    <a:solidFill>
                      <a:srgbClr val="EEF1E9"/>
                    </a:solidFill>
                  </a:tcPr>
                </a:tc>
                <a:tc>
                  <a:txBody>
                    <a:bodyPr wrap="square" lIns="209550" tIns="0" rIns="209550" bIns="0">
                      <a:noAutofit/>
                    </a:bodyPr>
                    <a:lstStyle/>
                    <a:p>
                      <a:pPr algn="l">
                        <a:lnSpc>
                          <a:spcPts val="3589"/>
                        </a:lnSpc>
                        <a:buNone/>
                      </a:pPr>
                      <a:r>
                        <a:rPr sz="2175" b="0">
                          <a:solidFill>
                            <a:srgbClr val="34695B"/>
                          </a:solidFill>
                          <a:latin typeface="Arial"/>
                          <a:ea typeface="Arial"/>
                          <a:cs typeface="Arial"/>
                        </a:rPr>
                        <a:t>Member A: mechanics &amp; control</a:t>
                      </a:r>
                    </a:p>
                  </a:txBody>
                  <a:tcPr marL="209550" marR="209550" marT="0" marB="0" anchor="ctr">
                    <a:solidFill>
                      <a:srgbClr val="EEF1E9"/>
                    </a:solidFill>
                  </a:tcPr>
                </a:tc>
                <a:tc>
                  <a:txBody>
                    <a:bodyPr wrap="square" lIns="209550" tIns="0" rIns="209550" bIns="0">
                      <a:noAutofit/>
                    </a:bodyPr>
                    <a:lstStyle/>
                    <a:p>
                      <a:pPr algn="l">
                        <a:lnSpc>
                          <a:spcPts val="3589"/>
                        </a:lnSpc>
                        <a:buNone/>
                      </a:pPr>
                      <a:r>
                        <a:rPr sz="2175" b="0">
                          <a:solidFill>
                            <a:srgbClr val="34695B"/>
                          </a:solidFill>
                          <a:latin typeface="Arial"/>
                          <a:ea typeface="Arial"/>
                          <a:cs typeface="Arial"/>
                        </a:rPr>
                        <a:t>Member B: vision &amp; strategy</a:t>
                      </a:r>
                    </a:p>
                  </a:txBody>
                  <a:tcPr marL="209550" marR="209550" marT="0" marB="0" anchor="ctr">
                    <a:solidFill>
                      <a:srgbClr val="EEF1E9"/>
                    </a:solidFill>
                  </a:tcPr>
                </a:tc>
              </a:tr>
              <a:tr h="1152525">
                <a:tc>
                  <a:txBody>
                    <a:bodyPr wrap="square" lIns="228600" tIns="0" rIns="228600" bIns="0">
                      <a:noAutofit/>
                    </a:bodyPr>
                    <a:lstStyle/>
                    <a:p>
                      <a:pPr algn="l">
                        <a:lnSpc>
                          <a:spcPts val="3465"/>
                        </a:lnSpc>
                        <a:buNone/>
                      </a:pPr>
                      <a:r>
                        <a:rPr sz="2100" b="0">
                          <a:solidFill>
                            <a:srgbClr val="718076"/>
                          </a:solidFill>
                          <a:latin typeface="Arial"/>
                          <a:ea typeface="Arial"/>
                          <a:cs typeface="Arial"/>
                        </a:rPr>
                        <a:t>Responsibility</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Chassis, pusher, wiring and onboard control</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Field calibration, detection and PC planning</a:t>
                      </a:r>
                    </a:p>
                  </a:txBody>
                  <a:tcPr marL="228600" marR="228600" marT="0" marB="0" anchor="ctr">
                    <a:solidFill>
                      <a:srgbClr val="000000">
                        <a:alpha val="0"/>
                      </a:srgbClr>
                    </a:solidFill>
                  </a:tcPr>
                </a:tc>
              </a:tr>
              <a:tr h="1403747">
                <a:tc>
                  <a:txBody>
                    <a:bodyPr wrap="square" lIns="228600" tIns="0" rIns="228600" bIns="0">
                      <a:noAutofit/>
                    </a:bodyPr>
                    <a:lstStyle/>
                    <a:p>
                      <a:pPr algn="l">
                        <a:lnSpc>
                          <a:spcPts val="3465"/>
                        </a:lnSpc>
                        <a:buNone/>
                      </a:pPr>
                      <a:r>
                        <a:rPr sz="2100" b="0">
                          <a:solidFill>
                            <a:srgbClr val="718076"/>
                          </a:solidFill>
                          <a:latin typeface="Arial"/>
                          <a:ea typeface="Arial"/>
                          <a:cs typeface="Arial"/>
                        </a:rPr>
                        <a:t>Development</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Motor speed loop, wireless commands and fault stops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Target selection, action state machine and logging</a:t>
                      </a:r>
                    </a:p>
                  </a:txBody>
                  <a:tcPr marL="228600" marR="228600" marT="0" marB="0" anchor="ctr">
                    <a:solidFill>
                      <a:srgbClr val="000000">
                        <a:alpha val="0"/>
                      </a:srgbClr>
                    </a:solidFill>
                  </a:tcPr>
                </a:tc>
              </a:tr>
              <a:tr h="1152525">
                <a:tc>
                  <a:txBody>
                    <a:bodyPr wrap="square" lIns="228600" tIns="0" rIns="228600" bIns="0">
                      <a:noAutofit/>
                    </a:bodyPr>
                    <a:lstStyle/>
                    <a:p>
                      <a:pPr algn="l">
                        <a:lnSpc>
                          <a:spcPts val="3465"/>
                        </a:lnSpc>
                        <a:buNone/>
                      </a:pPr>
                      <a:r>
                        <a:rPr sz="2100" b="0">
                          <a:solidFill>
                            <a:srgbClr val="718076"/>
                          </a:solidFill>
                          <a:latin typeface="Arial"/>
                          <a:ea typeface="Arial"/>
                          <a:cs typeface="Arial"/>
                        </a:rPr>
                        <a:t>Deliverables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Working chassis, wiring guide and control code</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Vision outputs, strategy code and calibration files</a:t>
                      </a:r>
                    </a:p>
                  </a:txBody>
                  <a:tcPr marL="228600" marR="228600" marT="0" marB="0" anchor="ctr">
                    <a:solidFill>
                      <a:srgbClr val="000000">
                        <a:alpha val="0"/>
                      </a:srgbClr>
                    </a:solidFill>
                  </a:tcPr>
                </a:tc>
              </a:tr>
              <a:tr h="1403747">
                <a:tc>
                  <a:txBody>
                    <a:bodyPr wrap="square" lIns="228600" tIns="0" rIns="228600" bIns="0">
                      <a:noAutofit/>
                    </a:bodyPr>
                    <a:lstStyle/>
                    <a:p>
                      <a:pPr algn="l">
                        <a:lnSpc>
                          <a:spcPts val="3465"/>
                        </a:lnSpc>
                        <a:buNone/>
                      </a:pPr>
                      <a:r>
                        <a:rPr sz="2100" b="0">
                          <a:solidFill>
                            <a:srgbClr val="718076"/>
                          </a:solidFill>
                          <a:latin typeface="Arial"/>
                          <a:ea typeface="Arial"/>
                          <a:cs typeface="Arial"/>
                        </a:rPr>
                        <a:t>Interface</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Execute speed commands and report robot status</a:t>
                      </a:r>
                    </a:p>
                  </a:txBody>
                  <a:tcPr marL="228600" marR="228600" marT="0" marB="0" anchor="ctr">
                    <a:solidFill>
                      <a:srgbClr val="000000">
                        <a:alpha val="0"/>
                      </a:srgbClr>
                    </a:solidFill>
                  </a:tcPr>
                </a:tc>
                <a:tc>
                  <a:txBody>
                    <a:bodyPr wrap="square" lIns="228600" tIns="0" rIns="228600" bIns="0">
                      <a:noAutofit/>
                    </a:bodyPr>
                    <a:lstStyle/>
                    <a:p>
                      <a:pPr algn="l">
                        <a:lnSpc>
                          <a:spcPts val="3465"/>
                        </a:lnSpc>
                        <a:buNone/>
                      </a:pPr>
                      <a:r>
                        <a:rPr sz="2100" b="0">
                          <a:solidFill>
                            <a:srgbClr val="28332F"/>
                          </a:solidFill>
                          <a:latin typeface="Arial"/>
                          <a:ea typeface="Arial"/>
                          <a:cs typeface="Arial"/>
                        </a:rPr>
                        <a:t>Provide coordinates, targets and motion commands</a:t>
                      </a:r>
                    </a:p>
                  </a:txBody>
                  <a:tcPr marL="228600" marR="228600" marT="0" marB="0" anchor="ctr">
                    <a:solidFill>
                      <a:srgbClr val="000000">
                        <a:alpha val="0"/>
                      </a:srgbClr>
                    </a:solidFill>
                  </a:tcPr>
                </a:tc>
              </a:tr>
            </a:tbl>
          </a:graphicData>
        </a:graphic>
      </p:graphicFrame>
      <p:sp>
        <p:nvSpPr>
          <p:cNvPr id="6" name="Table row divider">
            <a:extLst xmlns:a="http://schemas.openxmlformats.org/drawingml/2006/main">
              <a:ext uri="{FF2B5EF4-FFF2-40B4-BE49-F238E27FC236}">
                <a16:creationId xmlns:a16="http://schemas.microsoft.com/office/drawing/2014/main" id="{70B962B7-8C39-493F-923B-52C483979FFE}"/>
              </a:ext>
            </a:extLst>
          </p:cNvPr>
          <p:cNvSpPr>
            <a:spLocks xmlns:a="http://schemas.openxmlformats.org/drawingml/2006/main" noGrp="1"/>
          </p:cNvSpPr>
          <p:nvPr/>
        </p:nvSpPr>
        <p:spPr>
          <a:xfrm xmlns:a="http://schemas.openxmlformats.org/drawingml/2006/main">
            <a:off x="857250" y="3253085"/>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7" name="Table row divider">
            <a:extLst xmlns:a="http://schemas.openxmlformats.org/drawingml/2006/main">
              <a:ext uri="{FF2B5EF4-FFF2-40B4-BE49-F238E27FC236}">
                <a16:creationId xmlns:a16="http://schemas.microsoft.com/office/drawing/2014/main" id="{DE1DB236-8B40-4C64-AEEC-42C17C1D833F}"/>
              </a:ext>
            </a:extLst>
          </p:cNvPr>
          <p:cNvSpPr>
            <a:spLocks xmlns:a="http://schemas.openxmlformats.org/drawingml/2006/main" noGrp="1"/>
          </p:cNvSpPr>
          <p:nvPr/>
        </p:nvSpPr>
        <p:spPr>
          <a:xfrm xmlns:a="http://schemas.openxmlformats.org/drawingml/2006/main">
            <a:off x="857250" y="4405610"/>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8" name="Table row divider">
            <a:extLst xmlns:a="http://schemas.openxmlformats.org/drawingml/2006/main">
              <a:ext uri="{FF2B5EF4-FFF2-40B4-BE49-F238E27FC236}">
                <a16:creationId xmlns:a16="http://schemas.microsoft.com/office/drawing/2014/main" id="{C66EAF8E-8102-4D99-8FD9-FE6AF60C91E1}"/>
              </a:ext>
            </a:extLst>
          </p:cNvPr>
          <p:cNvSpPr>
            <a:spLocks xmlns:a="http://schemas.openxmlformats.org/drawingml/2006/main" noGrp="1"/>
          </p:cNvSpPr>
          <p:nvPr/>
        </p:nvSpPr>
        <p:spPr>
          <a:xfrm xmlns:a="http://schemas.openxmlformats.org/drawingml/2006/main">
            <a:off x="857250" y="5809357"/>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9" name="Table row divider">
            <a:extLst xmlns:a="http://schemas.openxmlformats.org/drawingml/2006/main">
              <a:ext uri="{FF2B5EF4-FFF2-40B4-BE49-F238E27FC236}">
                <a16:creationId xmlns:a16="http://schemas.microsoft.com/office/drawing/2014/main" id="{1D9A5A42-A577-4F0A-84D8-C83BF03BA1A6}"/>
              </a:ext>
            </a:extLst>
          </p:cNvPr>
          <p:cNvSpPr>
            <a:spLocks xmlns:a="http://schemas.openxmlformats.org/drawingml/2006/main" noGrp="1"/>
          </p:cNvSpPr>
          <p:nvPr/>
        </p:nvSpPr>
        <p:spPr>
          <a:xfrm xmlns:a="http://schemas.openxmlformats.org/drawingml/2006/main">
            <a:off x="857250" y="6961882"/>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
        <p:nvSpPr>
          <p:cNvPr id="10" name="Table row divider">
            <a:extLst xmlns:a="http://schemas.openxmlformats.org/drawingml/2006/main">
              <a:ext uri="{FF2B5EF4-FFF2-40B4-BE49-F238E27FC236}">
                <a16:creationId xmlns:a16="http://schemas.microsoft.com/office/drawing/2014/main" id="{3B02518D-511B-423D-9AFF-0EBADBF854D6}"/>
              </a:ext>
            </a:extLst>
          </p:cNvPr>
          <p:cNvSpPr>
            <a:spLocks xmlns:a="http://schemas.openxmlformats.org/drawingml/2006/main" noGrp="1"/>
          </p:cNvSpPr>
          <p:nvPr/>
        </p:nvSpPr>
        <p:spPr>
          <a:xfrm xmlns:a="http://schemas.openxmlformats.org/drawingml/2006/main">
            <a:off x="857250" y="8365629"/>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9525">
            <a:solidFill>
              <a:srgbClr val="D9DED5"/>
            </a:solidFill>
            <a:prstDash val="solid"/>
          </a:ln>
        </p:spPr>
      </p:sp>
    </p:spTree>
    <p:extLst>
      <p:ext uri="{BB962C8B-B14F-4D97-AF65-F5344CB8AC3E}">
        <p14:creationId xmlns:p14="http://schemas.microsoft.com/office/powerpoint/2010/main" val="575417933"/>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14" name="Section rule">
            <a:extLst xmlns:a="http://schemas.openxmlformats.org/drawingml/2006/main">
              <a:ext uri="{FF2B5EF4-FFF2-40B4-BE49-F238E27FC236}">
                <a16:creationId xmlns:a16="http://schemas.microsoft.com/office/drawing/2014/main" id="{04A89DA8-319C-4B42-BEBF-A4B44EFD1025}"/>
              </a:ext>
            </a:extLst>
          </p:cNvPr>
          <p:cNvSpPr>
            <a:spLocks xmlns:a="http://schemas.openxmlformats.org/drawingml/2006/main" noGrp="1"/>
          </p:cNvSpPr>
          <p:nvPr/>
        </p:nvSpPr>
        <p:spPr>
          <a:xfrm xmlns:a="http://schemas.openxmlformats.org/drawingml/2006/main">
            <a:off x="857250" y="1878211"/>
            <a:ext cx="16573500" cy="9525"/>
          </a:xfrm>
          <a:custGeom xmlns:a="http://schemas.openxmlformats.org/drawingml/2006/main">
            <a:pathLst>
              <a:path w="16573500" h="9525">
                <a:moveTo>
                  <a:pt x="0" y="0"/>
                </a:moveTo>
                <a:lnTo>
                  <a:pt x="16573500" y="0"/>
                </a:lnTo>
              </a:path>
            </a:pathLst>
          </a:custGeom>
          <a:noFill xmlns:a="http://schemas.openxmlformats.org/drawingml/2006/main"/>
          <a:ln xmlns:a="http://schemas.openxmlformats.org/drawingml/2006/main" w="19050">
            <a:solidFill>
              <a:srgbClr val="2C4033"/>
            </a:solidFill>
            <a:prstDash val="solid"/>
          </a:ln>
        </p:spPr>
      </p:sp>
      <p:sp>
        <p:nvSpPr>
          <p:cNvPr id="2" name="Section rule">
            <a:extLst xmlns:a="http://schemas.openxmlformats.org/drawingml/2006/main">
              <a:ext uri="{FF2B5EF4-FFF2-40B4-BE49-F238E27FC236}">
                <a16:creationId xmlns:a16="http://schemas.microsoft.com/office/drawing/2014/main" id="{6E3919FB-2407-42DB-8883-A9A1A572418E}"/>
              </a:ext>
            </a:extLst>
          </p:cNvPr>
          <p:cNvSpPr>
            <a:spLocks xmlns:a="http://schemas.openxmlformats.org/drawingml/2006/main" noGrp="1"/>
          </p:cNvSpPr>
          <p:nvPr/>
        </p:nvSpPr>
        <p:spPr>
          <a:xfrm xmlns:a="http://schemas.openxmlformats.org/drawingml/2006/main">
            <a:off x="8191500" y="2630686"/>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3" name="Section rule">
            <a:extLst xmlns:a="http://schemas.openxmlformats.org/drawingml/2006/main">
              <a:ext uri="{FF2B5EF4-FFF2-40B4-BE49-F238E27FC236}">
                <a16:creationId xmlns:a16="http://schemas.microsoft.com/office/drawing/2014/main" id="{12222514-F8D8-4ACA-89BC-EF26625BD7CF}"/>
              </a:ext>
            </a:extLst>
          </p:cNvPr>
          <p:cNvSpPr>
            <a:spLocks xmlns:a="http://schemas.openxmlformats.org/drawingml/2006/main" noGrp="1"/>
          </p:cNvSpPr>
          <p:nvPr/>
        </p:nvSpPr>
        <p:spPr>
          <a:xfrm xmlns:a="http://schemas.openxmlformats.org/drawingml/2006/main">
            <a:off x="8191500" y="4526161"/>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4" name="Section rule">
            <a:extLst xmlns:a="http://schemas.openxmlformats.org/drawingml/2006/main">
              <a:ext uri="{FF2B5EF4-FFF2-40B4-BE49-F238E27FC236}">
                <a16:creationId xmlns:a16="http://schemas.microsoft.com/office/drawing/2014/main" id="{317CE788-5C07-4D3F-BEA0-CC0934C844B5}"/>
              </a:ext>
            </a:extLst>
          </p:cNvPr>
          <p:cNvSpPr>
            <a:spLocks xmlns:a="http://schemas.openxmlformats.org/drawingml/2006/main" noGrp="1"/>
          </p:cNvSpPr>
          <p:nvPr/>
        </p:nvSpPr>
        <p:spPr>
          <a:xfrm xmlns:a="http://schemas.openxmlformats.org/drawingml/2006/main">
            <a:off x="8191500" y="6421636"/>
            <a:ext cx="9239250" cy="9525"/>
          </a:xfrm>
          <a:custGeom xmlns:a="http://schemas.openxmlformats.org/drawingml/2006/main">
            <a:pathLst>
              <a:path w="9239250" h="9525">
                <a:moveTo>
                  <a:pt x="0" y="0"/>
                </a:moveTo>
                <a:lnTo>
                  <a:pt x="9239250" y="0"/>
                </a:lnTo>
              </a:path>
            </a:pathLst>
          </a:custGeom>
          <a:noFill xmlns:a="http://schemas.openxmlformats.org/drawingml/2006/main"/>
          <a:ln xmlns:a="http://schemas.openxmlformats.org/drawingml/2006/main" w="9525">
            <a:solidFill>
              <a:srgbClr val="D9DED5"/>
            </a:solidFill>
            <a:prstDash val="solid"/>
          </a:ln>
        </p:spPr>
      </p:sp>
      <p:sp>
        <p:nvSpPr>
          <p:cNvPr id="5" name="Slide title">
            <a:extLst xmlns:a="http://schemas.openxmlformats.org/drawingml/2006/main">
              <a:ext uri="{FF2B5EF4-FFF2-40B4-BE49-F238E27FC236}">
                <a16:creationId xmlns:a16="http://schemas.microsoft.com/office/drawing/2014/main" id="{72AD2D25-49D9-4DCF-B614-E8731125D9B6}"/>
              </a:ext>
            </a:extLst>
          </p:cNvPr>
          <p:cNvSpPr>
            <a:spLocks xmlns:a="http://schemas.openxmlformats.org/drawingml/2006/main" noGrp="1"/>
          </p:cNvSpPr>
          <p:nvPr/>
        </p:nvSpPr>
        <p:spPr>
          <a:xfrm xmlns:a="http://schemas.openxmlformats.org/drawingml/2006/main">
            <a:off x="857250" y="819150"/>
            <a:ext cx="16649700" cy="7734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6090"/>
              </a:lnSpc>
              <a:spcBef>
                <a:spcPts val="0"/>
              </a:spcBef>
              <a:spcAft>
                <a:spcPts val="0"/>
              </a:spcAft>
              <a:buNone/>
              <a:defRPr sz="4350" b="1">
                <a:solidFill>
                  <a:srgbClr val="28332F"/>
                </a:solidFill>
                <a:latin typeface="Arial"/>
                <a:ea typeface="Arial"/>
                <a:cs typeface="Arial"/>
              </a:defRPr>
            </a:pPr>
            <a:r>
              <a:rPr sz="4350" b="1">
                <a:solidFill>
                  <a:srgbClr val="28332F"/>
                </a:solidFill>
                <a:latin typeface="Arial"/>
                <a:ea typeface="Arial"/>
                <a:cs typeface="Arial"/>
              </a:rPr>
              <a:t>Next milestone: a working, testable prototype</a:t>
            </a:r>
          </a:p>
        </p:txBody>
      </p:sp>
      <p:sp>
        <p:nvSpPr>
          <p:cNvPr id="6" name="At the next review, we aim to showrepeatable robot operationand r">
            <a:extLst xmlns:a="http://schemas.openxmlformats.org/drawingml/2006/main">
              <a:ext uri="{FF2B5EF4-FFF2-40B4-BE49-F238E27FC236}">
                <a16:creationId xmlns:a16="http://schemas.microsoft.com/office/drawing/2014/main" id="{3E08F04A-F761-4DEB-B322-C5F798A87657}"/>
              </a:ext>
            </a:extLst>
          </p:cNvPr>
          <p:cNvSpPr>
            <a:spLocks xmlns:a="http://schemas.openxmlformats.org/drawingml/2006/main" noGrp="1"/>
          </p:cNvSpPr>
          <p:nvPr/>
        </p:nvSpPr>
        <p:spPr>
          <a:xfrm xmlns:a="http://schemas.openxmlformats.org/drawingml/2006/main">
            <a:off x="857250" y="2725936"/>
            <a:ext cx="6315075" cy="18402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040"/>
              </a:lnSpc>
              <a:spcBef>
                <a:spcPts val="0"/>
              </a:spcBef>
              <a:spcAft>
                <a:spcPts val="0"/>
              </a:spcAft>
              <a:buNone/>
              <a:defRPr sz="3150" b="0">
                <a:solidFill>
                  <a:srgbClr val="28332F"/>
                </a:solidFill>
                <a:latin typeface="Arial"/>
                <a:ea typeface="Arial"/>
                <a:cs typeface="Arial"/>
              </a:defRPr>
            </a:pPr>
            <a:r>
              <a:rPr sz="3150" b="0">
                <a:solidFill>
                  <a:srgbClr val="28332F"/>
                </a:solidFill>
                <a:latin typeface="Arial"/>
                <a:ea typeface="Arial"/>
                <a:cs typeface="Arial"/>
              </a:rPr>
              <a:t>At the next review, we aim to show</a:t>
            </a:r>
          </a:p>
          <a:p xmlns:a="http://schemas.openxmlformats.org/drawingml/2006/main">
            <a:pPr algn="l">
              <a:lnSpc>
                <a:spcPts val="504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repeatable robot operation</a:t>
            </a:r>
          </a:p>
          <a:p xmlns:a="http://schemas.openxmlformats.org/drawingml/2006/main">
            <a:pPr algn="l">
              <a:lnSpc>
                <a:spcPts val="5040"/>
              </a:lnSpc>
              <a:spcBef>
                <a:spcPts val="0"/>
              </a:spcBef>
              <a:spcAft>
                <a:spcPts val="0"/>
              </a:spcAft>
              <a:buNone/>
              <a:defRPr sz="3150" b="0">
                <a:solidFill>
                  <a:srgbClr val="28332F"/>
                </a:solidFill>
                <a:latin typeface="Arial"/>
                <a:ea typeface="Arial"/>
                <a:cs typeface="Arial"/>
              </a:defRPr>
            </a:pPr>
            <a:r>
              <a:rPr sz="3150" b="0">
                <a:solidFill>
                  <a:srgbClr val="34695B"/>
                </a:solidFill>
                <a:latin typeface="Arial"/>
                <a:ea typeface="Arial"/>
                <a:cs typeface="Arial"/>
              </a:rPr>
              <a:t>and recorded test results.</a:t>
            </a:r>
          </a:p>
        </p:txBody>
      </p:sp>
      <p:sp>
        <p:nvSpPr>
          <p:cNvPr id="7" name="Evaluation criteriaPosition error, action time, missed blocks and">
            <a:extLst xmlns:a="http://schemas.openxmlformats.org/drawingml/2006/main">
              <a:ext uri="{FF2B5EF4-FFF2-40B4-BE49-F238E27FC236}">
                <a16:creationId xmlns:a16="http://schemas.microsoft.com/office/drawing/2014/main" id="{2B3A3564-2865-4A53-A344-6561BFFD8B09}"/>
              </a:ext>
            </a:extLst>
          </p:cNvPr>
          <p:cNvSpPr>
            <a:spLocks xmlns:a="http://schemas.openxmlformats.org/drawingml/2006/main" noGrp="1"/>
          </p:cNvSpPr>
          <p:nvPr/>
        </p:nvSpPr>
        <p:spPr>
          <a:xfrm xmlns:a="http://schemas.openxmlformats.org/drawingml/2006/main">
            <a:off x="857250" y="5436394"/>
            <a:ext cx="6315075" cy="14087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Evaluation criteria</a:t>
            </a:r>
          </a:p>
          <a:p xmlns:a="http://schemas.openxmlformats.org/drawingml/2006/main">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Position error, action time, missed blocks and</a:t>
            </a:r>
          </a:p>
          <a:p xmlns:a="http://schemas.openxmlformats.org/drawingml/2006/main">
            <a:pPr algn="l">
              <a:lnSpc>
                <a:spcPts val="4024"/>
              </a:lnSpc>
              <a:spcBef>
                <a:spcPts val="0"/>
              </a:spcBef>
              <a:spcAft>
                <a:spcPts val="0"/>
              </a:spcAft>
              <a:buNone/>
              <a:defRPr sz="2175" b="0">
                <a:solidFill>
                  <a:srgbClr val="718076"/>
                </a:solidFill>
                <a:latin typeface="Arial"/>
                <a:ea typeface="Arial"/>
                <a:cs typeface="Arial"/>
              </a:defRPr>
            </a:pPr>
            <a:r>
              <a:rPr sz="2175" b="0">
                <a:solidFill>
                  <a:srgbClr val="718076"/>
                </a:solidFill>
                <a:latin typeface="Arial"/>
                <a:ea typeface="Arial"/>
                <a:cs typeface="Arial"/>
              </a:rPr>
              <a:t>retention</a:t>
            </a:r>
          </a:p>
        </p:txBody>
      </p:sp>
      <p:sp>
        <p:nvSpPr>
          <p:cNvPr id="8" name="Motion control">
            <a:extLst xmlns:a="http://schemas.openxmlformats.org/drawingml/2006/main">
              <a:ext uri="{FF2B5EF4-FFF2-40B4-BE49-F238E27FC236}">
                <a16:creationId xmlns:a16="http://schemas.microsoft.com/office/drawing/2014/main" id="{B8ECBA91-376E-4194-B868-260FDD47FAA2}"/>
              </a:ext>
            </a:extLst>
          </p:cNvPr>
          <p:cNvSpPr>
            <a:spLocks xmlns:a="http://schemas.openxmlformats.org/drawingml/2006/main" noGrp="1"/>
          </p:cNvSpPr>
          <p:nvPr/>
        </p:nvSpPr>
        <p:spPr>
          <a:xfrm xmlns:a="http://schemas.openxmlformats.org/drawingml/2006/main">
            <a:off x="8191500" y="3002161"/>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Motion control</a:t>
            </a:r>
          </a:p>
        </p:txBody>
      </p:sp>
      <p:sp>
        <p:nvSpPr>
          <p:cNvPr id="9" name="Wireless speed commands, encoder feedback and fault stops">
            <a:extLst xmlns:a="http://schemas.openxmlformats.org/drawingml/2006/main">
              <a:ext uri="{FF2B5EF4-FFF2-40B4-BE49-F238E27FC236}">
                <a16:creationId xmlns:a16="http://schemas.microsoft.com/office/drawing/2014/main" id="{679FA6F9-360A-4FFC-97F3-3B5E7547D561}"/>
              </a:ext>
            </a:extLst>
          </p:cNvPr>
          <p:cNvSpPr>
            <a:spLocks xmlns:a="http://schemas.openxmlformats.org/drawingml/2006/main" noGrp="1"/>
          </p:cNvSpPr>
          <p:nvPr/>
        </p:nvSpPr>
        <p:spPr>
          <a:xfrm xmlns:a="http://schemas.openxmlformats.org/drawingml/2006/main">
            <a:off x="8191500" y="3716536"/>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Wireless speed commands, encoder feedback and fault stops</a:t>
            </a:r>
          </a:p>
        </p:txBody>
      </p:sp>
      <p:sp>
        <p:nvSpPr>
          <p:cNvPr id="10" name="Vision output">
            <a:extLst xmlns:a="http://schemas.openxmlformats.org/drawingml/2006/main">
              <a:ext uri="{FF2B5EF4-FFF2-40B4-BE49-F238E27FC236}">
                <a16:creationId xmlns:a16="http://schemas.microsoft.com/office/drawing/2014/main" id="{B88DEE78-0AD9-43D9-900E-B592F22E1EBE}"/>
              </a:ext>
            </a:extLst>
          </p:cNvPr>
          <p:cNvSpPr>
            <a:spLocks xmlns:a="http://schemas.openxmlformats.org/drawingml/2006/main" noGrp="1"/>
          </p:cNvSpPr>
          <p:nvPr/>
        </p:nvSpPr>
        <p:spPr>
          <a:xfrm xmlns:a="http://schemas.openxmlformats.org/drawingml/2006/main">
            <a:off x="8191500" y="4897636"/>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Vision output</a:t>
            </a:r>
          </a:p>
        </p:txBody>
      </p:sp>
      <p:sp>
        <p:nvSpPr>
          <p:cNvPr id="11" name="Robot pose, block positions and half-field assignment">
            <a:extLst xmlns:a="http://schemas.openxmlformats.org/drawingml/2006/main">
              <a:ext uri="{FF2B5EF4-FFF2-40B4-BE49-F238E27FC236}">
                <a16:creationId xmlns:a16="http://schemas.microsoft.com/office/drawing/2014/main" id="{297138BF-306F-48A4-BEC7-FCD804099648}"/>
              </a:ext>
            </a:extLst>
          </p:cNvPr>
          <p:cNvSpPr>
            <a:spLocks xmlns:a="http://schemas.openxmlformats.org/drawingml/2006/main" noGrp="1"/>
          </p:cNvSpPr>
          <p:nvPr/>
        </p:nvSpPr>
        <p:spPr>
          <a:xfrm xmlns:a="http://schemas.openxmlformats.org/drawingml/2006/main">
            <a:off x="8191500" y="5612011"/>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Robot pose, block positions and half-field assignment</a:t>
            </a:r>
          </a:p>
        </p:txBody>
      </p:sp>
      <p:sp>
        <p:nvSpPr>
          <p:cNvPr id="12" name="Complete push cycle">
            <a:extLst xmlns:a="http://schemas.openxmlformats.org/drawingml/2006/main">
              <a:ext uri="{FF2B5EF4-FFF2-40B4-BE49-F238E27FC236}">
                <a16:creationId xmlns:a16="http://schemas.microsoft.com/office/drawing/2014/main" id="{80B746DC-09D8-4408-9B07-5CE3311DC216}"/>
              </a:ext>
            </a:extLst>
          </p:cNvPr>
          <p:cNvSpPr>
            <a:spLocks xmlns:a="http://schemas.openxmlformats.org/drawingml/2006/main" noGrp="1"/>
          </p:cNvSpPr>
          <p:nvPr/>
        </p:nvSpPr>
        <p:spPr>
          <a:xfrm xmlns:a="http://schemas.openxmlformats.org/drawingml/2006/main">
            <a:off x="8191500" y="6793111"/>
            <a:ext cx="9315450" cy="5067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4275"/>
              </a:lnSpc>
              <a:spcBef>
                <a:spcPts val="0"/>
              </a:spcBef>
              <a:spcAft>
                <a:spcPts val="0"/>
              </a:spcAft>
              <a:buNone/>
              <a:defRPr sz="2850" b="1">
                <a:solidFill>
                  <a:srgbClr val="34695B"/>
                </a:solidFill>
                <a:latin typeface="Arial"/>
                <a:ea typeface="Arial"/>
                <a:cs typeface="Arial"/>
              </a:defRPr>
            </a:pPr>
            <a:r>
              <a:rPr sz="2850" b="1">
                <a:solidFill>
                  <a:srgbClr val="34695B"/>
                </a:solidFill>
                <a:latin typeface="Arial"/>
                <a:ea typeface="Arial"/>
                <a:cs typeface="Arial"/>
              </a:rPr>
              <a:t>Complete push cycle</a:t>
            </a:r>
          </a:p>
        </p:txBody>
      </p:sp>
      <p:sp>
        <p:nvSpPr>
          <p:cNvPr id="13" name="Approach, push, release and return, with recorded results">
            <a:extLst xmlns:a="http://schemas.openxmlformats.org/drawingml/2006/main">
              <a:ext uri="{FF2B5EF4-FFF2-40B4-BE49-F238E27FC236}">
                <a16:creationId xmlns:a16="http://schemas.microsoft.com/office/drawing/2014/main" id="{09544DE5-A1E7-4C73-B69B-7681B7E3A19B}"/>
              </a:ext>
            </a:extLst>
          </p:cNvPr>
          <p:cNvSpPr>
            <a:spLocks xmlns:a="http://schemas.openxmlformats.org/drawingml/2006/main" noGrp="1"/>
          </p:cNvSpPr>
          <p:nvPr/>
        </p:nvSpPr>
        <p:spPr>
          <a:xfrm xmlns:a="http://schemas.openxmlformats.org/drawingml/2006/main">
            <a:off x="8191500" y="7507486"/>
            <a:ext cx="9315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3600"/>
              </a:lnSpc>
              <a:spcBef>
                <a:spcPts val="0"/>
              </a:spcBef>
              <a:spcAft>
                <a:spcPts val="0"/>
              </a:spcAft>
              <a:buNone/>
              <a:defRPr sz="2250" b="0">
                <a:solidFill>
                  <a:srgbClr val="718076"/>
                </a:solidFill>
                <a:latin typeface="Arial"/>
                <a:ea typeface="Arial"/>
                <a:cs typeface="Arial"/>
              </a:defRPr>
            </a:pPr>
            <a:r>
              <a:rPr sz="2250" b="0">
                <a:solidFill>
                  <a:srgbClr val="718076"/>
                </a:solidFill>
                <a:latin typeface="Arial"/>
                <a:ea typeface="Arial"/>
                <a:cs typeface="Arial"/>
              </a:rPr>
              <a:t>Approach, push, release and return, with recorded results</a:t>
            </a:r>
          </a:p>
        </p:txBody>
      </p:sp>
    </p:spTree>
    <p:extLst>
      <p:ext uri="{BB962C8B-B14F-4D97-AF65-F5344CB8AC3E}">
        <p14:creationId xmlns:p14="http://schemas.microsoft.com/office/powerpoint/2010/main" val="11980211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2026-09-29T01:40:25.8900000Z</dcterms:created>
  <dcterms:modified xsi:type="dcterms:W3CDTF">2026-09-29T01:40:25.8900000Z</dcterms:modified>
</coreProperties>
</file>