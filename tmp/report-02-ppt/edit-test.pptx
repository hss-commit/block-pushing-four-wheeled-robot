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7b1b9c8f7140fd" /><Relationship Type="http://schemas.openxmlformats.org/officeDocument/2006/relationships/extended-properties" Target="/docProps/app.xml" Id="R2fff7c20927d4ef9" /><Relationship Type="http://schemas.openxmlformats.org/officeDocument/2006/relationships/officeDocument" Target="/ppt/presentation.xml" Id="Rc3565bdcb20444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723c50b2184ba4"/>
  </p:sldMasterIdLst>
  <p:notesMasterIdLst>
    <p:notesMasterId xmlns:r="http://schemas.openxmlformats.org/officeDocument/2006/relationships" r:id="R20992627d36243fc"/>
  </p:notesMasterIdLst>
  <p:sldIdLst>
    <p:sldId xmlns:r="http://schemas.openxmlformats.org/officeDocument/2006/relationships" id="256" r:id="R1b18c56236d04cc1"/>
    <p:sldId xmlns:r="http://schemas.openxmlformats.org/officeDocument/2006/relationships" id="257" r:id="Re2a7625fdb2b477e"/>
    <p:sldId xmlns:r="http://schemas.openxmlformats.org/officeDocument/2006/relationships" id="258" r:id="R85527519c7044732"/>
    <p:sldId xmlns:r="http://schemas.openxmlformats.org/officeDocument/2006/relationships" id="259" r:id="R0a27fb576e59497a"/>
    <p:sldId xmlns:r="http://schemas.openxmlformats.org/officeDocument/2006/relationships" id="260" r:id="R7a0a568f77c14762"/>
    <p:sldId xmlns:r="http://schemas.openxmlformats.org/officeDocument/2006/relationships" id="261" r:id="R4f9d455644ce4f65"/>
    <p:sldId xmlns:r="http://schemas.openxmlformats.org/officeDocument/2006/relationships" id="262" r:id="Rca6878175ab44dd8"/>
    <p:sldId xmlns:r="http://schemas.openxmlformats.org/officeDocument/2006/relationships" id="263" r:id="Rff3c41893c81424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665b6a375a4a8a" /><Relationship Type="http://schemas.openxmlformats.org/officeDocument/2006/relationships/slideMaster" Target="/ppt/slideMasters/slideMaster1.xml" Id="R50723c50b2184ba4" /><Relationship Type="http://schemas.openxmlformats.org/officeDocument/2006/relationships/notesMaster" Target="/ppt/notesMasters/notesMaster1.xml" Id="R20992627d36243fc" /><Relationship Type="http://schemas.openxmlformats.org/officeDocument/2006/relationships/presProps" Target="/ppt/presProps.xml" Id="R7538c6d8a40341fb" /><Relationship Type="http://schemas.openxmlformats.org/officeDocument/2006/relationships/tableStyles" Target="/ppt/tableStyles.xml" Id="Rb8c9591e35384fdc" /><Relationship Type="http://schemas.openxmlformats.org/officeDocument/2006/relationships/slide" Target="/ppt/slides/slide1.xml" Id="R1b18c56236d04cc1" /><Relationship Type="http://schemas.openxmlformats.org/officeDocument/2006/relationships/slide" Target="/ppt/slides/slide2.xml" Id="Re2a7625fdb2b477e" /><Relationship Type="http://schemas.openxmlformats.org/officeDocument/2006/relationships/slide" Target="/ppt/slides/slide3.xml" Id="R85527519c7044732" /><Relationship Type="http://schemas.openxmlformats.org/officeDocument/2006/relationships/slide" Target="/ppt/slides/slide4.xml" Id="R0a27fb576e59497a" /><Relationship Type="http://schemas.openxmlformats.org/officeDocument/2006/relationships/slide" Target="/ppt/slides/slide5.xml" Id="R7a0a568f77c14762" /><Relationship Type="http://schemas.openxmlformats.org/officeDocument/2006/relationships/slide" Target="/ppt/slides/slide6.xml" Id="R4f9d455644ce4f65" /><Relationship Type="http://schemas.openxmlformats.org/officeDocument/2006/relationships/slide" Target="/ppt/slides/slide7.xml" Id="Rca6878175ab44dd8" /><Relationship Type="http://schemas.openxmlformats.org/officeDocument/2006/relationships/slide" Target="/ppt/slides/slide8.xml" Id="Rff3c41893c8142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ad0fb4c9d348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a34a35a7fd491a" /><Relationship Type="http://schemas.openxmlformats.org/officeDocument/2006/relationships/notesMaster" Target="/ppt/notesMasters/notesMaster1.xml" Id="Rbc81511a67cb48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f4e614de584864" /><Relationship Type="http://schemas.openxmlformats.org/officeDocument/2006/relationships/notesMaster" Target="/ppt/notesMasters/notesMaster1.xml" Id="R45aa8631b3ff41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e7f89a659f4e8b" /><Relationship Type="http://schemas.openxmlformats.org/officeDocument/2006/relationships/notesMaster" Target="/ppt/notesMasters/notesMaster1.xml" Id="R4aa4c6b6297e49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ec8c73fcfd47bd" /><Relationship Type="http://schemas.openxmlformats.org/officeDocument/2006/relationships/notesMaster" Target="/ppt/notesMasters/notesMaster1.xml" Id="R26906d4d6f8345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a3a00acfc043cd" /><Relationship Type="http://schemas.openxmlformats.org/officeDocument/2006/relationships/notesMaster" Target="/ppt/notesMasters/notesMaster1.xml" Id="R0d098f99d2be49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b0369d67364b0e" /><Relationship Type="http://schemas.openxmlformats.org/officeDocument/2006/relationships/notesMaster" Target="/ppt/notesMasters/notesMaster1.xml" Id="Rb4d5fd61e76a4a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d40bdf31dc42f7" /><Relationship Type="http://schemas.openxmlformats.org/officeDocument/2006/relationships/notesMaster" Target="/ppt/notesMasters/notesMaster1.xml" Id="R8858fedcb67b42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2ebcffb11d45ef" /><Relationship Type="http://schemas.openxmlformats.org/officeDocument/2006/relationships/notesMaster" Target="/ppt/notesMasters/notesMaster1.xml" Id="R2ac95a45d8994d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我们的总体方案保持不变：顶置摄像头采集场地信息，电脑用 OpenCV 识别机器人和方块，并完成目标选择，再通过无线连接向 ESP32 发送运动指令。车端采用 AT8236 驱动模块和 520 编码器电机，前端使用浅 U 形推板。策略分为开局、中盘、终盘三个阶段。这次汇报的重点是从模块验证走向系统联调。图中是目标架构，完整的实车闭环还没有接通。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相比第一次汇报，现在硬件已经确定，ESP32 已完成烧录，小车已经能连接电脑串口，通过电脑指令实现前进、后退、左转和右转。这是已经实现的实物进展；重复动作的稳定性仍需继续验证。手机 Wi-Fi 遥控程序已经写好，尚未确认烧录和实测。视觉已具备静态照片处理功能，实际验证过的是空场地的透视展开，还没有完成实拍方块识别验收。策略已做成前中后期共享原型，并有连续二维演示。这些成果说明各模块已有基础，但还没有自主推块实车成果。运动进度已按 10 月 19 日最新反馈更新。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主要有四个缺口。首先也是比较重要的一项：当前小车面积可能超过比赛要求，需要实测整车占地并重新设计底盘，调整部件布局。第二，已有电脑串口控制的基本移动能力，接下来需要继续验证重复动作、转向和停车的可靠性。第三，接入实时摄像头、AprilTag 位姿和方块跟踪。第四，修复已有策略问题，并接入真实运动执行和反馈。策略审查已复现四项问题：推板边缘障碍漏检、远块拖累近块、首选路线失败后缺少次选回退，以及过期反馈影响阶段。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按依赖关系分三步。先调整底盘与控制：实测整车占地，重新设计更紧凑的底盘，同时加入更换轮胎的备选方案，对比轮胎尺寸和抓地表现，是否更换由测试结果决定。保留已经实现的电脑串口移动能力，再测试无线指令和推板，先人工遥控推走一个方块。再做反馈：接真实编码器，标定轮径和轮距，并完成实时视觉定位，验收能否到达目标点并停车。最后接自主策略，实现识别、接近、推送的完整流程，再通过模拟比赛调参。若更换轮胎，需要重新标定轮径及运动参数；不在没有实测依据的情况下承诺具体完成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里程碑尽量小而明确：重新设计底盘，使整车面积满足要求，再稳定遥控并推走一个真实方块。建议验收包括测量改版后的整车占地，反复验证前后移动、转向、停车和失联停车，最后录制一次完整遥控推块。底盘缩小和轮胎更换均属于接下来要验证的工作，并非已经完成。目前独立 USB 工程中的模拟里程计和超时归零检查，不代表这些能力已经接入真实电机或 Wi-Fi 工程。完成这一里程碑后，再把同一任务扩展为自主完成。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空白页，可按需补充内容。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空白页，可按需补充内容。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空白页，可按需补充内容。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4fa08eb3d47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8796f720e42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f94558e4348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0e8d2c0104d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a3aa4048741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ecced749246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248B06-C95A-4FBE-8D2F-21477C455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2E8C81-932A-4138-A5D4-B6DB9FAF26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CB06BA-CE6E-4E06-A60C-20D89B107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B3AAA7-0AEA-436B-99BD-B2818D9AD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D2C94C-3250-4C27-8DD0-51214846B8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152043-1BDB-4342-97CA-56CCA432B9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82E413-8C31-42F9-AF41-2AD56FCD28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328820-4437-41A4-B302-A7FE117538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0AD821-0603-4F82-AB2A-6C2CA61B4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6C9E45-F680-420D-8A8C-627054EB84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51cde747a04615" /><Relationship Type="http://schemas.openxmlformats.org/officeDocument/2006/relationships/slideLayout" Target="/ppt/slideLayouts/slideLayout1.xml" Id="R99f0ac825ff04688" /><Relationship Type="http://schemas.openxmlformats.org/officeDocument/2006/relationships/slideLayout" Target="/ppt/slideLayouts/slideLayout2.xml" Id="R401f74dfcbdf4d19" /><Relationship Type="http://schemas.openxmlformats.org/officeDocument/2006/relationships/slideLayout" Target="/ppt/slideLayouts/slideLayout3.xml" Id="Rbfe8f0b219d34577" /><Relationship Type="http://schemas.openxmlformats.org/officeDocument/2006/relationships/slideLayout" Target="/ppt/slideLayouts/slideLayout4.xml" Id="Re46c47567d734bdc" /><Relationship Type="http://schemas.openxmlformats.org/officeDocument/2006/relationships/slideLayout" Target="/ppt/slideLayouts/slideLayout5.xml" Id="R4738df1adc6d48a4" /><Relationship Type="http://schemas.openxmlformats.org/officeDocument/2006/relationships/slideLayout" Target="/ppt/slideLayouts/slideLayout6.xml" Id="R2453f5c154fc4b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f0ac825ff04688"/>
    <p:sldLayoutId xmlns:r="http://schemas.openxmlformats.org/officeDocument/2006/relationships" id="2147483650" r:id="R401f74dfcbdf4d19"/>
    <p:sldLayoutId xmlns:r="http://schemas.openxmlformats.org/officeDocument/2006/relationships" id="2147483651" r:id="Rbfe8f0b219d34577"/>
    <p:sldLayoutId xmlns:r="http://schemas.openxmlformats.org/officeDocument/2006/relationships" id="2147483652" r:id="Re46c47567d734bdc"/>
    <p:sldLayoutId xmlns:r="http://schemas.openxmlformats.org/officeDocument/2006/relationships" id="2147483653" r:id="R4738df1adc6d48a4"/>
    <p:sldLayoutId xmlns:r="http://schemas.openxmlformats.org/officeDocument/2006/relationships" id="2147483654" r:id="R2453f5c154fc4b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ddecb93e8c4a69" /><Relationship Type="http://schemas.openxmlformats.org/officeDocument/2006/relationships/notesSlide" Target="/ppt/notesSlides/notesSlide1.xml" Id="Re9086dddac8549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0a5aaa9c74630" /><Relationship Type="http://schemas.openxmlformats.org/officeDocument/2006/relationships/notesSlide" Target="/ppt/notesSlides/notesSlide2.xml" Id="Ra450b2473c5a49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dcd4b781e4389" /><Relationship Type="http://schemas.openxmlformats.org/officeDocument/2006/relationships/notesSlide" Target="/ppt/notesSlides/notesSlide3.xml" Id="R0a4b850744054d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30a43b25334184" /><Relationship Type="http://schemas.openxmlformats.org/officeDocument/2006/relationships/notesSlide" Target="/ppt/notesSlides/notesSlide4.xml" Id="Rd889438bcded4d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9e4a0ef964d2c" /><Relationship Type="http://schemas.openxmlformats.org/officeDocument/2006/relationships/notesSlide" Target="/ppt/notesSlides/notesSlide5.xml" Id="R7f43f7bfa3244b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7e1f5edf740d5" /><Relationship Type="http://schemas.openxmlformats.org/officeDocument/2006/relationships/notesSlide" Target="/ppt/notesSlides/notesSlide6.xml" Id="Rdd3dafe7d8744b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584ef9edd4e74" /><Relationship Type="http://schemas.openxmlformats.org/officeDocument/2006/relationships/notesSlide" Target="/ppt/notesSlides/notesSlide7.xml" Id="R3c9856431d864f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5db30d657454f" /><Relationship Type="http://schemas.openxmlformats.org/officeDocument/2006/relationships/notesSlide" Target="/ppt/notesSlides/notesSlide8.xml" Id="R687aa54d063147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4F7F8B80-AC02-4462-9B48-EA6FFFE9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7812"/>
            <a:ext cx="414010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2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2B79D62A-0B58-47A5-A080-E65C12BF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01" y="3687812"/>
            <a:ext cx="414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3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33D49A88-118B-4FD1-9879-65E3BABA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00" y="3687812"/>
            <a:ext cx="414010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4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CAE0ECBC-AC90-4DC4-AE53-E383F7B4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0462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5" name="Block-pushing robot · Progress report 02">
            <a:extLst xmlns:a="http://schemas.openxmlformats.org/drawingml/2006/main">
              <a:ext uri="{FF2B5EF4-FFF2-40B4-BE49-F238E27FC236}">
                <a16:creationId xmlns:a16="http://schemas.microsoft.com/office/drawing/2014/main" id="{A2564A07-31E9-435D-8062-A96ACBE4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5051078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Block-pushing robot · Progress report 02</a:t>
            </a:r>
          </a:p>
        </p:txBody>
      </p:sp>
      <p:sp>
        <p:nvSpPr>
          <p:cNvPr id="6" name="One camera. One planner.">
            <a:extLst xmlns:a="http://schemas.openxmlformats.org/drawingml/2006/main">
              <a:ext uri="{FF2B5EF4-FFF2-40B4-BE49-F238E27FC236}">
                <a16:creationId xmlns:a16="http://schemas.microsoft.com/office/drawing/2014/main" id="{BC24A7C1-4C85-4601-9026-B3543D0D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6682532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Editability verified.</a:t>
            </a: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 One planner.</a:t>
            </a:r>
          </a:p>
        </p:txBody>
      </p:sp>
      <p:sp>
        <p:nvSpPr>
          <p:cNvPr id="7" name="One pushing robot.">
            <a:extLst xmlns:a="http://schemas.openxmlformats.org/drawingml/2006/main">
              <a:ext uri="{FF2B5EF4-FFF2-40B4-BE49-F238E27FC236}">
                <a16:creationId xmlns:a16="http://schemas.microsoft.com/office/drawing/2014/main" id="{0F8624C5-88DA-404A-A72F-ED8C3017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5336"/>
            <a:ext cx="5076081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One pushing robot.</a:t>
            </a:r>
          </a:p>
        </p:txBody>
      </p:sp>
      <p:sp>
        <p:nvSpPr>
          <p:cNvPr id="8" name="Overhead vision guides a differential-drive robot with ">
            <a:extLst xmlns:a="http://schemas.openxmlformats.org/drawingml/2006/main">
              <a:ext uri="{FF2B5EF4-FFF2-40B4-BE49-F238E27FC236}">
                <a16:creationId xmlns:a16="http://schemas.microsoft.com/office/drawing/2014/main" id="{1C89FFC4-CE8D-4366-82D8-5D799B41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0097"/>
            <a:ext cx="9423053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Overhead vision guides a differential-drive robot with a shallow U-shaped pusher.</a:t>
            </a:r>
          </a:p>
        </p:txBody>
      </p:sp>
      <p:sp>
        <p:nvSpPr>
          <p:cNvPr id="9" name="Observe">
            <a:extLst xmlns:a="http://schemas.openxmlformats.org/drawingml/2006/main">
              <a:ext uri="{FF2B5EF4-FFF2-40B4-BE49-F238E27FC236}">
                <a16:creationId xmlns:a16="http://schemas.microsoft.com/office/drawing/2014/main" id="{59A85C3E-C300-44C5-8751-35ECED8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5462"/>
            <a:ext cx="1282303" cy="395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Observe</a:t>
            </a:r>
          </a:p>
        </p:txBody>
      </p:sp>
      <p:sp>
        <p:nvSpPr>
          <p:cNvPr id="10" name="Overhead camera + OpenCV">
            <a:extLst xmlns:a="http://schemas.openxmlformats.org/drawingml/2006/main">
              <a:ext uri="{FF2B5EF4-FFF2-40B4-BE49-F238E27FC236}">
                <a16:creationId xmlns:a16="http://schemas.microsoft.com/office/drawing/2014/main" id="{9137787E-48DC-4FA8-A665-52B1A16E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5531"/>
            <a:ext cx="3190577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Overhead camera + OpenCV</a:t>
            </a:r>
          </a:p>
        </p:txBody>
      </p:sp>
      <p:sp>
        <p:nvSpPr>
          <p:cNvPr id="11" name="Locate the robot and blocks">
            <a:extLst xmlns:a="http://schemas.openxmlformats.org/drawingml/2006/main">
              <a:ext uri="{FF2B5EF4-FFF2-40B4-BE49-F238E27FC236}">
                <a16:creationId xmlns:a16="http://schemas.microsoft.com/office/drawing/2014/main" id="{5CE39BC4-CC12-4BE0-B2ED-B7D25764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2718"/>
            <a:ext cx="3105596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Locate the robot and blocks</a:t>
            </a:r>
          </a:p>
        </p:txBody>
      </p:sp>
      <p:sp>
        <p:nvSpPr>
          <p:cNvPr id="12" name="→">
            <a:extLst xmlns:a="http://schemas.openxmlformats.org/drawingml/2006/main">
              <a:ext uri="{FF2B5EF4-FFF2-40B4-BE49-F238E27FC236}">
                <a16:creationId xmlns:a16="http://schemas.microsoft.com/office/drawing/2014/main" id="{C8A64ABA-F28D-4C99-90DF-3623FC9B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121" y="4292650"/>
            <a:ext cx="500211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30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3" name="Decide">
            <a:extLst xmlns:a="http://schemas.openxmlformats.org/drawingml/2006/main">
              <a:ext uri="{FF2B5EF4-FFF2-40B4-BE49-F238E27FC236}">
                <a16:creationId xmlns:a16="http://schemas.microsoft.com/office/drawing/2014/main" id="{2581FE0E-7500-402B-8E0B-F04BC89A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01" y="3935462"/>
            <a:ext cx="1090910" cy="395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Decide</a:t>
            </a:r>
          </a:p>
        </p:txBody>
      </p:sp>
      <p:sp>
        <p:nvSpPr>
          <p:cNvPr id="14" name="Offboard computer">
            <a:extLst xmlns:a="http://schemas.openxmlformats.org/drawingml/2006/main">
              <a:ext uri="{FF2B5EF4-FFF2-40B4-BE49-F238E27FC236}">
                <a16:creationId xmlns:a16="http://schemas.microsoft.com/office/drawing/2014/main" id="{47C16FC9-A700-43B0-94D3-3189DE1D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01" y="4485531"/>
            <a:ext cx="2206377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Offboard computer</a:t>
            </a:r>
          </a:p>
        </p:txBody>
      </p:sp>
      <p:sp>
        <p:nvSpPr>
          <p:cNvPr id="15" name="Select targets and pushing paths">
            <a:extLst xmlns:a="http://schemas.openxmlformats.org/drawingml/2006/main">
              <a:ext uri="{FF2B5EF4-FFF2-40B4-BE49-F238E27FC236}">
                <a16:creationId xmlns:a16="http://schemas.microsoft.com/office/drawing/2014/main" id="{A17E5BB5-6638-4A60-BCC0-129D60EF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01" y="4842718"/>
            <a:ext cx="3604468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Select targets and pushing paths</a:t>
            </a:r>
          </a:p>
        </p:txBody>
      </p:sp>
      <p:sp>
        <p:nvSpPr>
          <p:cNvPr id="16" name="→">
            <a:extLst xmlns:a="http://schemas.openxmlformats.org/drawingml/2006/main">
              <a:ext uri="{FF2B5EF4-FFF2-40B4-BE49-F238E27FC236}">
                <a16:creationId xmlns:a16="http://schemas.microsoft.com/office/drawing/2014/main" id="{7D1E1EB9-FEB8-44B2-B5A2-101CB544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820" y="4292650"/>
            <a:ext cx="500211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30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Move">
            <a:extLst xmlns:a="http://schemas.openxmlformats.org/drawingml/2006/main">
              <a:ext uri="{FF2B5EF4-FFF2-40B4-BE49-F238E27FC236}">
                <a16:creationId xmlns:a16="http://schemas.microsoft.com/office/drawing/2014/main" id="{29BB1BCC-1E59-46C9-9BD0-A7CF0235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00" y="3935462"/>
            <a:ext cx="925116" cy="395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Move</a:t>
            </a:r>
          </a:p>
        </p:txBody>
      </p:sp>
      <p:sp>
        <p:nvSpPr>
          <p:cNvPr id="18" name="ESP32 + AT8236 driver">
            <a:extLst xmlns:a="http://schemas.openxmlformats.org/drawingml/2006/main">
              <a:ext uri="{FF2B5EF4-FFF2-40B4-BE49-F238E27FC236}">
                <a16:creationId xmlns:a16="http://schemas.microsoft.com/office/drawing/2014/main" id="{3CCE9AB1-977A-4BE2-BEB9-465EE08A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00" y="4485531"/>
            <a:ext cx="2543919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ESP32 + AT8236 driver</a:t>
            </a:r>
          </a:p>
        </p:txBody>
      </p:sp>
      <p:sp>
        <p:nvSpPr>
          <p:cNvPr id="19" name="520 encoder motors">
            <a:extLst xmlns:a="http://schemas.openxmlformats.org/drawingml/2006/main">
              <a:ext uri="{FF2B5EF4-FFF2-40B4-BE49-F238E27FC236}">
                <a16:creationId xmlns:a16="http://schemas.microsoft.com/office/drawing/2014/main" id="{249DCC21-B931-4E6C-B71E-2F0EFADB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00" y="4842718"/>
            <a:ext cx="2292102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520 encoder motors</a:t>
            </a:r>
          </a:p>
        </p:txBody>
      </p:sp>
      <p:sp>
        <p:nvSpPr>
          <p:cNvPr id="20" name="STRATEGY">
            <a:extLst xmlns:a="http://schemas.openxmlformats.org/drawingml/2006/main">
              <a:ext uri="{FF2B5EF4-FFF2-40B4-BE49-F238E27FC236}">
                <a16:creationId xmlns:a16="http://schemas.microsoft.com/office/drawing/2014/main" id="{03E09EE1-05C3-4FA7-B022-F3741269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88112"/>
            <a:ext cx="1015454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STRATEGY</a:t>
            </a:r>
          </a:p>
        </p:txBody>
      </p:sp>
      <p:sp>
        <p:nvSpPr>
          <p:cNvPr id="21" name="Opening push → adaptive midgame → quick final pushes">
            <a:extLst xmlns:a="http://schemas.openxmlformats.org/drawingml/2006/main">
              <a:ext uri="{FF2B5EF4-FFF2-40B4-BE49-F238E27FC236}">
                <a16:creationId xmlns:a16="http://schemas.microsoft.com/office/drawing/2014/main" id="{9207F74A-9EBA-4301-9CFE-AD164E0E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45300"/>
            <a:ext cx="6162675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Opening push → adaptive midgame → quick final pushes</a:t>
            </a:r>
          </a:p>
        </p:txBody>
      </p:sp>
      <p:sp>
        <p:nvSpPr>
          <p:cNvPr id="22" name="CURRENT STAGE">
            <a:extLst xmlns:a="http://schemas.openxmlformats.org/drawingml/2006/main">
              <a:ext uri="{FF2B5EF4-FFF2-40B4-BE49-F238E27FC236}">
                <a16:creationId xmlns:a16="http://schemas.microsoft.com/office/drawing/2014/main" id="{FC8D7285-5E75-41E1-A430-E3D4D8CE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4140" y="6088112"/>
            <a:ext cx="1543050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CURRENT STAGE</a:t>
            </a:r>
          </a:p>
        </p:txBody>
      </p:sp>
      <p:sp>
        <p:nvSpPr>
          <p:cNvPr id="23" name="Module testing → system integration">
            <a:extLst xmlns:a="http://schemas.openxmlformats.org/drawingml/2006/main">
              <a:ext uri="{FF2B5EF4-FFF2-40B4-BE49-F238E27FC236}">
                <a16:creationId xmlns:a16="http://schemas.microsoft.com/office/drawing/2014/main" id="{D30D7E1D-0772-4BDF-B6B1-6593FEF0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4140" y="6445300"/>
            <a:ext cx="405006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Module testing → system integration</a:t>
            </a:r>
          </a:p>
        </p:txBody>
      </p:sp>
      <p:sp>
        <p:nvSpPr>
          <p:cNvPr id="24" name="Planned architecture; the complete autonomous loop is s">
            <a:extLst xmlns:a="http://schemas.openxmlformats.org/drawingml/2006/main">
              <a:ext uri="{FF2B5EF4-FFF2-40B4-BE49-F238E27FC236}">
                <a16:creationId xmlns:a16="http://schemas.microsoft.com/office/drawing/2014/main" id="{24662622-F29C-4259-8829-9F9E98DF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7265491" cy="280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Planned architecture; the complete autonomous loop is still to be integrated.</a:t>
            </a:r>
          </a:p>
        </p:txBody>
      </p:sp>
    </p:spTree>
    <p:extLst>
      <p:ext uri="{BB962C8B-B14F-4D97-AF65-F5344CB8AC3E}">
        <p14:creationId xmlns:p14="http://schemas.microsoft.com/office/powerpoint/2010/main" val="959110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F1DD33FA-60C7-49ED-9EF8-6E28DE7E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1986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2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5D40DC28-2528-4D72-9B5F-661A8871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1986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3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EBAFC3E2-33EA-424A-9959-91950256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71986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4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7C4DDA89-C597-4381-8B1A-326F56CC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018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5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1CE3F12F-85ED-418E-B8A2-CEA037FF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018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6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45E80719-0146-4F04-8DDB-E222A918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6018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7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18A860B2-6F6F-4E5C-AB98-E0966FD8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374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8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395B8E81-CE32-4197-8C37-CEAD0E12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48374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9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AB4DCC12-4102-44E2-B2D3-F124549D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48374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10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DEB0D00E-F08E-4F60-9D1A-E1372929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8036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11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3F3255F8-6149-4122-B7D2-DF7EC56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58036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12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2F61D457-D691-4F61-8040-97A3856A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958036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13" name="Current progress">
            <a:extLst xmlns:a="http://schemas.openxmlformats.org/drawingml/2006/main">
              <a:ext uri="{FF2B5EF4-FFF2-40B4-BE49-F238E27FC236}">
                <a16:creationId xmlns:a16="http://schemas.microsoft.com/office/drawing/2014/main" id="{3E9FD56C-4B66-48E3-8A3A-303696E8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2249686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Current progress</a:t>
            </a:r>
          </a:p>
        </p:txBody>
      </p:sp>
      <p:sp>
        <p:nvSpPr>
          <p:cNvPr id="14" name="The robot now moves">
            <a:extLst xmlns:a="http://schemas.openxmlformats.org/drawingml/2006/main">
              <a:ext uri="{FF2B5EF4-FFF2-40B4-BE49-F238E27FC236}">
                <a16:creationId xmlns:a16="http://schemas.microsoft.com/office/drawing/2014/main" id="{650B0177-2573-4BBB-86D0-76B23D0A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5687020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The robot now moves</a:t>
            </a:r>
          </a:p>
        </p:txBody>
      </p:sp>
      <p:sp>
        <p:nvSpPr>
          <p:cNvPr id="15" name="under PC serial control.">
            <a:extLst xmlns:a="http://schemas.openxmlformats.org/drawingml/2006/main">
              <a:ext uri="{FF2B5EF4-FFF2-40B4-BE49-F238E27FC236}">
                <a16:creationId xmlns:a16="http://schemas.microsoft.com/office/drawing/2014/main" id="{063D6CD0-CC3F-4A95-A7A7-B61977D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5336"/>
            <a:ext cx="5991076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under PC serial control.</a:t>
            </a:r>
          </a:p>
        </p:txBody>
      </p:sp>
      <p:sp>
        <p:nvSpPr>
          <p:cNvPr id="16" name="Next step: make these modules work together on the robo">
            <a:extLst xmlns:a="http://schemas.openxmlformats.org/drawingml/2006/main">
              <a:ext uri="{FF2B5EF4-FFF2-40B4-BE49-F238E27FC236}">
                <a16:creationId xmlns:a16="http://schemas.microsoft.com/office/drawing/2014/main" id="{91B5E891-5709-4588-805A-0E987382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65318"/>
            <a:ext cx="7416105" cy="357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Next step: make these modules work together on the robot.</a:t>
            </a:r>
          </a:p>
        </p:txBody>
      </p:sp>
      <p:sp>
        <p:nvSpPr>
          <p:cNvPr id="17" name="Updated with confirmed movement progress: 19 October 20">
            <a:extLst xmlns:a="http://schemas.openxmlformats.org/drawingml/2006/main">
              <a:ext uri="{FF2B5EF4-FFF2-40B4-BE49-F238E27FC236}">
                <a16:creationId xmlns:a16="http://schemas.microsoft.com/office/drawing/2014/main" id="{169C84C2-4240-4385-8855-7A61FCD6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6025307" cy="280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Updated with confirmed movement progress: 19 October 2026.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11B0E-59C1-41D8-B41C-CD3D08899690}"/>
              </a:ext>
            </a:extLst>
          </p:cNvPr>
          <p:cNvGraphicFramePr/>
          <p:nvPr/>
        </p:nvGraphicFramePr>
        <p:xfrm>
          <a:off xmlns:a="http://schemas.openxmlformats.org/drawingml/2006/main" x="857250" y="2889647"/>
          <a:ext xmlns:a="http://schemas.openxmlformats.org/drawingml/2006/main" cx="13525500" cy="3851821"/>
        </p:xfrm>
        <a:graphic xmlns:a="http://schemas.openxmlformats.org/drawingml/2006/main">
          <a:graphicData uri="http://schemas.openxmlformats.org/drawingml/2006/table">
            <a:tbl>
              <a:tblPr firstRow="0" firstCol="0" bandRow="0" bandCol="0"/>
              <a:tblGrid>
                <a:gridCol w="2000250"/>
                <a:gridCol w="7239000"/>
                <a:gridCol w="4286250"/>
              </a:tblGrid>
              <a:tr h="382339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425" b="0">
                          <a:solidFill>
                            <a:srgbClr val="69746C"/>
                          </a:solidFill>
                          <a:latin typeface="Segoe UI"/>
                          <a:ea typeface="Segoe UI"/>
                          <a:cs typeface="Segoe UI"/>
                        </a:rPr>
                        <a:t>Module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425" b="0">
                          <a:solidFill>
                            <a:srgbClr val="69746C"/>
                          </a:solidFill>
                          <a:latin typeface="Segoe UI"/>
                          <a:ea typeface="Segoe UI"/>
                          <a:cs typeface="Segoe UI"/>
                        </a:rPr>
                        <a:t>Evidence so far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425" b="0">
                          <a:solidFill>
                            <a:srgbClr val="69746C"/>
                          </a:solidFill>
                          <a:latin typeface="Segoe UI"/>
                          <a:ea typeface="Segoe UI"/>
                          <a:cs typeface="Segoe UI"/>
                        </a:rPr>
                        <a:t>Status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788194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Motion control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333375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Editable table verified</a:t>
                      </a: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3F7159"/>
                          </a:solidFill>
                          <a:latin typeface="Segoe UI"/>
                          <a:ea typeface="Segoe UI"/>
                          <a:cs typeface="Segoe UI"/>
                        </a:rPr>
                        <a:t>Basic movement achieved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788194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Wireless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333375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Phone-based Wi-Fi control code prepared.</a:t>
                      </a: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936239"/>
                          </a:solidFill>
                          <a:latin typeface="Segoe UI"/>
                          <a:ea typeface="Segoe UI"/>
                          <a:cs typeface="Segoe UI"/>
                        </a:rPr>
                        <a:t>Hardware test pending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1109663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Vision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333375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Photo-processing prototype; real empty-field perspective correction.</a:t>
                      </a: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3F7159"/>
                          </a:solidFill>
                          <a:latin typeface="Segoe UI"/>
                          <a:ea typeface="Segoe UI"/>
                          <a:cs typeface="Segoe UI"/>
                        </a:rPr>
                        <a:t>Static prototype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783431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Strategy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333375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Three-stage planner shared with a continuous 2D simulation.</a:t>
                      </a: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3F7159"/>
                          </a:solidFill>
                          <a:latin typeface="Segoe UI"/>
                          <a:ea typeface="Segoe UI"/>
                          <a:cs typeface="Segoe UI"/>
                        </a:rPr>
                        <a:t>Software prototype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530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98D2FF83-9302-4FD8-AB82-73E1C9C6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9686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2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93B3A913-B4A0-4795-88E9-4460F774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2990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3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05A78FAA-8C0A-487A-B466-1A6ED7E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6294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4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02E1A518-A3FB-4B15-974E-E9E417AD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598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5" name="What still needs to work">
            <a:extLst xmlns:a="http://schemas.openxmlformats.org/drawingml/2006/main">
              <a:ext uri="{FF2B5EF4-FFF2-40B4-BE49-F238E27FC236}">
                <a16:creationId xmlns:a16="http://schemas.microsoft.com/office/drawing/2014/main" id="{03792E15-BCAF-4DD9-BD65-E281A6D6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3141315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What still needs to work</a:t>
            </a:r>
          </a:p>
        </p:txBody>
      </p:sp>
      <p:sp>
        <p:nvSpPr>
          <p:cNvPr id="6" name="Four gaps before autonomous pushing.">
            <a:extLst xmlns:a="http://schemas.openxmlformats.org/drawingml/2006/main">
              <a:ext uri="{FF2B5EF4-FFF2-40B4-BE49-F238E27FC236}">
                <a16:creationId xmlns:a16="http://schemas.microsoft.com/office/drawing/2014/main" id="{8D833E69-2DB2-4235-8C3C-3CCCB6B0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10127159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Four gaps before autonomous pushing.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C20C2AD5-774E-4237-AF22-E6EC6EC4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8286"/>
            <a:ext cx="469255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Chassis footprint">
            <a:extLst xmlns:a="http://schemas.openxmlformats.org/drawingml/2006/main">
              <a:ext uri="{FF2B5EF4-FFF2-40B4-BE49-F238E27FC236}">
                <a16:creationId xmlns:a16="http://schemas.microsoft.com/office/drawing/2014/main" id="{7D367128-0864-42F3-B9A8-B7C45735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59236"/>
            <a:ext cx="2352824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Chassis footprint</a:t>
            </a:r>
          </a:p>
        </p:txBody>
      </p:sp>
      <p:sp>
        <p:nvSpPr>
          <p:cNvPr id="9" name="The current robot may exceed the area limit.">
            <a:extLst xmlns:a="http://schemas.openxmlformats.org/drawingml/2006/main">
              <a:ext uri="{FF2B5EF4-FFF2-40B4-BE49-F238E27FC236}">
                <a16:creationId xmlns:a16="http://schemas.microsoft.com/office/drawing/2014/main" id="{689DB18B-3858-4227-B808-CAEFA4F9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7811"/>
            <a:ext cx="5191423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The current robot may exceed the area limit.</a:t>
            </a:r>
          </a:p>
        </p:txBody>
      </p:sp>
      <p:sp>
        <p:nvSpPr>
          <p:cNvPr id="10" name="Redesign the chassis for a smaller footprint.">
            <a:extLst xmlns:a="http://schemas.openxmlformats.org/drawingml/2006/main">
              <a:ext uri="{FF2B5EF4-FFF2-40B4-BE49-F238E27FC236}">
                <a16:creationId xmlns:a16="http://schemas.microsoft.com/office/drawing/2014/main" id="{4272BDAF-EC51-41D0-8FFB-6890927B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60625"/>
            <a:ext cx="5103019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Redesign the chassis for a smaller footprint.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A2578B48-F90D-49D3-BD4C-199D91B0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1590"/>
            <a:ext cx="469255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Reliable movement">
            <a:extLst xmlns:a="http://schemas.openxmlformats.org/drawingml/2006/main">
              <a:ext uri="{FF2B5EF4-FFF2-40B4-BE49-F238E27FC236}">
                <a16:creationId xmlns:a16="http://schemas.microsoft.com/office/drawing/2014/main" id="{7CFB9817-CC7C-4579-A056-A129D933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52540"/>
            <a:ext cx="2662535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Reliable movement</a:t>
            </a:r>
          </a:p>
        </p:txBody>
      </p:sp>
      <p:sp>
        <p:nvSpPr>
          <p:cNvPr id="13" name="Check command reliability over repeated runs.">
            <a:extLst xmlns:a="http://schemas.openxmlformats.org/drawingml/2006/main">
              <a:ext uri="{FF2B5EF4-FFF2-40B4-BE49-F238E27FC236}">
                <a16:creationId xmlns:a16="http://schemas.microsoft.com/office/drawing/2014/main" id="{A0ECFAEA-C692-4913-B614-A570BEED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81115"/>
            <a:ext cx="5435501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Check command reliability over repeated runs.</a:t>
            </a:r>
          </a:p>
        </p:txBody>
      </p:sp>
      <p:sp>
        <p:nvSpPr>
          <p:cNvPr id="14" name="Verify turning and stopping consistently.">
            <a:extLst xmlns:a="http://schemas.openxmlformats.org/drawingml/2006/main">
              <a:ext uri="{FF2B5EF4-FFF2-40B4-BE49-F238E27FC236}">
                <a16:creationId xmlns:a16="http://schemas.microsoft.com/office/drawing/2014/main" id="{668A2D27-56DB-46BC-98FF-E2BB701E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53929"/>
            <a:ext cx="4743599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Verify turning and stopping consistently.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3C4F8D31-90F5-42BA-A64A-EB52753B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4894"/>
            <a:ext cx="469255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6" name="Live localization">
            <a:extLst xmlns:a="http://schemas.openxmlformats.org/drawingml/2006/main">
              <a:ext uri="{FF2B5EF4-FFF2-40B4-BE49-F238E27FC236}">
                <a16:creationId xmlns:a16="http://schemas.microsoft.com/office/drawing/2014/main" id="{D1BB24E8-1D7A-4713-BEF0-ECC4363A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45844"/>
            <a:ext cx="2234208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Live localization</a:t>
            </a:r>
          </a:p>
        </p:txBody>
      </p:sp>
      <p:sp>
        <p:nvSpPr>
          <p:cNvPr id="17" name="Connect the camera, AprilTag pose estimation">
            <a:extLst xmlns:a="http://schemas.openxmlformats.org/drawingml/2006/main">
              <a:ext uri="{FF2B5EF4-FFF2-40B4-BE49-F238E27FC236}">
                <a16:creationId xmlns:a16="http://schemas.microsoft.com/office/drawing/2014/main" id="{0BC53504-834C-476A-81AF-6C17F1A6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74419"/>
            <a:ext cx="5369719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Connect the camera, AprilTag pose estimation</a:t>
            </a:r>
          </a:p>
        </p:txBody>
      </p:sp>
      <p:sp>
        <p:nvSpPr>
          <p:cNvPr id="18" name="and stable block tracking.">
            <a:extLst xmlns:a="http://schemas.openxmlformats.org/drawingml/2006/main">
              <a:ext uri="{FF2B5EF4-FFF2-40B4-BE49-F238E27FC236}">
                <a16:creationId xmlns:a16="http://schemas.microsoft.com/office/drawing/2014/main" id="{8954A26E-3C0B-409C-84A1-3F49589E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47233"/>
            <a:ext cx="3065562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and stable block tracking.</a:t>
            </a:r>
          </a:p>
        </p:txBody>
      </p:sp>
      <p:sp>
        <p:nvSpPr>
          <p:cNvPr id="19" name="04">
            <a:extLst xmlns:a="http://schemas.openxmlformats.org/drawingml/2006/main">
              <a:ext uri="{FF2B5EF4-FFF2-40B4-BE49-F238E27FC236}">
                <a16:creationId xmlns:a16="http://schemas.microsoft.com/office/drawing/2014/main" id="{5F71703A-A8F6-4C3F-833A-810E8DF2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8198"/>
            <a:ext cx="469255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0" name="Integrated execution">
            <a:extLst xmlns:a="http://schemas.openxmlformats.org/drawingml/2006/main">
              <a:ext uri="{FF2B5EF4-FFF2-40B4-BE49-F238E27FC236}">
                <a16:creationId xmlns:a16="http://schemas.microsoft.com/office/drawing/2014/main" id="{4628E4B8-4E61-4F6D-98B9-78FF99A2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39148"/>
            <a:ext cx="2865834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Integrated execution</a:t>
            </a:r>
          </a:p>
        </p:txBody>
      </p:sp>
      <p:sp>
        <p:nvSpPr>
          <p:cNvPr id="21" name="Fix the four known planner issues;">
            <a:extLst xmlns:a="http://schemas.openxmlformats.org/drawingml/2006/main">
              <a:ext uri="{FF2B5EF4-FFF2-40B4-BE49-F238E27FC236}">
                <a16:creationId xmlns:a16="http://schemas.microsoft.com/office/drawing/2014/main" id="{BE6A61F0-B22E-4447-ABFD-AFDA9442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67723"/>
            <a:ext cx="4003179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Fix the four known planner issues;</a:t>
            </a:r>
          </a:p>
        </p:txBody>
      </p:sp>
      <p:sp>
        <p:nvSpPr>
          <p:cNvPr id="22" name="connect decisions to real motion and feedback.">
            <a:extLst xmlns:a="http://schemas.openxmlformats.org/drawingml/2006/main">
              <a:ext uri="{FF2B5EF4-FFF2-40B4-BE49-F238E27FC236}">
                <a16:creationId xmlns:a16="http://schemas.microsoft.com/office/drawing/2014/main" id="{709037FA-2C27-4481-AEB8-CA99AAD5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40537"/>
            <a:ext cx="5524798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connect decisions to real motion and feedback.</a:t>
            </a:r>
          </a:p>
        </p:txBody>
      </p:sp>
      <p:sp>
        <p:nvSpPr>
          <p:cNvPr id="23" name="Priority: measure the complete robot footprint and rede">
            <a:extLst xmlns:a="http://schemas.openxmlformats.org/drawingml/2006/main">
              <a:ext uri="{FF2B5EF4-FFF2-40B4-BE49-F238E27FC236}">
                <a16:creationId xmlns:a16="http://schemas.microsoft.com/office/drawing/2014/main" id="{D07AB1F5-476C-4428-821B-EA198179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7432774" cy="280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Priority: measure the complete robot footprint and redesign the chassis layout.</a:t>
            </a:r>
          </a:p>
        </p:txBody>
      </p:sp>
    </p:spTree>
    <p:extLst>
      <p:ext uri="{BB962C8B-B14F-4D97-AF65-F5344CB8AC3E}">
        <p14:creationId xmlns:p14="http://schemas.microsoft.com/office/powerpoint/2010/main" val="2078369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315CF020-2635-46A7-8706-8753D1E2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0186"/>
            <a:ext cx="422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2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E8E2C80D-B01F-4214-B602-0E31F599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061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3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EF5AE98B-5293-4F49-9242-502E2F6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40186"/>
            <a:ext cx="422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4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0FE079F5-0D5E-402F-9FE5-E8EB74EE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250061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5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8F63C04A-FB51-46BA-912B-03D1F563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40186"/>
            <a:ext cx="422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6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676F16EB-E535-4F61-972B-7C1D115E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250061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7" name="Next plan · in order of dependency">
            <a:extLst xmlns:a="http://schemas.openxmlformats.org/drawingml/2006/main">
              <a:ext uri="{FF2B5EF4-FFF2-40B4-BE49-F238E27FC236}">
                <a16:creationId xmlns:a16="http://schemas.microsoft.com/office/drawing/2014/main" id="{65876ADB-9ACE-4396-9CED-810177A7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4297561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Next plan · in order of dependency</a:t>
            </a:r>
          </a:p>
        </p:txBody>
      </p:sp>
      <p:sp>
        <p:nvSpPr>
          <p:cNvPr id="8" name="Resize the chassis. Then integrate.">
            <a:extLst xmlns:a="http://schemas.openxmlformats.org/drawingml/2006/main">
              <a:ext uri="{FF2B5EF4-FFF2-40B4-BE49-F238E27FC236}">
                <a16:creationId xmlns:a16="http://schemas.microsoft.com/office/drawing/2014/main" id="{76684BEE-6353-486D-B9A1-77EED200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8643640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Resize the chassis. Then integrate.</a:t>
            </a:r>
          </a:p>
        </p:txBody>
      </p:sp>
      <p:sp>
        <p:nvSpPr>
          <p:cNvPr id="9" name="01 / CHASSIS &amp; CONTROL">
            <a:extLst xmlns:a="http://schemas.openxmlformats.org/drawingml/2006/main">
              <a:ext uri="{FF2B5EF4-FFF2-40B4-BE49-F238E27FC236}">
                <a16:creationId xmlns:a16="http://schemas.microsoft.com/office/drawing/2014/main" id="{3D3EFB85-1A28-4AE4-A73E-F97ED1F3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6886"/>
            <a:ext cx="3383756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01 / CHASSIS &amp; CONTROL</a:t>
            </a:r>
          </a:p>
        </p:txBody>
      </p:sp>
      <p:sp>
        <p:nvSpPr>
          <p:cNvPr id="10" name="Rework the chassis">
            <a:extLst xmlns:a="http://schemas.openxmlformats.org/drawingml/2006/main">
              <a:ext uri="{FF2B5EF4-FFF2-40B4-BE49-F238E27FC236}">
                <a16:creationId xmlns:a16="http://schemas.microsoft.com/office/drawing/2014/main" id="{FEB36740-E2B0-4A4E-AB06-56F52E01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9336"/>
            <a:ext cx="2769989" cy="40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Rework the chassis</a:t>
            </a:r>
          </a:p>
        </p:txBody>
      </p:sp>
      <p:sp>
        <p:nvSpPr>
          <p:cNvPr id="11" name="Measure and reduce the footprint.">
            <a:extLst xmlns:a="http://schemas.openxmlformats.org/drawingml/2006/main">
              <a:ext uri="{FF2B5EF4-FFF2-40B4-BE49-F238E27FC236}">
                <a16:creationId xmlns:a16="http://schemas.microsoft.com/office/drawing/2014/main" id="{C989DEDB-A576-454F-99B1-C3D5F92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8936"/>
            <a:ext cx="3913733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Measure and reduce the footprint.</a:t>
            </a:r>
          </a:p>
        </p:txBody>
      </p:sp>
      <p:sp>
        <p:nvSpPr>
          <p:cNvPr id="12" name="Compare replacement tires.">
            <a:extLst xmlns:a="http://schemas.openxmlformats.org/drawingml/2006/main">
              <a:ext uri="{FF2B5EF4-FFF2-40B4-BE49-F238E27FC236}">
                <a16:creationId xmlns:a16="http://schemas.microsoft.com/office/drawing/2014/main" id="{068DFA8F-D748-4004-9880-E993092B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0411"/>
            <a:ext cx="3182392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Compare replacement tires.</a:t>
            </a:r>
          </a:p>
        </p:txBody>
      </p:sp>
      <p:sp>
        <p:nvSpPr>
          <p:cNvPr id="13" name="Test wireless control and pushing.">
            <a:extLst xmlns:a="http://schemas.openxmlformats.org/drawingml/2006/main">
              <a:ext uri="{FF2B5EF4-FFF2-40B4-BE49-F238E27FC236}">
                <a16:creationId xmlns:a16="http://schemas.microsoft.com/office/drawing/2014/main" id="{E7E26D64-9097-4E64-818A-C2AA2004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1886"/>
            <a:ext cx="3838575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Test wireless control and pushing.</a:t>
            </a:r>
          </a:p>
        </p:txBody>
      </p:sp>
      <p:sp>
        <p:nvSpPr>
          <p:cNvPr id="14" name="EXIT CONDITION">
            <a:extLst xmlns:a="http://schemas.openxmlformats.org/drawingml/2006/main">
              <a:ext uri="{FF2B5EF4-FFF2-40B4-BE49-F238E27FC236}">
                <a16:creationId xmlns:a16="http://schemas.microsoft.com/office/drawing/2014/main" id="{66A845AD-CBF6-464E-969F-EB4A39A4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50086"/>
            <a:ext cx="1578173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EXIT CONDITION</a:t>
            </a:r>
          </a:p>
        </p:txBody>
      </p:sp>
      <p:sp>
        <p:nvSpPr>
          <p:cNvPr id="15" name="Meet the area limit and push one block">
            <a:extLst xmlns:a="http://schemas.openxmlformats.org/drawingml/2006/main">
              <a:ext uri="{FF2B5EF4-FFF2-40B4-BE49-F238E27FC236}">
                <a16:creationId xmlns:a16="http://schemas.microsoft.com/office/drawing/2014/main" id="{4C970C43-AB5B-4FDC-AA82-1C7C4256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9116"/>
            <a:ext cx="4126409" cy="306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Meet the area limit and push one block</a:t>
            </a:r>
          </a:p>
        </p:txBody>
      </p:sp>
      <p:sp>
        <p:nvSpPr>
          <p:cNvPr id="16" name="by remote control.">
            <a:extLst xmlns:a="http://schemas.openxmlformats.org/drawingml/2006/main">
              <a:ext uri="{FF2B5EF4-FFF2-40B4-BE49-F238E27FC236}">
                <a16:creationId xmlns:a16="http://schemas.microsoft.com/office/drawing/2014/main" id="{5051C9AD-55C1-4CE0-A8FE-ACC459D0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09097"/>
            <a:ext cx="2033290" cy="306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by remote control.</a:t>
            </a:r>
          </a:p>
        </p:txBody>
      </p:sp>
      <p:sp>
        <p:nvSpPr>
          <p:cNvPr id="17" name="02 / FEEDBACK">
            <a:extLst xmlns:a="http://schemas.openxmlformats.org/drawingml/2006/main">
              <a:ext uri="{FF2B5EF4-FFF2-40B4-BE49-F238E27FC236}">
                <a16:creationId xmlns:a16="http://schemas.microsoft.com/office/drawing/2014/main" id="{33FAD024-E57C-48B6-935D-E787DA2B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06886"/>
            <a:ext cx="1998613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02 / FEEDBACK</a:t>
            </a:r>
          </a:p>
        </p:txBody>
      </p:sp>
      <p:sp>
        <p:nvSpPr>
          <p:cNvPr id="18" name="Connect real feedback">
            <a:extLst xmlns:a="http://schemas.openxmlformats.org/drawingml/2006/main">
              <a:ext uri="{FF2B5EF4-FFF2-40B4-BE49-F238E27FC236}">
                <a16:creationId xmlns:a16="http://schemas.microsoft.com/office/drawing/2014/main" id="{44E1CA7F-0DBE-4ECC-8778-4A6B78D1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59336"/>
            <a:ext cx="3247281" cy="40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Connect real feedback</a:t>
            </a:r>
          </a:p>
        </p:txBody>
      </p:sp>
      <p:sp>
        <p:nvSpPr>
          <p:cNvPr id="19" name="Read encoder feedback.">
            <a:extLst xmlns:a="http://schemas.openxmlformats.org/drawingml/2006/main">
              <a:ext uri="{FF2B5EF4-FFF2-40B4-BE49-F238E27FC236}">
                <a16:creationId xmlns:a16="http://schemas.microsoft.com/office/drawing/2014/main" id="{747D3A20-A4E7-448F-805F-421B49A9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68936"/>
            <a:ext cx="2785170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Read encoder feedback.</a:t>
            </a:r>
          </a:p>
        </p:txBody>
      </p:sp>
      <p:sp>
        <p:nvSpPr>
          <p:cNvPr id="20" name="Calibrate wheel motion.">
            <a:extLst xmlns:a="http://schemas.openxmlformats.org/drawingml/2006/main">
              <a:ext uri="{FF2B5EF4-FFF2-40B4-BE49-F238E27FC236}">
                <a16:creationId xmlns:a16="http://schemas.microsoft.com/office/drawing/2014/main" id="{5A7B53D6-91B1-46F4-8B90-6337C330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40411"/>
            <a:ext cx="2757041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Calibrate wheel motion.</a:t>
            </a:r>
          </a:p>
        </p:txBody>
      </p:sp>
      <p:sp>
        <p:nvSpPr>
          <p:cNvPr id="21" name="Validate live robot and block positions.">
            <a:extLst xmlns:a="http://schemas.openxmlformats.org/drawingml/2006/main">
              <a:ext uri="{FF2B5EF4-FFF2-40B4-BE49-F238E27FC236}">
                <a16:creationId xmlns:a16="http://schemas.microsoft.com/office/drawing/2014/main" id="{1B693366-6ED8-4345-8A02-855AF348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11886"/>
            <a:ext cx="4395341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Validate live robot and block positions.</a:t>
            </a:r>
          </a:p>
        </p:txBody>
      </p:sp>
      <p:sp>
        <p:nvSpPr>
          <p:cNvPr id="22" name="EXIT CONDITION">
            <a:extLst xmlns:a="http://schemas.openxmlformats.org/drawingml/2006/main">
              <a:ext uri="{FF2B5EF4-FFF2-40B4-BE49-F238E27FC236}">
                <a16:creationId xmlns:a16="http://schemas.microsoft.com/office/drawing/2014/main" id="{2019FA7A-214B-4675-A852-DD00594C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450086"/>
            <a:ext cx="1578173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EXIT CONDITION</a:t>
            </a:r>
          </a:p>
        </p:txBody>
      </p:sp>
      <p:sp>
        <p:nvSpPr>
          <p:cNvPr id="23" name="Reach and stop at a target point.">
            <a:extLst xmlns:a="http://schemas.openxmlformats.org/drawingml/2006/main">
              <a:ext uri="{FF2B5EF4-FFF2-40B4-BE49-F238E27FC236}">
                <a16:creationId xmlns:a16="http://schemas.microsoft.com/office/drawing/2014/main" id="{B409036B-EFF8-4CA9-B214-7109B6B5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89116"/>
            <a:ext cx="3466207" cy="306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Reach and stop at a target point.</a:t>
            </a:r>
          </a:p>
        </p:txBody>
      </p:sp>
      <p:sp>
        <p:nvSpPr>
          <p:cNvPr id="24" name="03 / AUTONOMY">
            <a:extLst xmlns:a="http://schemas.openxmlformats.org/drawingml/2006/main">
              <a:ext uri="{FF2B5EF4-FFF2-40B4-BE49-F238E27FC236}">
                <a16:creationId xmlns:a16="http://schemas.microsoft.com/office/drawing/2014/main" id="{0BF40A2E-E9C0-4732-81C8-B54E628C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06886"/>
            <a:ext cx="2246561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03 / AUTONOMY</a:t>
            </a:r>
          </a:p>
        </p:txBody>
      </p:sp>
      <p:sp>
        <p:nvSpPr>
          <p:cNvPr id="25" name="Close the pushing loop">
            <a:extLst xmlns:a="http://schemas.openxmlformats.org/drawingml/2006/main">
              <a:ext uri="{FF2B5EF4-FFF2-40B4-BE49-F238E27FC236}">
                <a16:creationId xmlns:a16="http://schemas.microsoft.com/office/drawing/2014/main" id="{CFEF6006-DA38-4F6D-BC4B-5430840E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59336"/>
            <a:ext cx="3355330" cy="40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Close the pushing loop</a:t>
            </a:r>
          </a:p>
        </p:txBody>
      </p:sp>
      <p:sp>
        <p:nvSpPr>
          <p:cNvPr id="26" name="Fix planner defects.">
            <a:extLst xmlns:a="http://schemas.openxmlformats.org/drawingml/2006/main">
              <a:ext uri="{FF2B5EF4-FFF2-40B4-BE49-F238E27FC236}">
                <a16:creationId xmlns:a16="http://schemas.microsoft.com/office/drawing/2014/main" id="{F0612494-3FB7-448A-8F99-DEC00CA9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68936"/>
            <a:ext cx="2268736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Fix planner defects.</a:t>
            </a:r>
          </a:p>
        </p:txBody>
      </p:sp>
      <p:sp>
        <p:nvSpPr>
          <p:cNvPr id="27" name="Connect vision to motion.">
            <a:extLst xmlns:a="http://schemas.openxmlformats.org/drawingml/2006/main">
              <a:ext uri="{FF2B5EF4-FFF2-40B4-BE49-F238E27FC236}">
                <a16:creationId xmlns:a16="http://schemas.microsoft.com/office/drawing/2014/main" id="{4A93990B-D5E7-45E8-A6DA-0FB80236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40411"/>
            <a:ext cx="2980730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Connect vision to motion.</a:t>
            </a:r>
          </a:p>
        </p:txBody>
      </p:sp>
      <p:sp>
        <p:nvSpPr>
          <p:cNvPr id="28" name="Tune in repeated mock matches.">
            <a:extLst xmlns:a="http://schemas.openxmlformats.org/drawingml/2006/main">
              <a:ext uri="{FF2B5EF4-FFF2-40B4-BE49-F238E27FC236}">
                <a16:creationId xmlns:a16="http://schemas.microsoft.com/office/drawing/2014/main" id="{9879AE07-8766-43F5-AFDB-D5E2D4CC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11886"/>
            <a:ext cx="3720554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Tune in repeated mock matches.</a:t>
            </a:r>
          </a:p>
        </p:txBody>
      </p:sp>
      <p:sp>
        <p:nvSpPr>
          <p:cNvPr id="29" name="EXIT CONDITION">
            <a:extLst xmlns:a="http://schemas.openxmlformats.org/drawingml/2006/main">
              <a:ext uri="{FF2B5EF4-FFF2-40B4-BE49-F238E27FC236}">
                <a16:creationId xmlns:a16="http://schemas.microsoft.com/office/drawing/2014/main" id="{50378E70-0562-49F7-AB9C-8E625751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450086"/>
            <a:ext cx="1578173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EXIT CONDITION</a:t>
            </a:r>
          </a:p>
        </p:txBody>
      </p:sp>
      <p:sp>
        <p:nvSpPr>
          <p:cNvPr id="30" name="Detect, approach and push one block">
            <a:extLst xmlns:a="http://schemas.openxmlformats.org/drawingml/2006/main">
              <a:ext uri="{FF2B5EF4-FFF2-40B4-BE49-F238E27FC236}">
                <a16:creationId xmlns:a16="http://schemas.microsoft.com/office/drawing/2014/main" id="{F3DBC00B-69FB-4736-A9D8-CD320836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789116"/>
            <a:ext cx="3940076" cy="306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Detect, approach and push one block</a:t>
            </a:r>
          </a:p>
        </p:txBody>
      </p:sp>
      <p:sp>
        <p:nvSpPr>
          <p:cNvPr id="31" name="autonomously.">
            <a:extLst xmlns:a="http://schemas.openxmlformats.org/drawingml/2006/main">
              <a:ext uri="{FF2B5EF4-FFF2-40B4-BE49-F238E27FC236}">
                <a16:creationId xmlns:a16="http://schemas.microsoft.com/office/drawing/2014/main" id="{49579FAC-133A-4CC2-97EC-FE107425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109097"/>
            <a:ext cx="1664643" cy="306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autonomously.</a:t>
            </a:r>
          </a:p>
        </p:txBody>
      </p:sp>
      <p:sp>
        <p:nvSpPr>
          <p:cNvPr id="32" name="Compare tire size and grip; recalibrate wheel motion if">
            <a:extLst xmlns:a="http://schemas.openxmlformats.org/drawingml/2006/main">
              <a:ext uri="{FF2B5EF4-FFF2-40B4-BE49-F238E27FC236}">
                <a16:creationId xmlns:a16="http://schemas.microsoft.com/office/drawing/2014/main" id="{CB0E8480-018E-4412-AA85-22CD18AC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7230814" cy="280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Compare tire size and grip; recalibrate wheel motion if the tires are replaced.</a:t>
            </a:r>
          </a:p>
        </p:txBody>
      </p:sp>
    </p:spTree>
    <p:extLst>
      <p:ext uri="{BB962C8B-B14F-4D97-AF65-F5344CB8AC3E}">
        <p14:creationId xmlns:p14="http://schemas.microsoft.com/office/powerpoint/2010/main" val="978432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A54CA9D8-A42B-4CC0-8713-C8755AF2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3653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2" name="Immediate milestone">
            <a:extLst xmlns:a="http://schemas.openxmlformats.org/drawingml/2006/main">
              <a:ext uri="{FF2B5EF4-FFF2-40B4-BE49-F238E27FC236}">
                <a16:creationId xmlns:a16="http://schemas.microsoft.com/office/drawing/2014/main" id="{121FE436-6D1B-4431-A07F-50DB7159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2546896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Immediate milestone</a:t>
            </a:r>
          </a:p>
        </p:txBody>
      </p:sp>
      <p:sp>
        <p:nvSpPr>
          <p:cNvPr id="3" name="A small, measurable physical result.">
            <a:extLst xmlns:a="http://schemas.openxmlformats.org/drawingml/2006/main">
              <a:ext uri="{FF2B5EF4-FFF2-40B4-BE49-F238E27FC236}">
                <a16:creationId xmlns:a16="http://schemas.microsoft.com/office/drawing/2014/main" id="{555ACB8E-AEAC-4341-9F42-7BB11EBA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9017198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A small, measurable physical result.</a:t>
            </a:r>
          </a:p>
        </p:txBody>
      </p:sp>
      <p:sp>
        <p:nvSpPr>
          <p:cNvPr id="4" name="Fit within the area limit.">
            <a:extLst xmlns:a="http://schemas.openxmlformats.org/drawingml/2006/main">
              <a:ext uri="{FF2B5EF4-FFF2-40B4-BE49-F238E27FC236}">
                <a16:creationId xmlns:a16="http://schemas.microsoft.com/office/drawing/2014/main" id="{A65E1B2E-2922-4D7B-874A-CF810847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0161"/>
            <a:ext cx="6839694" cy="931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5475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Fit within the area limit.</a:t>
            </a:r>
          </a:p>
        </p:txBody>
      </p:sp>
      <p:sp>
        <p:nvSpPr>
          <p:cNvPr id="5" name="Push one real block.">
            <a:extLst xmlns:a="http://schemas.openxmlformats.org/drawingml/2006/main">
              <a:ext uri="{FF2B5EF4-FFF2-40B4-BE49-F238E27FC236}">
                <a16:creationId xmlns:a16="http://schemas.microsoft.com/office/drawing/2014/main" id="{35346AAD-4B81-4D11-9B46-ED5A59A3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2820"/>
            <a:ext cx="5927527" cy="931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5475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Push one real block.</a:t>
            </a:r>
          </a:p>
        </p:txBody>
      </p:sp>
      <p:sp>
        <p:nvSpPr>
          <p:cNvPr id="6" name="PROPOSED CHECK 01">
            <a:extLst xmlns:a="http://schemas.openxmlformats.org/drawingml/2006/main">
              <a:ext uri="{FF2B5EF4-FFF2-40B4-BE49-F238E27FC236}">
                <a16:creationId xmlns:a16="http://schemas.microsoft.com/office/drawing/2014/main" id="{6EAE9EE5-6983-4F44-AD17-D59BD5FF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0828"/>
            <a:ext cx="1911548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PROPOSED CHECK 01</a:t>
            </a:r>
          </a:p>
        </p:txBody>
      </p:sp>
      <p:sp>
        <p:nvSpPr>
          <p:cNvPr id="7" name="Measure the redesigned robot">
            <a:extLst xmlns:a="http://schemas.openxmlformats.org/drawingml/2006/main">
              <a:ext uri="{FF2B5EF4-FFF2-40B4-BE49-F238E27FC236}">
                <a16:creationId xmlns:a16="http://schemas.microsoft.com/office/drawing/2014/main" id="{F0842C53-F2DF-446F-BF81-78CD2236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6562"/>
            <a:ext cx="3490466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Measure the redesigned robot</a:t>
            </a:r>
          </a:p>
        </p:txBody>
      </p:sp>
      <p:sp>
        <p:nvSpPr>
          <p:cNvPr id="8" name="against the area limit.">
            <a:extLst xmlns:a="http://schemas.openxmlformats.org/drawingml/2006/main">
              <a:ext uri="{FF2B5EF4-FFF2-40B4-BE49-F238E27FC236}">
                <a16:creationId xmlns:a16="http://schemas.microsoft.com/office/drawing/2014/main" id="{C376382A-E3A9-4D6C-BA8D-86541AD6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5536"/>
            <a:ext cx="2514005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against the area limit.</a:t>
            </a:r>
          </a:p>
        </p:txBody>
      </p:sp>
      <p:sp>
        <p:nvSpPr>
          <p:cNvPr id="9" name="PROPOSED CHECK 02">
            <a:extLst xmlns:a="http://schemas.openxmlformats.org/drawingml/2006/main">
              <a:ext uri="{FF2B5EF4-FFF2-40B4-BE49-F238E27FC236}">
                <a16:creationId xmlns:a16="http://schemas.microsoft.com/office/drawing/2014/main" id="{84CCDB40-1F63-495B-A29D-361FD9DB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100" y="4720828"/>
            <a:ext cx="1911548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PROPOSED CHECK 02</a:t>
            </a:r>
          </a:p>
        </p:txBody>
      </p:sp>
      <p:sp>
        <p:nvSpPr>
          <p:cNvPr id="10" name="Repeat moves and turns;">
            <a:extLst xmlns:a="http://schemas.openxmlformats.org/drawingml/2006/main">
              <a:ext uri="{FF2B5EF4-FFF2-40B4-BE49-F238E27FC236}">
                <a16:creationId xmlns:a16="http://schemas.microsoft.com/office/drawing/2014/main" id="{B7586B91-2A01-4E69-AF3C-44156118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100" y="5116562"/>
            <a:ext cx="2863155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Repeat moves and turns;</a:t>
            </a:r>
          </a:p>
        </p:txBody>
      </p:sp>
      <p:sp>
        <p:nvSpPr>
          <p:cNvPr id="11" name="verify stopping reliably.">
            <a:extLst xmlns:a="http://schemas.openxmlformats.org/drawingml/2006/main">
              <a:ext uri="{FF2B5EF4-FFF2-40B4-BE49-F238E27FC236}">
                <a16:creationId xmlns:a16="http://schemas.microsoft.com/office/drawing/2014/main" id="{4F1F36F2-9533-40B3-A7BB-08B09DC9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100" y="5475536"/>
            <a:ext cx="2710607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verify stopping reliably.</a:t>
            </a:r>
          </a:p>
        </p:txBody>
      </p:sp>
      <p:sp>
        <p:nvSpPr>
          <p:cNvPr id="12" name="PROPOSED CHECK 03">
            <a:extLst xmlns:a="http://schemas.openxmlformats.org/drawingml/2006/main">
              <a:ext uri="{FF2B5EF4-FFF2-40B4-BE49-F238E27FC236}">
                <a16:creationId xmlns:a16="http://schemas.microsoft.com/office/drawing/2014/main" id="{294050FE-AF6D-4D86-9AF8-9979383D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100" y="4720828"/>
            <a:ext cx="1911548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PROPOSED CHECK 03</a:t>
            </a:r>
          </a:p>
        </p:txBody>
      </p:sp>
      <p:sp>
        <p:nvSpPr>
          <p:cNvPr id="13" name="Record a complete">
            <a:extLst xmlns:a="http://schemas.openxmlformats.org/drawingml/2006/main">
              <a:ext uri="{FF2B5EF4-FFF2-40B4-BE49-F238E27FC236}">
                <a16:creationId xmlns:a16="http://schemas.microsoft.com/office/drawing/2014/main" id="{9DEAEFA9-27D1-46FB-9EF7-DB3790BE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100" y="5116562"/>
            <a:ext cx="2216348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Record a complete</a:t>
            </a:r>
          </a:p>
        </p:txBody>
      </p:sp>
      <p:sp>
        <p:nvSpPr>
          <p:cNvPr id="14" name="remote-controlled push.">
            <a:extLst xmlns:a="http://schemas.openxmlformats.org/drawingml/2006/main">
              <a:ext uri="{FF2B5EF4-FFF2-40B4-BE49-F238E27FC236}">
                <a16:creationId xmlns:a16="http://schemas.microsoft.com/office/drawing/2014/main" id="{1AF4721D-4973-4938-B90E-62AD779D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100" y="5475536"/>
            <a:ext cx="2820591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remote-controlled push.</a:t>
            </a:r>
          </a:p>
        </p:txBody>
      </p:sp>
      <p:sp>
        <p:nvSpPr>
          <p:cNvPr id="15" name="Then extend the same task to autonomous operation.">
            <a:extLst xmlns:a="http://schemas.openxmlformats.org/drawingml/2006/main">
              <a:ext uri="{FF2B5EF4-FFF2-40B4-BE49-F238E27FC236}">
                <a16:creationId xmlns:a16="http://schemas.microsoft.com/office/drawing/2014/main" id="{5C441388-F534-4EDD-9489-6AA9B2B6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01234"/>
            <a:ext cx="6022330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Then extend the same task to autonomous operation.</a:t>
            </a:r>
          </a:p>
        </p:txBody>
      </p:sp>
    </p:spTree>
    <p:extLst>
      <p:ext uri="{BB962C8B-B14F-4D97-AF65-F5344CB8AC3E}">
        <p14:creationId xmlns:p14="http://schemas.microsoft.com/office/powerpoint/2010/main" val="1214978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template background">
            <a:extLst xmlns:a="http://schemas.openxmlformats.org/drawingml/2006/main">
              <a:ext uri="{FF2B5EF4-FFF2-40B4-BE49-F238E27FC236}">
                <a16:creationId xmlns:a16="http://schemas.microsoft.com/office/drawing/2014/main" id="{62A0A0A0-37D7-44CB-AB5B-EA692BC3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0955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template background">
            <a:extLst xmlns:a="http://schemas.openxmlformats.org/drawingml/2006/main">
              <a:ext uri="{FF2B5EF4-FFF2-40B4-BE49-F238E27FC236}">
                <a16:creationId xmlns:a16="http://schemas.microsoft.com/office/drawing/2014/main" id="{B669016A-255D-4862-8CCF-C1ABC83D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17301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template background">
            <a:extLst xmlns:a="http://schemas.openxmlformats.org/drawingml/2006/main">
              <a:ext uri="{FF2B5EF4-FFF2-40B4-BE49-F238E27FC236}">
                <a16:creationId xmlns:a16="http://schemas.microsoft.com/office/drawing/2014/main" id="{549DD97F-5ADF-40D5-8CD6-ECCE61C1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56894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2026-10-19T02:24:41.4900000Z</dcterms:created>
  <dcterms:modified xsi:type="dcterms:W3CDTF">2026-10-19T02:24:41.4900000Z</dcterms:modified>
</coreProperties>
</file>